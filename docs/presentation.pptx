
<file path=[Content_Types].xml><?xml version="1.0" encoding="utf-8"?>
<Types xmlns="http://schemas.openxmlformats.org/package/2006/content-types">
  <Default Extension="emf" ContentType="image/x-emf"/>
  <Default Extension="jpeg" ContentType="image/jpeg"/>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3.jpg" ContentType="image/jpeg"/>
  <Override PartName="/ppt/notesSlides/notesSlide1.xml" ContentType="application/vnd.openxmlformats-officedocument.presentationml.notesSlide+xml"/>
  <Override PartName="/ppt/media/image13.jpg" ContentType="image/jpe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56.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8"/>
  </p:notesMasterIdLst>
  <p:sldIdLst>
    <p:sldId id="293" r:id="rId5"/>
    <p:sldId id="256" r:id="rId6"/>
    <p:sldId id="257" r:id="rId7"/>
    <p:sldId id="258" r:id="rId8"/>
    <p:sldId id="259" r:id="rId9"/>
    <p:sldId id="261" r:id="rId10"/>
    <p:sldId id="262" r:id="rId11"/>
    <p:sldId id="263" r:id="rId12"/>
    <p:sldId id="264" r:id="rId13"/>
    <p:sldId id="266" r:id="rId14"/>
    <p:sldId id="294" r:id="rId15"/>
    <p:sldId id="268" r:id="rId16"/>
    <p:sldId id="269" r:id="rId17"/>
    <p:sldId id="271" r:id="rId18"/>
    <p:sldId id="272" r:id="rId19"/>
    <p:sldId id="273" r:id="rId20"/>
    <p:sldId id="274" r:id="rId21"/>
    <p:sldId id="275" r:id="rId22"/>
    <p:sldId id="276" r:id="rId23"/>
    <p:sldId id="277" r:id="rId24"/>
    <p:sldId id="278" r:id="rId25"/>
    <p:sldId id="279" r:id="rId26"/>
    <p:sldId id="280" r:id="rId27"/>
    <p:sldId id="295" r:id="rId28"/>
    <p:sldId id="281" r:id="rId29"/>
    <p:sldId id="297" r:id="rId30"/>
    <p:sldId id="298" r:id="rId31"/>
    <p:sldId id="299" r:id="rId32"/>
    <p:sldId id="300" r:id="rId33"/>
    <p:sldId id="301" r:id="rId34"/>
    <p:sldId id="302" r:id="rId35"/>
    <p:sldId id="283" r:id="rId36"/>
    <p:sldId id="305" r:id="rId37"/>
    <p:sldId id="284" r:id="rId38"/>
    <p:sldId id="285" r:id="rId39"/>
    <p:sldId id="286" r:id="rId40"/>
    <p:sldId id="287" r:id="rId41"/>
    <p:sldId id="303" r:id="rId42"/>
    <p:sldId id="288" r:id="rId43"/>
    <p:sldId id="289" r:id="rId44"/>
    <p:sldId id="290" r:id="rId45"/>
    <p:sldId id="304" r:id="rId46"/>
    <p:sldId id="291" r:id="rId4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758"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8CD8F7-C303-461F-B13B-39FA35A0F39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2307268-5C05-41C8-85A4-7C1E27D2F0C4}">
      <dgm:prSet phldrT="[Text]"/>
      <dgm:spPr/>
      <dgm:t>
        <a:bodyPr/>
        <a:lstStyle/>
        <a:p>
          <a:pPr>
            <a:buFont typeface="+mj-lt"/>
            <a:buAutoNum type="arabicPeriod"/>
          </a:pPr>
          <a:r>
            <a:rPr lang="en-GB" b="1" dirty="0">
              <a:solidFill>
                <a:schemeClr val="bg1"/>
              </a:solidFill>
            </a:rPr>
            <a:t>Main Components of the Suspension System</a:t>
          </a:r>
          <a:endParaRPr lang="en-US" dirty="0">
            <a:solidFill>
              <a:schemeClr val="bg1"/>
            </a:solidFill>
          </a:endParaRPr>
        </a:p>
      </dgm:t>
    </dgm:pt>
    <dgm:pt modelId="{7FF5A851-42D1-446B-ABD4-61A6DD7049E9}" type="parTrans" cxnId="{13504A9A-F75E-4D19-97A2-9381846AAFEC}">
      <dgm:prSet/>
      <dgm:spPr/>
      <dgm:t>
        <a:bodyPr/>
        <a:lstStyle/>
        <a:p>
          <a:endParaRPr lang="en-US">
            <a:solidFill>
              <a:schemeClr val="bg1"/>
            </a:solidFill>
          </a:endParaRPr>
        </a:p>
      </dgm:t>
    </dgm:pt>
    <dgm:pt modelId="{9F41437E-0C25-455E-877C-46A13FC82F1E}" type="sibTrans" cxnId="{13504A9A-F75E-4D19-97A2-9381846AAFEC}">
      <dgm:prSet/>
      <dgm:spPr/>
      <dgm:t>
        <a:bodyPr/>
        <a:lstStyle/>
        <a:p>
          <a:endParaRPr lang="en-US">
            <a:solidFill>
              <a:schemeClr val="bg1"/>
            </a:solidFill>
          </a:endParaRPr>
        </a:p>
      </dgm:t>
    </dgm:pt>
    <dgm:pt modelId="{7EBA6B51-BC71-405E-8CB1-543F512F2619}">
      <dgm:prSet phldrT="[Text]"/>
      <dgm:spPr/>
      <dgm:t>
        <a:bodyPr/>
        <a:lstStyle/>
        <a:p>
          <a:pPr>
            <a:buFont typeface="Wingdings" panose="05000000000000000000" pitchFamily="2" charset="2"/>
            <a:buNone/>
          </a:pPr>
          <a:r>
            <a:rPr lang="en-GB" b="1" dirty="0">
              <a:solidFill>
                <a:schemeClr val="bg1"/>
              </a:solidFill>
            </a:rPr>
            <a:t>. Upper and Lower Wishbones (Control Arms)</a:t>
          </a:r>
          <a:endParaRPr lang="en-US" dirty="0">
            <a:solidFill>
              <a:schemeClr val="bg1"/>
            </a:solidFill>
          </a:endParaRPr>
        </a:p>
      </dgm:t>
    </dgm:pt>
    <dgm:pt modelId="{C715DAF2-AEAB-470C-93DB-ADB0E1271F39}" type="parTrans" cxnId="{F199997C-B6B1-4633-B3E1-11D9A0E219EB}">
      <dgm:prSet/>
      <dgm:spPr/>
      <dgm:t>
        <a:bodyPr/>
        <a:lstStyle/>
        <a:p>
          <a:endParaRPr lang="en-US">
            <a:solidFill>
              <a:schemeClr val="bg1"/>
            </a:solidFill>
          </a:endParaRPr>
        </a:p>
      </dgm:t>
    </dgm:pt>
    <dgm:pt modelId="{E154873C-F6F2-4DB3-95F2-87EDCC7DD7A2}" type="sibTrans" cxnId="{F199997C-B6B1-4633-B3E1-11D9A0E219EB}">
      <dgm:prSet/>
      <dgm:spPr/>
      <dgm:t>
        <a:bodyPr/>
        <a:lstStyle/>
        <a:p>
          <a:endParaRPr lang="en-US">
            <a:solidFill>
              <a:schemeClr val="bg1"/>
            </a:solidFill>
          </a:endParaRPr>
        </a:p>
      </dgm:t>
    </dgm:pt>
    <dgm:pt modelId="{EA724E16-02C1-4FEC-AD6B-8D45415E306B}">
      <dgm:prSet phldrT="[Text]"/>
      <dgm:spPr/>
      <dgm:t>
        <a:bodyPr/>
        <a:lstStyle/>
        <a:p>
          <a:pPr>
            <a:buNone/>
          </a:pPr>
          <a:r>
            <a:rPr lang="en-GB" b="1" dirty="0">
              <a:solidFill>
                <a:schemeClr val="bg1"/>
              </a:solidFill>
            </a:rPr>
            <a:t>. Spring and Damper</a:t>
          </a:r>
          <a:endParaRPr lang="en-US" dirty="0">
            <a:solidFill>
              <a:schemeClr val="bg1"/>
            </a:solidFill>
          </a:endParaRPr>
        </a:p>
      </dgm:t>
    </dgm:pt>
    <dgm:pt modelId="{9906E968-3E70-48B4-85CF-8AD166D0A367}" type="parTrans" cxnId="{D767FBB1-2ED8-44C5-AB6E-3E499D384403}">
      <dgm:prSet/>
      <dgm:spPr/>
      <dgm:t>
        <a:bodyPr/>
        <a:lstStyle/>
        <a:p>
          <a:endParaRPr lang="en-US">
            <a:solidFill>
              <a:schemeClr val="bg1"/>
            </a:solidFill>
          </a:endParaRPr>
        </a:p>
      </dgm:t>
    </dgm:pt>
    <dgm:pt modelId="{D3AE32C1-FF82-476C-9F6D-7D6686688A19}" type="sibTrans" cxnId="{D767FBB1-2ED8-44C5-AB6E-3E499D384403}">
      <dgm:prSet/>
      <dgm:spPr/>
      <dgm:t>
        <a:bodyPr/>
        <a:lstStyle/>
        <a:p>
          <a:endParaRPr lang="en-US">
            <a:solidFill>
              <a:schemeClr val="bg1"/>
            </a:solidFill>
          </a:endParaRPr>
        </a:p>
      </dgm:t>
    </dgm:pt>
    <dgm:pt modelId="{DFC10ECC-B621-4EAF-A413-A5F38A9A537D}">
      <dgm:prSet phldrT="[Text]"/>
      <dgm:spPr/>
      <dgm:t>
        <a:bodyPr/>
        <a:lstStyle/>
        <a:p>
          <a:pPr>
            <a:buNone/>
          </a:pPr>
          <a:r>
            <a:rPr lang="en-GB" b="1" dirty="0">
              <a:solidFill>
                <a:schemeClr val="bg1"/>
              </a:solidFill>
            </a:rPr>
            <a:t>. Upright (Knuckle)</a:t>
          </a:r>
          <a:endParaRPr lang="en-US" dirty="0">
            <a:solidFill>
              <a:schemeClr val="bg1"/>
            </a:solidFill>
          </a:endParaRPr>
        </a:p>
      </dgm:t>
    </dgm:pt>
    <dgm:pt modelId="{B32C6720-7390-439A-BA10-DCAFE4AB6091}" type="parTrans" cxnId="{7C9D0E27-00C2-43F9-924A-D5F719AFB5C0}">
      <dgm:prSet/>
      <dgm:spPr/>
      <dgm:t>
        <a:bodyPr/>
        <a:lstStyle/>
        <a:p>
          <a:endParaRPr lang="en-US">
            <a:solidFill>
              <a:schemeClr val="bg1"/>
            </a:solidFill>
          </a:endParaRPr>
        </a:p>
      </dgm:t>
    </dgm:pt>
    <dgm:pt modelId="{245FFBB4-D215-43F4-8EFD-74DD435B3C8A}" type="sibTrans" cxnId="{7C9D0E27-00C2-43F9-924A-D5F719AFB5C0}">
      <dgm:prSet/>
      <dgm:spPr/>
      <dgm:t>
        <a:bodyPr/>
        <a:lstStyle/>
        <a:p>
          <a:endParaRPr lang="en-US">
            <a:solidFill>
              <a:schemeClr val="bg1"/>
            </a:solidFill>
          </a:endParaRPr>
        </a:p>
      </dgm:t>
    </dgm:pt>
    <dgm:pt modelId="{E00A1711-7D9C-4CC1-A194-C36F8159473D}" type="pres">
      <dgm:prSet presAssocID="{D08CD8F7-C303-461F-B13B-39FA35A0F399}" presName="vert0" presStyleCnt="0">
        <dgm:presLayoutVars>
          <dgm:dir/>
          <dgm:animOne val="branch"/>
          <dgm:animLvl val="lvl"/>
        </dgm:presLayoutVars>
      </dgm:prSet>
      <dgm:spPr/>
    </dgm:pt>
    <dgm:pt modelId="{5D5CF960-A39D-4BBA-9FB6-FB2DBF45F984}" type="pres">
      <dgm:prSet presAssocID="{82307268-5C05-41C8-85A4-7C1E27D2F0C4}" presName="thickLine" presStyleLbl="alignNode1" presStyleIdx="0" presStyleCnt="1"/>
      <dgm:spPr/>
    </dgm:pt>
    <dgm:pt modelId="{4529917A-FD44-4EC4-8CE7-6E2AD83E6B04}" type="pres">
      <dgm:prSet presAssocID="{82307268-5C05-41C8-85A4-7C1E27D2F0C4}" presName="horz1" presStyleCnt="0"/>
      <dgm:spPr/>
    </dgm:pt>
    <dgm:pt modelId="{40BDD08B-67C2-4614-8C57-EFA0A8A5FDBE}" type="pres">
      <dgm:prSet presAssocID="{82307268-5C05-41C8-85A4-7C1E27D2F0C4}" presName="tx1" presStyleLbl="revTx" presStyleIdx="0" presStyleCnt="4"/>
      <dgm:spPr/>
    </dgm:pt>
    <dgm:pt modelId="{0A3BABB8-B363-4590-B988-4F8670460E85}" type="pres">
      <dgm:prSet presAssocID="{82307268-5C05-41C8-85A4-7C1E27D2F0C4}" presName="vert1" presStyleCnt="0"/>
      <dgm:spPr/>
    </dgm:pt>
    <dgm:pt modelId="{6BD26706-0C29-49D9-BC37-7F6751D9A42F}" type="pres">
      <dgm:prSet presAssocID="{7EBA6B51-BC71-405E-8CB1-543F512F2619}" presName="vertSpace2a" presStyleCnt="0"/>
      <dgm:spPr/>
    </dgm:pt>
    <dgm:pt modelId="{C5B32AF6-54BB-4A65-AFA6-6C3CE9C3F6E5}" type="pres">
      <dgm:prSet presAssocID="{7EBA6B51-BC71-405E-8CB1-543F512F2619}" presName="horz2" presStyleCnt="0"/>
      <dgm:spPr/>
    </dgm:pt>
    <dgm:pt modelId="{E0016DF6-F8D8-4989-8E3C-E5280C78CFF4}" type="pres">
      <dgm:prSet presAssocID="{7EBA6B51-BC71-405E-8CB1-543F512F2619}" presName="horzSpace2" presStyleCnt="0"/>
      <dgm:spPr/>
    </dgm:pt>
    <dgm:pt modelId="{A3355C39-200D-45AE-9CAC-736FF3580621}" type="pres">
      <dgm:prSet presAssocID="{7EBA6B51-BC71-405E-8CB1-543F512F2619}" presName="tx2" presStyleLbl="revTx" presStyleIdx="1" presStyleCnt="4"/>
      <dgm:spPr/>
    </dgm:pt>
    <dgm:pt modelId="{83CF6822-5487-408A-815D-51E4B8FDCF36}" type="pres">
      <dgm:prSet presAssocID="{7EBA6B51-BC71-405E-8CB1-543F512F2619}" presName="vert2" presStyleCnt="0"/>
      <dgm:spPr/>
    </dgm:pt>
    <dgm:pt modelId="{9EC5F9AE-A398-40AB-AE11-56D07D0F75DE}" type="pres">
      <dgm:prSet presAssocID="{7EBA6B51-BC71-405E-8CB1-543F512F2619}" presName="thinLine2b" presStyleLbl="callout" presStyleIdx="0" presStyleCnt="3"/>
      <dgm:spPr/>
    </dgm:pt>
    <dgm:pt modelId="{3D4FB64A-1ED0-4FED-9B9C-DC788B5F630B}" type="pres">
      <dgm:prSet presAssocID="{7EBA6B51-BC71-405E-8CB1-543F512F2619}" presName="vertSpace2b" presStyleCnt="0"/>
      <dgm:spPr/>
    </dgm:pt>
    <dgm:pt modelId="{F028001B-CF99-4F90-A3EB-3F44166D31A4}" type="pres">
      <dgm:prSet presAssocID="{EA724E16-02C1-4FEC-AD6B-8D45415E306B}" presName="horz2" presStyleCnt="0"/>
      <dgm:spPr/>
    </dgm:pt>
    <dgm:pt modelId="{25488C17-58E8-4078-85C1-F4619148994D}" type="pres">
      <dgm:prSet presAssocID="{EA724E16-02C1-4FEC-AD6B-8D45415E306B}" presName="horzSpace2" presStyleCnt="0"/>
      <dgm:spPr/>
    </dgm:pt>
    <dgm:pt modelId="{2049D355-7883-415F-8B9B-916C04F2EF5A}" type="pres">
      <dgm:prSet presAssocID="{EA724E16-02C1-4FEC-AD6B-8D45415E306B}" presName="tx2" presStyleLbl="revTx" presStyleIdx="2" presStyleCnt="4"/>
      <dgm:spPr/>
    </dgm:pt>
    <dgm:pt modelId="{49FC9666-4D28-4800-8D00-32F60B365EF7}" type="pres">
      <dgm:prSet presAssocID="{EA724E16-02C1-4FEC-AD6B-8D45415E306B}" presName="vert2" presStyleCnt="0"/>
      <dgm:spPr/>
    </dgm:pt>
    <dgm:pt modelId="{8B740D1F-7C58-437D-AD8C-17224B5BCD55}" type="pres">
      <dgm:prSet presAssocID="{EA724E16-02C1-4FEC-AD6B-8D45415E306B}" presName="thinLine2b" presStyleLbl="callout" presStyleIdx="1" presStyleCnt="3"/>
      <dgm:spPr/>
    </dgm:pt>
    <dgm:pt modelId="{A5A96EBA-E2C4-4244-A1BB-C52BF18DC76E}" type="pres">
      <dgm:prSet presAssocID="{EA724E16-02C1-4FEC-AD6B-8D45415E306B}" presName="vertSpace2b" presStyleCnt="0"/>
      <dgm:spPr/>
    </dgm:pt>
    <dgm:pt modelId="{C17F2A02-5075-4050-A45C-BE837A5BE495}" type="pres">
      <dgm:prSet presAssocID="{DFC10ECC-B621-4EAF-A413-A5F38A9A537D}" presName="horz2" presStyleCnt="0"/>
      <dgm:spPr/>
    </dgm:pt>
    <dgm:pt modelId="{D219AA5F-9007-4A75-B2F7-A09355F69984}" type="pres">
      <dgm:prSet presAssocID="{DFC10ECC-B621-4EAF-A413-A5F38A9A537D}" presName="horzSpace2" presStyleCnt="0"/>
      <dgm:spPr/>
    </dgm:pt>
    <dgm:pt modelId="{FAC158D6-AA2F-47C5-B630-6B5BF9C6F453}" type="pres">
      <dgm:prSet presAssocID="{DFC10ECC-B621-4EAF-A413-A5F38A9A537D}" presName="tx2" presStyleLbl="revTx" presStyleIdx="3" presStyleCnt="4"/>
      <dgm:spPr/>
    </dgm:pt>
    <dgm:pt modelId="{19EA4D80-E6C5-47C0-8F2C-C0C4AB2B350F}" type="pres">
      <dgm:prSet presAssocID="{DFC10ECC-B621-4EAF-A413-A5F38A9A537D}" presName="vert2" presStyleCnt="0"/>
      <dgm:spPr/>
    </dgm:pt>
    <dgm:pt modelId="{58189138-590B-44F9-B3FB-54762E8AADD5}" type="pres">
      <dgm:prSet presAssocID="{DFC10ECC-B621-4EAF-A413-A5F38A9A537D}" presName="thinLine2b" presStyleLbl="callout" presStyleIdx="2" presStyleCnt="3"/>
      <dgm:spPr/>
    </dgm:pt>
    <dgm:pt modelId="{1C674EAB-9C3E-48D3-A337-23676FDC96E6}" type="pres">
      <dgm:prSet presAssocID="{DFC10ECC-B621-4EAF-A413-A5F38A9A537D}" presName="vertSpace2b" presStyleCnt="0"/>
      <dgm:spPr/>
    </dgm:pt>
  </dgm:ptLst>
  <dgm:cxnLst>
    <dgm:cxn modelId="{52776B08-66F4-46EC-AE31-E075796C8436}" type="presOf" srcId="{82307268-5C05-41C8-85A4-7C1E27D2F0C4}" destId="{40BDD08B-67C2-4614-8C57-EFA0A8A5FDBE}" srcOrd="0" destOrd="0" presId="urn:microsoft.com/office/officeart/2008/layout/LinedList"/>
    <dgm:cxn modelId="{7C9D0E27-00C2-43F9-924A-D5F719AFB5C0}" srcId="{82307268-5C05-41C8-85A4-7C1E27D2F0C4}" destId="{DFC10ECC-B621-4EAF-A413-A5F38A9A537D}" srcOrd="2" destOrd="0" parTransId="{B32C6720-7390-439A-BA10-DCAFE4AB6091}" sibTransId="{245FFBB4-D215-43F4-8EFD-74DD435B3C8A}"/>
    <dgm:cxn modelId="{F199997C-B6B1-4633-B3E1-11D9A0E219EB}" srcId="{82307268-5C05-41C8-85A4-7C1E27D2F0C4}" destId="{7EBA6B51-BC71-405E-8CB1-543F512F2619}" srcOrd="0" destOrd="0" parTransId="{C715DAF2-AEAB-470C-93DB-ADB0E1271F39}" sibTransId="{E154873C-F6F2-4DB3-95F2-87EDCC7DD7A2}"/>
    <dgm:cxn modelId="{1DF89686-B167-4742-AA9C-6DE16797C490}" type="presOf" srcId="{DFC10ECC-B621-4EAF-A413-A5F38A9A537D}" destId="{FAC158D6-AA2F-47C5-B630-6B5BF9C6F453}" srcOrd="0" destOrd="0" presId="urn:microsoft.com/office/officeart/2008/layout/LinedList"/>
    <dgm:cxn modelId="{7A383E91-BB88-413D-A635-44642F87BF05}" type="presOf" srcId="{7EBA6B51-BC71-405E-8CB1-543F512F2619}" destId="{A3355C39-200D-45AE-9CAC-736FF3580621}" srcOrd="0" destOrd="0" presId="urn:microsoft.com/office/officeart/2008/layout/LinedList"/>
    <dgm:cxn modelId="{13504A9A-F75E-4D19-97A2-9381846AAFEC}" srcId="{D08CD8F7-C303-461F-B13B-39FA35A0F399}" destId="{82307268-5C05-41C8-85A4-7C1E27D2F0C4}" srcOrd="0" destOrd="0" parTransId="{7FF5A851-42D1-446B-ABD4-61A6DD7049E9}" sibTransId="{9F41437E-0C25-455E-877C-46A13FC82F1E}"/>
    <dgm:cxn modelId="{C7E32C9C-C730-4284-ABFD-BE06D98A13AA}" type="presOf" srcId="{EA724E16-02C1-4FEC-AD6B-8D45415E306B}" destId="{2049D355-7883-415F-8B9B-916C04F2EF5A}" srcOrd="0" destOrd="0" presId="urn:microsoft.com/office/officeart/2008/layout/LinedList"/>
    <dgm:cxn modelId="{C3190BA1-ED22-4159-A23D-876F94F666E8}" type="presOf" srcId="{D08CD8F7-C303-461F-B13B-39FA35A0F399}" destId="{E00A1711-7D9C-4CC1-A194-C36F8159473D}" srcOrd="0" destOrd="0" presId="urn:microsoft.com/office/officeart/2008/layout/LinedList"/>
    <dgm:cxn modelId="{D767FBB1-2ED8-44C5-AB6E-3E499D384403}" srcId="{82307268-5C05-41C8-85A4-7C1E27D2F0C4}" destId="{EA724E16-02C1-4FEC-AD6B-8D45415E306B}" srcOrd="1" destOrd="0" parTransId="{9906E968-3E70-48B4-85CF-8AD166D0A367}" sibTransId="{D3AE32C1-FF82-476C-9F6D-7D6686688A19}"/>
    <dgm:cxn modelId="{3F0BA0A1-A29F-4872-9366-808EA0273E3D}" type="presParOf" srcId="{E00A1711-7D9C-4CC1-A194-C36F8159473D}" destId="{5D5CF960-A39D-4BBA-9FB6-FB2DBF45F984}" srcOrd="0" destOrd="0" presId="urn:microsoft.com/office/officeart/2008/layout/LinedList"/>
    <dgm:cxn modelId="{EE04D1D3-6268-4056-AD45-AD3CD4994A28}" type="presParOf" srcId="{E00A1711-7D9C-4CC1-A194-C36F8159473D}" destId="{4529917A-FD44-4EC4-8CE7-6E2AD83E6B04}" srcOrd="1" destOrd="0" presId="urn:microsoft.com/office/officeart/2008/layout/LinedList"/>
    <dgm:cxn modelId="{040D0B57-B1EE-44DB-A372-D9F0916F8DD6}" type="presParOf" srcId="{4529917A-FD44-4EC4-8CE7-6E2AD83E6B04}" destId="{40BDD08B-67C2-4614-8C57-EFA0A8A5FDBE}" srcOrd="0" destOrd="0" presId="urn:microsoft.com/office/officeart/2008/layout/LinedList"/>
    <dgm:cxn modelId="{FBDDF118-D03C-4FD0-A7FE-1D3C40E0AC68}" type="presParOf" srcId="{4529917A-FD44-4EC4-8CE7-6E2AD83E6B04}" destId="{0A3BABB8-B363-4590-B988-4F8670460E85}" srcOrd="1" destOrd="0" presId="urn:microsoft.com/office/officeart/2008/layout/LinedList"/>
    <dgm:cxn modelId="{955C848E-223F-44D8-9183-2441DBCD89F1}" type="presParOf" srcId="{0A3BABB8-B363-4590-B988-4F8670460E85}" destId="{6BD26706-0C29-49D9-BC37-7F6751D9A42F}" srcOrd="0" destOrd="0" presId="urn:microsoft.com/office/officeart/2008/layout/LinedList"/>
    <dgm:cxn modelId="{C4D566E5-B679-4742-9BD7-71240F7B282A}" type="presParOf" srcId="{0A3BABB8-B363-4590-B988-4F8670460E85}" destId="{C5B32AF6-54BB-4A65-AFA6-6C3CE9C3F6E5}" srcOrd="1" destOrd="0" presId="urn:microsoft.com/office/officeart/2008/layout/LinedList"/>
    <dgm:cxn modelId="{4C81AA38-C4E9-4FF3-902A-4FBFC9E2C9A5}" type="presParOf" srcId="{C5B32AF6-54BB-4A65-AFA6-6C3CE9C3F6E5}" destId="{E0016DF6-F8D8-4989-8E3C-E5280C78CFF4}" srcOrd="0" destOrd="0" presId="urn:microsoft.com/office/officeart/2008/layout/LinedList"/>
    <dgm:cxn modelId="{F529D575-C1AB-4818-9CAE-FBC1EBE6BC05}" type="presParOf" srcId="{C5B32AF6-54BB-4A65-AFA6-6C3CE9C3F6E5}" destId="{A3355C39-200D-45AE-9CAC-736FF3580621}" srcOrd="1" destOrd="0" presId="urn:microsoft.com/office/officeart/2008/layout/LinedList"/>
    <dgm:cxn modelId="{00A6FBBC-2876-4FC0-ADF5-E9D9C847FB22}" type="presParOf" srcId="{C5B32AF6-54BB-4A65-AFA6-6C3CE9C3F6E5}" destId="{83CF6822-5487-408A-815D-51E4B8FDCF36}" srcOrd="2" destOrd="0" presId="urn:microsoft.com/office/officeart/2008/layout/LinedList"/>
    <dgm:cxn modelId="{B32CAF5F-58E8-42DE-821F-AF631D39A833}" type="presParOf" srcId="{0A3BABB8-B363-4590-B988-4F8670460E85}" destId="{9EC5F9AE-A398-40AB-AE11-56D07D0F75DE}" srcOrd="2" destOrd="0" presId="urn:microsoft.com/office/officeart/2008/layout/LinedList"/>
    <dgm:cxn modelId="{E3DE59A9-BD8A-4D5F-B25F-BBF6ABC6F839}" type="presParOf" srcId="{0A3BABB8-B363-4590-B988-4F8670460E85}" destId="{3D4FB64A-1ED0-4FED-9B9C-DC788B5F630B}" srcOrd="3" destOrd="0" presId="urn:microsoft.com/office/officeart/2008/layout/LinedList"/>
    <dgm:cxn modelId="{BA2B3F5B-2621-43E2-8CD2-DEEE50D0A05E}" type="presParOf" srcId="{0A3BABB8-B363-4590-B988-4F8670460E85}" destId="{F028001B-CF99-4F90-A3EB-3F44166D31A4}" srcOrd="4" destOrd="0" presId="urn:microsoft.com/office/officeart/2008/layout/LinedList"/>
    <dgm:cxn modelId="{99888F3D-FA76-4510-8E5D-637AF4CF49C5}" type="presParOf" srcId="{F028001B-CF99-4F90-A3EB-3F44166D31A4}" destId="{25488C17-58E8-4078-85C1-F4619148994D}" srcOrd="0" destOrd="0" presId="urn:microsoft.com/office/officeart/2008/layout/LinedList"/>
    <dgm:cxn modelId="{257EE881-327E-4B5C-ADDB-034C4D83094F}" type="presParOf" srcId="{F028001B-CF99-4F90-A3EB-3F44166D31A4}" destId="{2049D355-7883-415F-8B9B-916C04F2EF5A}" srcOrd="1" destOrd="0" presId="urn:microsoft.com/office/officeart/2008/layout/LinedList"/>
    <dgm:cxn modelId="{39A3B1D9-ED59-4C56-9B1C-465B56B0E853}" type="presParOf" srcId="{F028001B-CF99-4F90-A3EB-3F44166D31A4}" destId="{49FC9666-4D28-4800-8D00-32F60B365EF7}" srcOrd="2" destOrd="0" presId="urn:microsoft.com/office/officeart/2008/layout/LinedList"/>
    <dgm:cxn modelId="{C1C41921-B3CB-4547-8A0A-F1CC3A75011D}" type="presParOf" srcId="{0A3BABB8-B363-4590-B988-4F8670460E85}" destId="{8B740D1F-7C58-437D-AD8C-17224B5BCD55}" srcOrd="5" destOrd="0" presId="urn:microsoft.com/office/officeart/2008/layout/LinedList"/>
    <dgm:cxn modelId="{5561DAF3-9FC4-4ED4-B3EE-D86BDF8071FE}" type="presParOf" srcId="{0A3BABB8-B363-4590-B988-4F8670460E85}" destId="{A5A96EBA-E2C4-4244-A1BB-C52BF18DC76E}" srcOrd="6" destOrd="0" presId="urn:microsoft.com/office/officeart/2008/layout/LinedList"/>
    <dgm:cxn modelId="{AB9A16AB-BA2A-49F1-B44A-78902A41DD0D}" type="presParOf" srcId="{0A3BABB8-B363-4590-B988-4F8670460E85}" destId="{C17F2A02-5075-4050-A45C-BE837A5BE495}" srcOrd="7" destOrd="0" presId="urn:microsoft.com/office/officeart/2008/layout/LinedList"/>
    <dgm:cxn modelId="{82F3B350-B8A9-4C0A-8FE5-677C0ACFE847}" type="presParOf" srcId="{C17F2A02-5075-4050-A45C-BE837A5BE495}" destId="{D219AA5F-9007-4A75-B2F7-A09355F69984}" srcOrd="0" destOrd="0" presId="urn:microsoft.com/office/officeart/2008/layout/LinedList"/>
    <dgm:cxn modelId="{7F69C3DA-B1E6-4880-992C-53BBD97EED63}" type="presParOf" srcId="{C17F2A02-5075-4050-A45C-BE837A5BE495}" destId="{FAC158D6-AA2F-47C5-B630-6B5BF9C6F453}" srcOrd="1" destOrd="0" presId="urn:microsoft.com/office/officeart/2008/layout/LinedList"/>
    <dgm:cxn modelId="{861C3996-B654-4199-9F66-3C1D02B89B99}" type="presParOf" srcId="{C17F2A02-5075-4050-A45C-BE837A5BE495}" destId="{19EA4D80-E6C5-47C0-8F2C-C0C4AB2B350F}" srcOrd="2" destOrd="0" presId="urn:microsoft.com/office/officeart/2008/layout/LinedList"/>
    <dgm:cxn modelId="{F378D1D0-9BCA-4A8F-BE86-112A184F9D06}" type="presParOf" srcId="{0A3BABB8-B363-4590-B988-4F8670460E85}" destId="{58189138-590B-44F9-B3FB-54762E8AADD5}" srcOrd="8" destOrd="0" presId="urn:microsoft.com/office/officeart/2008/layout/LinedList"/>
    <dgm:cxn modelId="{638AA57A-9968-420D-9F93-10A68959D7F8}" type="presParOf" srcId="{0A3BABB8-B363-4590-B988-4F8670460E85}" destId="{1C674EAB-9C3E-48D3-A337-23676FDC96E6}"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5CF960-A39D-4BBA-9FB6-FB2DBF45F984}">
      <dsp:nvSpPr>
        <dsp:cNvPr id="0" name=""/>
        <dsp:cNvSpPr/>
      </dsp:nvSpPr>
      <dsp:spPr>
        <a:xfrm>
          <a:off x="0" y="0"/>
          <a:ext cx="627379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BDD08B-67C2-4614-8C57-EFA0A8A5FDBE}">
      <dsp:nvSpPr>
        <dsp:cNvPr id="0" name=""/>
        <dsp:cNvSpPr/>
      </dsp:nvSpPr>
      <dsp:spPr>
        <a:xfrm>
          <a:off x="0" y="0"/>
          <a:ext cx="1254760" cy="2352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mj-lt"/>
            <a:buNone/>
          </a:pPr>
          <a:r>
            <a:rPr lang="en-GB" sz="1600" b="1" kern="1200" dirty="0">
              <a:solidFill>
                <a:schemeClr val="bg1"/>
              </a:solidFill>
            </a:rPr>
            <a:t>Main Components of the Suspension System</a:t>
          </a:r>
          <a:endParaRPr lang="en-US" sz="1600" kern="1200" dirty="0">
            <a:solidFill>
              <a:schemeClr val="bg1"/>
            </a:solidFill>
          </a:endParaRPr>
        </a:p>
      </dsp:txBody>
      <dsp:txXfrm>
        <a:off x="0" y="0"/>
        <a:ext cx="1254760" cy="2352577"/>
      </dsp:txXfrm>
    </dsp:sp>
    <dsp:sp modelId="{A3355C39-200D-45AE-9CAC-736FF3580621}">
      <dsp:nvSpPr>
        <dsp:cNvPr id="0" name=""/>
        <dsp:cNvSpPr/>
      </dsp:nvSpPr>
      <dsp:spPr>
        <a:xfrm>
          <a:off x="1348867" y="36759"/>
          <a:ext cx="4924932" cy="73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Font typeface="Wingdings" panose="05000000000000000000" pitchFamily="2" charset="2"/>
            <a:buNone/>
          </a:pPr>
          <a:r>
            <a:rPr lang="en-GB" sz="2000" b="1" kern="1200" dirty="0">
              <a:solidFill>
                <a:schemeClr val="bg1"/>
              </a:solidFill>
            </a:rPr>
            <a:t>. Upper and Lower Wishbones (Control Arms)</a:t>
          </a:r>
          <a:endParaRPr lang="en-US" sz="2000" kern="1200" dirty="0">
            <a:solidFill>
              <a:schemeClr val="bg1"/>
            </a:solidFill>
          </a:endParaRPr>
        </a:p>
      </dsp:txBody>
      <dsp:txXfrm>
        <a:off x="1348867" y="36759"/>
        <a:ext cx="4924932" cy="735180"/>
      </dsp:txXfrm>
    </dsp:sp>
    <dsp:sp modelId="{9EC5F9AE-A398-40AB-AE11-56D07D0F75DE}">
      <dsp:nvSpPr>
        <dsp:cNvPr id="0" name=""/>
        <dsp:cNvSpPr/>
      </dsp:nvSpPr>
      <dsp:spPr>
        <a:xfrm>
          <a:off x="1254759" y="771939"/>
          <a:ext cx="501904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49D355-7883-415F-8B9B-916C04F2EF5A}">
      <dsp:nvSpPr>
        <dsp:cNvPr id="0" name=""/>
        <dsp:cNvSpPr/>
      </dsp:nvSpPr>
      <dsp:spPr>
        <a:xfrm>
          <a:off x="1348867" y="808698"/>
          <a:ext cx="4924932" cy="73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b="1" kern="1200" dirty="0">
              <a:solidFill>
                <a:schemeClr val="bg1"/>
              </a:solidFill>
            </a:rPr>
            <a:t>. Spring and Damper</a:t>
          </a:r>
          <a:endParaRPr lang="en-US" sz="2000" kern="1200" dirty="0">
            <a:solidFill>
              <a:schemeClr val="bg1"/>
            </a:solidFill>
          </a:endParaRPr>
        </a:p>
      </dsp:txBody>
      <dsp:txXfrm>
        <a:off x="1348867" y="808698"/>
        <a:ext cx="4924932" cy="735180"/>
      </dsp:txXfrm>
    </dsp:sp>
    <dsp:sp modelId="{8B740D1F-7C58-437D-AD8C-17224B5BCD55}">
      <dsp:nvSpPr>
        <dsp:cNvPr id="0" name=""/>
        <dsp:cNvSpPr/>
      </dsp:nvSpPr>
      <dsp:spPr>
        <a:xfrm>
          <a:off x="1254759" y="1543879"/>
          <a:ext cx="501904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C158D6-AA2F-47C5-B630-6B5BF9C6F453}">
      <dsp:nvSpPr>
        <dsp:cNvPr id="0" name=""/>
        <dsp:cNvSpPr/>
      </dsp:nvSpPr>
      <dsp:spPr>
        <a:xfrm>
          <a:off x="1348867" y="1580638"/>
          <a:ext cx="4924932" cy="73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GB" sz="2000" b="1" kern="1200" dirty="0">
              <a:solidFill>
                <a:schemeClr val="bg1"/>
              </a:solidFill>
            </a:rPr>
            <a:t>. Upright (Knuckle)</a:t>
          </a:r>
          <a:endParaRPr lang="en-US" sz="2000" kern="1200" dirty="0">
            <a:solidFill>
              <a:schemeClr val="bg1"/>
            </a:solidFill>
          </a:endParaRPr>
        </a:p>
      </dsp:txBody>
      <dsp:txXfrm>
        <a:off x="1348867" y="1580638"/>
        <a:ext cx="4924932" cy="735180"/>
      </dsp:txXfrm>
    </dsp:sp>
    <dsp:sp modelId="{58189138-590B-44F9-B3FB-54762E8AADD5}">
      <dsp:nvSpPr>
        <dsp:cNvPr id="0" name=""/>
        <dsp:cNvSpPr/>
      </dsp:nvSpPr>
      <dsp:spPr>
        <a:xfrm>
          <a:off x="1254759" y="2315818"/>
          <a:ext cx="501904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3F76B84-5A83-4893-840C-B1ADCC57D67F}" type="datetimeFigureOut">
              <a:rPr lang="en-US" smtClean="0"/>
              <a:t>4/11/2025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AA4402D-8F7E-463C-87AB-F2C866DFCCB6}" type="slidenum">
              <a:rPr lang="en-US" smtClean="0"/>
              <a:t>‹#›</a:t>
            </a:fld>
            <a:endParaRPr lang="en-US"/>
          </a:p>
        </p:txBody>
      </p:sp>
    </p:spTree>
    <p:extLst>
      <p:ext uri="{BB962C8B-B14F-4D97-AF65-F5344CB8AC3E}">
        <p14:creationId xmlns:p14="http://schemas.microsoft.com/office/powerpoint/2010/main" val="1783842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A4402D-8F7E-463C-87AB-F2C866DFCCB6}" type="slidenum">
              <a:rPr lang="en-US" smtClean="0"/>
              <a:t>8</a:t>
            </a:fld>
            <a:endParaRPr lang="en-US"/>
          </a:p>
        </p:txBody>
      </p:sp>
    </p:spTree>
    <p:extLst>
      <p:ext uri="{BB962C8B-B14F-4D97-AF65-F5344CB8AC3E}">
        <p14:creationId xmlns:p14="http://schemas.microsoft.com/office/powerpoint/2010/main" val="3980727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A4402D-8F7E-463C-87AB-F2C866DFCCB6}" type="slidenum">
              <a:rPr lang="en-US" smtClean="0"/>
              <a:t>14</a:t>
            </a:fld>
            <a:endParaRPr lang="en-US"/>
          </a:p>
        </p:txBody>
      </p:sp>
    </p:spTree>
    <p:extLst>
      <p:ext uri="{BB962C8B-B14F-4D97-AF65-F5344CB8AC3E}">
        <p14:creationId xmlns:p14="http://schemas.microsoft.com/office/powerpoint/2010/main" val="2915177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A4402D-8F7E-463C-87AB-F2C866DFCCB6}" type="slidenum">
              <a:rPr lang="en-US" smtClean="0"/>
              <a:t>22</a:t>
            </a:fld>
            <a:endParaRPr lang="en-US"/>
          </a:p>
        </p:txBody>
      </p:sp>
    </p:spTree>
    <p:extLst>
      <p:ext uri="{BB962C8B-B14F-4D97-AF65-F5344CB8AC3E}">
        <p14:creationId xmlns:p14="http://schemas.microsoft.com/office/powerpoint/2010/main" val="2028850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D863-2FD5-966C-3889-3A0181E277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3B924-983B-D750-8EE9-56530FF0D5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10264-1C2A-4340-BD7B-A04806F195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CC3D11-419C-EF3F-7084-C6B90A6B7661}"/>
              </a:ext>
            </a:extLst>
          </p:cNvPr>
          <p:cNvSpPr>
            <a:spLocks noGrp="1"/>
          </p:cNvSpPr>
          <p:nvPr>
            <p:ph type="sldNum" sz="quarter" idx="5"/>
          </p:nvPr>
        </p:nvSpPr>
        <p:spPr/>
        <p:txBody>
          <a:bodyPr/>
          <a:lstStyle/>
          <a:p>
            <a:fld id="{6AA4402D-8F7E-463C-87AB-F2C866DFCCB6}" type="slidenum">
              <a:rPr lang="en-US" smtClean="0"/>
              <a:t>24</a:t>
            </a:fld>
            <a:endParaRPr lang="en-US"/>
          </a:p>
        </p:txBody>
      </p:sp>
    </p:spTree>
    <p:extLst>
      <p:ext uri="{BB962C8B-B14F-4D97-AF65-F5344CB8AC3E}">
        <p14:creationId xmlns:p14="http://schemas.microsoft.com/office/powerpoint/2010/main" val="2220140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A4402D-8F7E-463C-87AB-F2C866DFCCB6}" type="slidenum">
              <a:rPr lang="en-US" smtClean="0"/>
              <a:t>28</a:t>
            </a:fld>
            <a:endParaRPr lang="en-US"/>
          </a:p>
        </p:txBody>
      </p:sp>
    </p:spTree>
    <p:extLst>
      <p:ext uri="{BB962C8B-B14F-4D97-AF65-F5344CB8AC3E}">
        <p14:creationId xmlns:p14="http://schemas.microsoft.com/office/powerpoint/2010/main" val="3648733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4FBF-010A-B561-0895-DD6582478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75C04-5D30-6E50-14DD-08A8A16FB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88E55-D906-C198-DAEB-9D215ED836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0BA4ED-C683-571E-D888-C604FD106F53}"/>
              </a:ext>
            </a:extLst>
          </p:cNvPr>
          <p:cNvSpPr>
            <a:spLocks noGrp="1"/>
          </p:cNvSpPr>
          <p:nvPr>
            <p:ph type="sldNum" sz="quarter" idx="5"/>
          </p:nvPr>
        </p:nvSpPr>
        <p:spPr/>
        <p:txBody>
          <a:bodyPr/>
          <a:lstStyle/>
          <a:p>
            <a:fld id="{6AA4402D-8F7E-463C-87AB-F2C866DFCCB6}" type="slidenum">
              <a:rPr lang="en-US" smtClean="0"/>
              <a:t>29</a:t>
            </a:fld>
            <a:endParaRPr lang="en-US"/>
          </a:p>
        </p:txBody>
      </p:sp>
    </p:spTree>
    <p:extLst>
      <p:ext uri="{BB962C8B-B14F-4D97-AF65-F5344CB8AC3E}">
        <p14:creationId xmlns:p14="http://schemas.microsoft.com/office/powerpoint/2010/main" val="2416059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5A5A8-FE29-2029-9CAB-CFB4A4623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65F47-DF79-724D-A772-C7F94EF1C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43D527-AF81-0970-8079-AC24A49DD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A58ECC-5C0E-81FF-C735-8409C2BD60D8}"/>
              </a:ext>
            </a:extLst>
          </p:cNvPr>
          <p:cNvSpPr>
            <a:spLocks noGrp="1"/>
          </p:cNvSpPr>
          <p:nvPr>
            <p:ph type="sldNum" sz="quarter" idx="5"/>
          </p:nvPr>
        </p:nvSpPr>
        <p:spPr/>
        <p:txBody>
          <a:bodyPr/>
          <a:lstStyle/>
          <a:p>
            <a:fld id="{6AA4402D-8F7E-463C-87AB-F2C866DFCCB6}" type="slidenum">
              <a:rPr lang="en-US" smtClean="0"/>
              <a:t>30</a:t>
            </a:fld>
            <a:endParaRPr lang="en-US"/>
          </a:p>
        </p:txBody>
      </p:sp>
    </p:spTree>
    <p:extLst>
      <p:ext uri="{BB962C8B-B14F-4D97-AF65-F5344CB8AC3E}">
        <p14:creationId xmlns:p14="http://schemas.microsoft.com/office/powerpoint/2010/main" val="2228640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22CE1-0B22-F03C-3022-9AB857BEE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B0FFF-E2B4-263C-7C56-421DE4B7B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16EDB0-3CD3-5BC0-C4C2-B6C9753049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3B4B33-5295-E6AA-40FC-E0FD50DFC822}"/>
              </a:ext>
            </a:extLst>
          </p:cNvPr>
          <p:cNvSpPr>
            <a:spLocks noGrp="1"/>
          </p:cNvSpPr>
          <p:nvPr>
            <p:ph type="sldNum" sz="quarter" idx="5"/>
          </p:nvPr>
        </p:nvSpPr>
        <p:spPr/>
        <p:txBody>
          <a:bodyPr/>
          <a:lstStyle/>
          <a:p>
            <a:fld id="{6AA4402D-8F7E-463C-87AB-F2C866DFCCB6}" type="slidenum">
              <a:rPr lang="en-US" smtClean="0"/>
              <a:t>31</a:t>
            </a:fld>
            <a:endParaRPr lang="en-US"/>
          </a:p>
        </p:txBody>
      </p:sp>
    </p:spTree>
    <p:extLst>
      <p:ext uri="{BB962C8B-B14F-4D97-AF65-F5344CB8AC3E}">
        <p14:creationId xmlns:p14="http://schemas.microsoft.com/office/powerpoint/2010/main" val="25298840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355"/>
            <a:ext cx="12193270" cy="6858000"/>
          </a:xfrm>
          <a:custGeom>
            <a:avLst/>
            <a:gdLst/>
            <a:ahLst/>
            <a:cxnLst/>
            <a:rect l="l" t="t" r="r" b="b"/>
            <a:pathLst>
              <a:path w="12193270" h="6858000">
                <a:moveTo>
                  <a:pt x="12193193" y="0"/>
                </a:moveTo>
                <a:lnTo>
                  <a:pt x="0" y="0"/>
                </a:lnTo>
                <a:lnTo>
                  <a:pt x="0" y="6857631"/>
                </a:lnTo>
                <a:lnTo>
                  <a:pt x="6096596" y="6857631"/>
                </a:lnTo>
                <a:lnTo>
                  <a:pt x="12193193" y="6857631"/>
                </a:lnTo>
                <a:lnTo>
                  <a:pt x="12193193" y="0"/>
                </a:lnTo>
                <a:close/>
              </a:path>
            </a:pathLst>
          </a:custGeom>
          <a:solidFill>
            <a:srgbClr val="222021"/>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529564" y="12"/>
            <a:ext cx="8149678" cy="6857263"/>
          </a:xfrm>
          <a:prstGeom prst="rect">
            <a:avLst/>
          </a:prstGeom>
        </p:spPr>
      </p:pic>
      <p:sp>
        <p:nvSpPr>
          <p:cNvPr id="18" name="bg object 18"/>
          <p:cNvSpPr/>
          <p:nvPr/>
        </p:nvSpPr>
        <p:spPr>
          <a:xfrm>
            <a:off x="86042" y="1728355"/>
            <a:ext cx="12106275" cy="4560570"/>
          </a:xfrm>
          <a:custGeom>
            <a:avLst/>
            <a:gdLst/>
            <a:ahLst/>
            <a:cxnLst/>
            <a:rect l="l" t="t" r="r" b="b"/>
            <a:pathLst>
              <a:path w="12106275" h="4560570">
                <a:moveTo>
                  <a:pt x="1241272" y="4049280"/>
                </a:moveTo>
                <a:lnTo>
                  <a:pt x="0" y="4049280"/>
                </a:lnTo>
                <a:lnTo>
                  <a:pt x="0" y="4560125"/>
                </a:lnTo>
                <a:lnTo>
                  <a:pt x="620636" y="4560125"/>
                </a:lnTo>
                <a:lnTo>
                  <a:pt x="1241272" y="4560125"/>
                </a:lnTo>
                <a:lnTo>
                  <a:pt x="1241272" y="4049280"/>
                </a:lnTo>
                <a:close/>
              </a:path>
              <a:path w="12106275" h="4560570">
                <a:moveTo>
                  <a:pt x="12106072" y="0"/>
                </a:moveTo>
                <a:lnTo>
                  <a:pt x="6296393" y="0"/>
                </a:lnTo>
                <a:lnTo>
                  <a:pt x="6296393" y="2429281"/>
                </a:lnTo>
                <a:lnTo>
                  <a:pt x="9201239" y="2429281"/>
                </a:lnTo>
                <a:lnTo>
                  <a:pt x="12106072" y="2429281"/>
                </a:lnTo>
                <a:lnTo>
                  <a:pt x="12106072" y="0"/>
                </a:lnTo>
                <a:close/>
              </a:path>
            </a:pathLst>
          </a:custGeom>
          <a:solidFill>
            <a:srgbClr val="453E31">
              <a:alpha val="92999"/>
            </a:srgbClr>
          </a:solidFill>
        </p:spPr>
        <p:txBody>
          <a:bodyPr wrap="square" lIns="0" tIns="0" rIns="0" bIns="0" rtlCol="0"/>
          <a:lstStyle/>
          <a:p>
            <a:endParaRPr/>
          </a:p>
        </p:txBody>
      </p:sp>
      <p:sp>
        <p:nvSpPr>
          <p:cNvPr id="2" name="Holder 2"/>
          <p:cNvSpPr>
            <a:spLocks noGrp="1"/>
          </p:cNvSpPr>
          <p:nvPr>
            <p:ph type="ctrTitle"/>
          </p:nvPr>
        </p:nvSpPr>
        <p:spPr>
          <a:xfrm>
            <a:off x="7942580" y="2321534"/>
            <a:ext cx="3989704" cy="1245235"/>
          </a:xfrm>
          <a:prstGeom prst="rect">
            <a:avLst/>
          </a:prstGeom>
        </p:spPr>
        <p:txBody>
          <a:bodyPr wrap="square" lIns="0" tIns="0" rIns="0" bIns="0">
            <a:spAutoFit/>
          </a:bodyPr>
          <a:lstStyle>
            <a:lvl1pPr>
              <a:defRPr sz="4000" b="0" i="0">
                <a:solidFill>
                  <a:schemeClr val="bg1"/>
                </a:solidFill>
                <a:latin typeface="Trebuchet MS"/>
                <a:cs typeface="Trebuchet MS"/>
              </a:defRPr>
            </a:lvl1pPr>
          </a:lstStyle>
          <a:p>
            <a:endParaRPr/>
          </a:p>
        </p:txBody>
      </p:sp>
      <p:sp>
        <p:nvSpPr>
          <p:cNvPr id="3" name="Holder 3"/>
          <p:cNvSpPr>
            <a:spLocks noGrp="1"/>
          </p:cNvSpPr>
          <p:nvPr>
            <p:ph type="subTitle" idx="4"/>
          </p:nvPr>
        </p:nvSpPr>
        <p:spPr>
          <a:xfrm>
            <a:off x="1829752" y="3840480"/>
            <a:ext cx="8538845"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758" y="0"/>
                </a:moveTo>
                <a:lnTo>
                  <a:pt x="0" y="0"/>
                </a:lnTo>
                <a:lnTo>
                  <a:pt x="0" y="6857644"/>
                </a:lnTo>
                <a:lnTo>
                  <a:pt x="12191758" y="6857644"/>
                </a:lnTo>
                <a:lnTo>
                  <a:pt x="12191758" y="0"/>
                </a:lnTo>
                <a:close/>
              </a:path>
            </a:pathLst>
          </a:custGeom>
          <a:solidFill>
            <a:srgbClr val="222021"/>
          </a:solidFill>
        </p:spPr>
        <p:txBody>
          <a:bodyPr wrap="square" lIns="0" tIns="0" rIns="0" bIns="0" rtlCol="0"/>
          <a:lstStyle/>
          <a:p>
            <a:endParaRPr/>
          </a:p>
        </p:txBody>
      </p:sp>
      <p:sp>
        <p:nvSpPr>
          <p:cNvPr id="17" name="bg object 17"/>
          <p:cNvSpPr/>
          <p:nvPr/>
        </p:nvSpPr>
        <p:spPr>
          <a:xfrm>
            <a:off x="133565" y="-355"/>
            <a:ext cx="1278255" cy="1994535"/>
          </a:xfrm>
          <a:custGeom>
            <a:avLst/>
            <a:gdLst/>
            <a:ahLst/>
            <a:cxnLst/>
            <a:rect l="l" t="t" r="r" b="b"/>
            <a:pathLst>
              <a:path w="1278255" h="1994535">
                <a:moveTo>
                  <a:pt x="1277988" y="0"/>
                </a:moveTo>
                <a:lnTo>
                  <a:pt x="0" y="0"/>
                </a:lnTo>
                <a:lnTo>
                  <a:pt x="0" y="1994039"/>
                </a:lnTo>
                <a:lnTo>
                  <a:pt x="638987" y="1994039"/>
                </a:lnTo>
                <a:lnTo>
                  <a:pt x="1277988" y="1994039"/>
                </a:lnTo>
                <a:lnTo>
                  <a:pt x="1277988" y="0"/>
                </a:lnTo>
                <a:close/>
              </a:path>
            </a:pathLst>
          </a:custGeom>
          <a:solidFill>
            <a:srgbClr val="453E31">
              <a:alpha val="92999"/>
            </a:srgbClr>
          </a:solidFill>
        </p:spPr>
        <p:txBody>
          <a:bodyPr wrap="square" lIns="0" tIns="0" rIns="0" bIns="0" rtlCol="0"/>
          <a:lstStyle/>
          <a:p>
            <a:endParaRPr/>
          </a:p>
        </p:txBody>
      </p:sp>
      <p:sp>
        <p:nvSpPr>
          <p:cNvPr id="18" name="bg object 18"/>
          <p:cNvSpPr/>
          <p:nvPr/>
        </p:nvSpPr>
        <p:spPr>
          <a:xfrm>
            <a:off x="710641" y="1268641"/>
            <a:ext cx="1400175" cy="0"/>
          </a:xfrm>
          <a:custGeom>
            <a:avLst/>
            <a:gdLst/>
            <a:ahLst/>
            <a:cxnLst/>
            <a:rect l="l" t="t" r="r" b="b"/>
            <a:pathLst>
              <a:path w="1400175">
                <a:moveTo>
                  <a:pt x="1400035" y="0"/>
                </a:moveTo>
                <a:lnTo>
                  <a:pt x="0" y="0"/>
                </a:lnTo>
              </a:path>
            </a:pathLst>
          </a:custGeom>
          <a:ln w="12599">
            <a:solidFill>
              <a:srgbClr val="FFFFFF"/>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000" b="0" i="0">
                <a:solidFill>
                  <a:schemeClr val="bg1"/>
                </a:solidFill>
                <a:latin typeface="Trebuchet MS"/>
                <a:cs typeface="Trebuchet MS"/>
              </a:defRPr>
            </a:lvl1pPr>
          </a:lstStyle>
          <a:p>
            <a:endParaRPr/>
          </a:p>
        </p:txBody>
      </p:sp>
      <p:sp>
        <p:nvSpPr>
          <p:cNvPr id="3" name="Holder 3"/>
          <p:cNvSpPr>
            <a:spLocks noGrp="1"/>
          </p:cNvSpPr>
          <p:nvPr>
            <p:ph sz="half" idx="2"/>
          </p:nvPr>
        </p:nvSpPr>
        <p:spPr>
          <a:xfrm>
            <a:off x="609917" y="1577340"/>
            <a:ext cx="5306282"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2150" y="1577340"/>
            <a:ext cx="5306282"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758" y="0"/>
                </a:moveTo>
                <a:lnTo>
                  <a:pt x="0" y="0"/>
                </a:lnTo>
                <a:lnTo>
                  <a:pt x="0" y="6857644"/>
                </a:lnTo>
                <a:lnTo>
                  <a:pt x="12191758" y="6857644"/>
                </a:lnTo>
                <a:lnTo>
                  <a:pt x="12191758" y="0"/>
                </a:lnTo>
                <a:close/>
              </a:path>
            </a:pathLst>
          </a:custGeom>
          <a:solidFill>
            <a:srgbClr val="222021">
              <a:alpha val="92999"/>
            </a:srgbClr>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1758" y="0"/>
                </a:moveTo>
                <a:lnTo>
                  <a:pt x="0" y="0"/>
                </a:lnTo>
                <a:lnTo>
                  <a:pt x="0" y="6857644"/>
                </a:lnTo>
                <a:lnTo>
                  <a:pt x="12191758" y="6857644"/>
                </a:lnTo>
                <a:lnTo>
                  <a:pt x="12191758" y="0"/>
                </a:lnTo>
                <a:close/>
              </a:path>
            </a:pathLst>
          </a:custGeom>
          <a:solidFill>
            <a:srgbClr val="222021"/>
          </a:solidFill>
        </p:spPr>
        <p:txBody>
          <a:bodyPr wrap="square" lIns="0" tIns="0" rIns="0" bIns="0" rtlCol="0"/>
          <a:lstStyle/>
          <a:p>
            <a:endParaRPr/>
          </a:p>
        </p:txBody>
      </p:sp>
      <p:sp>
        <p:nvSpPr>
          <p:cNvPr id="2" name="Holder 2"/>
          <p:cNvSpPr>
            <a:spLocks noGrp="1"/>
          </p:cNvSpPr>
          <p:nvPr>
            <p:ph type="title"/>
          </p:nvPr>
        </p:nvSpPr>
        <p:spPr>
          <a:xfrm>
            <a:off x="250101" y="203301"/>
            <a:ext cx="11698147" cy="831215"/>
          </a:xfrm>
          <a:prstGeom prst="rect">
            <a:avLst/>
          </a:prstGeom>
        </p:spPr>
        <p:txBody>
          <a:bodyPr wrap="square" lIns="0" tIns="0" rIns="0" bIns="0">
            <a:spAutoFit/>
          </a:bodyPr>
          <a:lstStyle>
            <a:lvl1pPr>
              <a:defRPr sz="4000" b="0"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1292465" y="1449361"/>
            <a:ext cx="10569575" cy="44615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4/11/2025</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01C5E0-82B3-276A-B4DE-6B388B1DC5C1}"/>
              </a:ext>
            </a:extLst>
          </p:cNvPr>
          <p:cNvGraphicFramePr>
            <a:graphicFrameLocks noGrp="1"/>
          </p:cNvGraphicFramePr>
          <p:nvPr>
            <p:extLst>
              <p:ext uri="{D42A27DB-BD31-4B8C-83A1-F6EECF244321}">
                <p14:modId xmlns:p14="http://schemas.microsoft.com/office/powerpoint/2010/main" val="1004333015"/>
              </p:ext>
            </p:extLst>
          </p:nvPr>
        </p:nvGraphicFramePr>
        <p:xfrm>
          <a:off x="3395979" y="5410200"/>
          <a:ext cx="5400040" cy="281750"/>
        </p:xfrm>
        <a:graphic>
          <a:graphicData uri="http://schemas.openxmlformats.org/drawingml/2006/table">
            <a:tbl>
              <a:tblPr firstRow="1" firstCol="1" bandRow="1"/>
              <a:tblGrid>
                <a:gridCol w="2892425">
                  <a:extLst>
                    <a:ext uri="{9D8B030D-6E8A-4147-A177-3AD203B41FA5}">
                      <a16:colId xmlns:a16="http://schemas.microsoft.com/office/drawing/2014/main" val="816997693"/>
                    </a:ext>
                  </a:extLst>
                </a:gridCol>
                <a:gridCol w="2507615">
                  <a:extLst>
                    <a:ext uri="{9D8B030D-6E8A-4147-A177-3AD203B41FA5}">
                      <a16:colId xmlns:a16="http://schemas.microsoft.com/office/drawing/2014/main" val="1912702268"/>
                    </a:ext>
                  </a:extLst>
                </a:gridCol>
              </a:tblGrid>
              <a:tr h="0">
                <a:tc>
                  <a:txBody>
                    <a:bodyPr/>
                    <a:lstStyle/>
                    <a:p>
                      <a:pPr marL="0" marR="0" algn="ctr">
                        <a:lnSpc>
                          <a:spcPct val="150000"/>
                        </a:lnSpc>
                        <a:spcBef>
                          <a:spcPts val="600"/>
                        </a:spcBef>
                        <a:spcAft>
                          <a:spcPts val="600"/>
                        </a:spcAft>
                        <a:buNone/>
                      </a:pPr>
                      <a:r>
                        <a:rPr lang="en-GB"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Pooya Zare Baravati</a:t>
                      </a:r>
                      <a:endParaRPr lang="en-US" sz="12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a:noFill/>
                    </a:lnL>
                    <a:lnR>
                      <a:noFill/>
                    </a:lnR>
                    <a:lnT>
                      <a:noFill/>
                    </a:lnT>
                    <a:lnB>
                      <a:noFill/>
                    </a:lnB>
                    <a:noFill/>
                  </a:tcPr>
                </a:tc>
                <a:tc>
                  <a:txBody>
                    <a:bodyPr/>
                    <a:lstStyle/>
                    <a:p>
                      <a:pPr marL="0" marR="0" algn="ctr">
                        <a:lnSpc>
                          <a:spcPct val="150000"/>
                        </a:lnSpc>
                        <a:spcBef>
                          <a:spcPts val="600"/>
                        </a:spcBef>
                        <a:spcAft>
                          <a:spcPts val="600"/>
                        </a:spcAft>
                        <a:buNone/>
                      </a:pPr>
                      <a:r>
                        <a:rPr lang="en-GB" sz="1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D18000079</a:t>
                      </a:r>
                      <a:endParaRPr lang="en-US" sz="12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481575861"/>
                  </a:ext>
                </a:extLst>
              </a:tr>
            </a:tbl>
          </a:graphicData>
        </a:graphic>
      </p:graphicFrame>
      <p:sp>
        <p:nvSpPr>
          <p:cNvPr id="5" name="Rectangle 2">
            <a:extLst>
              <a:ext uri="{FF2B5EF4-FFF2-40B4-BE49-F238E27FC236}">
                <a16:creationId xmlns:a16="http://schemas.microsoft.com/office/drawing/2014/main" id="{624F9FD5-2979-51EF-D232-8B4C10B8B2F8}"/>
              </a:ext>
            </a:extLst>
          </p:cNvPr>
          <p:cNvSpPr>
            <a:spLocks noChangeArrowheads="1"/>
          </p:cNvSpPr>
          <p:nvPr/>
        </p:nvSpPr>
        <p:spPr bwMode="auto">
          <a:xfrm>
            <a:off x="3619500" y="404050"/>
            <a:ext cx="495300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it-IT" altLang="en-US" sz="16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UNIVERSITY OF NAPLES FEDERICO II</a:t>
            </a:r>
            <a:endParaRPr kumimoji="0" lang="en-US" altLang="en-US" sz="4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Immagine 3">
            <a:extLst>
              <a:ext uri="{FF2B5EF4-FFF2-40B4-BE49-F238E27FC236}">
                <a16:creationId xmlns:a16="http://schemas.microsoft.com/office/drawing/2014/main" id="{5E8470CC-445A-D3AD-7970-733C113651D8}"/>
              </a:ext>
            </a:extLst>
          </p:cNvPr>
          <p:cNvPicPr>
            <a:picLocks noChangeAspect="1" noChangeArrowheads="1"/>
          </p:cNvPicPr>
          <p:nvPr/>
        </p:nvPicPr>
        <p:blipFill>
          <a:blip r:embed="rId2" cstate="print">
            <a:lum bright="-10000" contrast="40000"/>
            <a:grayscl/>
            <a:extLst>
              <a:ext uri="{28A0092B-C50C-407E-A947-70E740481C1C}">
                <a14:useLocalDpi xmlns:a14="http://schemas.microsoft.com/office/drawing/2010/main" val="0"/>
              </a:ext>
            </a:extLst>
          </a:blip>
          <a:srcRect/>
          <a:stretch>
            <a:fillRect/>
          </a:stretch>
        </p:blipFill>
        <p:spPr bwMode="auto">
          <a:xfrm>
            <a:off x="5448299" y="1066800"/>
            <a:ext cx="1295402" cy="1295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AC582822-A377-9B4D-400D-4DBAF6F5BBDE}"/>
              </a:ext>
            </a:extLst>
          </p:cNvPr>
          <p:cNvSpPr>
            <a:spLocks noChangeArrowheads="1"/>
          </p:cNvSpPr>
          <p:nvPr/>
        </p:nvSpPr>
        <p:spPr bwMode="auto">
          <a:xfrm>
            <a:off x="2852737" y="2298413"/>
            <a:ext cx="6486525"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sz="1600" b="0" i="0" u="none" strike="noStrike" cap="none" normalizeH="0" baseline="0" dirty="0">
                <a:ln>
                  <a:noFill/>
                </a:ln>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POLYTECHNIC AND BASIC SCIENCES SCHOOL </a:t>
            </a:r>
            <a:endParaRPr kumimoji="0" lang="en-US" altLang="en-US" sz="5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sz="1600" b="0" i="0" u="none" strike="noStrike" cap="none" normalizeH="0" baseline="0" dirty="0">
                <a:ln>
                  <a:noFill/>
                </a:ln>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DEPARTMENT OF INDUSTRIAL ENGINEERING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5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sz="1600" b="0"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MASTER’S DEGREE IN </a:t>
            </a:r>
            <a:endParaRPr kumimoji="0" lang="en-US" altLang="en-US" sz="5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sz="1600" b="0"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AUTONOMOUS VEHICLE ENGINEERING</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5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sz="16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DIGITAL MODELLING OF INTERACTIVE SYSTEMS AND INTERFACES</a:t>
            </a:r>
          </a:p>
          <a:p>
            <a:pPr marL="0" marR="0" lvl="0" indent="0" algn="ctr" defTabSz="914400" rtl="0" eaLnBrk="0" fontAlgn="base" latinLnBrk="0" hangingPunct="0">
              <a:lnSpc>
                <a:spcPct val="100000"/>
              </a:lnSpc>
              <a:spcBef>
                <a:spcPct val="0"/>
              </a:spcBef>
              <a:spcAft>
                <a:spcPct val="0"/>
              </a:spcAft>
              <a:buClrTx/>
              <a:buSzTx/>
              <a:buFontTx/>
              <a:buNone/>
              <a:tabLst/>
            </a:pPr>
            <a:endParaRPr lang="en-GB" altLang="en-US" sz="1600" b="1" dirty="0">
              <a:solidFill>
                <a:schemeClr val="bg1"/>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5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b="0" i="0" u="none" strike="noStrike" cap="none" normalizeH="0" baseline="0" dirty="0">
                <a:ln>
                  <a:noFill/>
                </a:ln>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PROJECT REPORT – PW33</a:t>
            </a:r>
          </a:p>
          <a:p>
            <a:pPr marL="0" marR="0" lvl="0" indent="0" algn="ctr" defTabSz="914400" rtl="0" eaLnBrk="0" fontAlgn="base" latinLnBrk="0" hangingPunct="0">
              <a:lnSpc>
                <a:spcPct val="100000"/>
              </a:lnSpc>
              <a:spcBef>
                <a:spcPct val="0"/>
              </a:spcBef>
              <a:spcAft>
                <a:spcPct val="0"/>
              </a:spcAft>
              <a:buClrTx/>
              <a:buSzTx/>
              <a:buFontTx/>
              <a:buNone/>
              <a:tabLst/>
            </a:pPr>
            <a:endParaRPr lang="en-GB" altLang="en-US" dirty="0">
              <a:solidFill>
                <a:schemeClr val="bg1"/>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5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“Electromechanical Active Suspension”</a:t>
            </a:r>
            <a:endParaRPr kumimoji="0" lang="en-US" altLang="en-US" sz="5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8182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7543800" y="2057400"/>
            <a:ext cx="3989704" cy="1859483"/>
          </a:xfrm>
          <a:prstGeom prst="rect">
            <a:avLst/>
          </a:prstGeom>
        </p:spPr>
        <p:txBody>
          <a:bodyPr vert="horz" wrap="square" lIns="0" tIns="12700" rIns="0" bIns="0" rtlCol="0">
            <a:spAutoFit/>
          </a:bodyPr>
          <a:lstStyle/>
          <a:p>
            <a:pPr marR="7620" algn="just" rtl="0">
              <a:lnSpc>
                <a:spcPct val="100000"/>
              </a:lnSpc>
              <a:spcBef>
                <a:spcPts val="100"/>
              </a:spcBef>
            </a:pPr>
            <a:r>
              <a:rPr lang="en-US" dirty="0">
                <a:latin typeface="Times New Roman" panose="02020603050405020304" pitchFamily="18" charset="0"/>
                <a:cs typeface="Times New Roman" panose="02020603050405020304" pitchFamily="18" charset="0"/>
              </a:rPr>
              <a:t>Electromechanical Active</a:t>
            </a:r>
          </a:p>
          <a:p>
            <a:pPr marR="5080" algn="just" rtl="0">
              <a:lnSpc>
                <a:spcPct val="100000"/>
              </a:lnSpc>
            </a:pPr>
            <a:r>
              <a:rPr lang="en-US" dirty="0">
                <a:latin typeface="Times New Roman" panose="02020603050405020304" pitchFamily="18" charset="0"/>
                <a:cs typeface="Times New Roman" panose="02020603050405020304" pitchFamily="18" charset="0"/>
              </a:rPr>
              <a:t>Suspension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Introduction</a:t>
            </a:r>
          </a:p>
        </p:txBody>
      </p:sp>
      <p:grpSp>
        <p:nvGrpSpPr>
          <p:cNvPr id="3" name="object 3"/>
          <p:cNvGrpSpPr/>
          <p:nvPr/>
        </p:nvGrpSpPr>
        <p:grpSpPr>
          <a:xfrm>
            <a:off x="-355" y="990358"/>
            <a:ext cx="9946829" cy="5867654"/>
            <a:chOff x="-355" y="990358"/>
            <a:chExt cx="9946829" cy="5867654"/>
          </a:xfrm>
        </p:grpSpPr>
        <p:sp>
          <p:nvSpPr>
            <p:cNvPr id="4" name="object 4"/>
            <p:cNvSpPr/>
            <p:nvPr/>
          </p:nvSpPr>
          <p:spPr>
            <a:xfrm>
              <a:off x="4820754" y="6188760"/>
              <a:ext cx="5125720" cy="262255"/>
            </a:xfrm>
            <a:custGeom>
              <a:avLst/>
              <a:gdLst/>
              <a:ahLst/>
              <a:cxnLst/>
              <a:rect l="l" t="t" r="r" b="b"/>
              <a:pathLst>
                <a:path w="5125720" h="262254">
                  <a:moveTo>
                    <a:pt x="5125681" y="0"/>
                  </a:moveTo>
                  <a:lnTo>
                    <a:pt x="0" y="0"/>
                  </a:lnTo>
                  <a:lnTo>
                    <a:pt x="0" y="262077"/>
                  </a:lnTo>
                  <a:lnTo>
                    <a:pt x="2562847" y="262077"/>
                  </a:lnTo>
                  <a:lnTo>
                    <a:pt x="5125681" y="262077"/>
                  </a:lnTo>
                  <a:lnTo>
                    <a:pt x="5125681" y="0"/>
                  </a:lnTo>
                  <a:close/>
                </a:path>
              </a:pathLst>
            </a:custGeom>
            <a:solidFill>
              <a:srgbClr val="453E31">
                <a:alpha val="92999"/>
              </a:srgbClr>
            </a:solidFill>
          </p:spPr>
          <p:txBody>
            <a:bodyPr wrap="square" lIns="0" tIns="0" rIns="0" bIns="0" rtlCol="0"/>
            <a:lstStyle/>
            <a:p>
              <a:endParaRPr/>
            </a:p>
          </p:txBody>
        </p:sp>
        <p:sp>
          <p:nvSpPr>
            <p:cNvPr id="6" name="object 6"/>
            <p:cNvSpPr/>
            <p:nvPr/>
          </p:nvSpPr>
          <p:spPr>
            <a:xfrm>
              <a:off x="7963204" y="1713242"/>
              <a:ext cx="0" cy="5144770"/>
            </a:xfrm>
            <a:custGeom>
              <a:avLst/>
              <a:gdLst/>
              <a:ahLst/>
              <a:cxnLst/>
              <a:rect l="l" t="t" r="r" b="b"/>
              <a:pathLst>
                <a:path h="5144770">
                  <a:moveTo>
                    <a:pt x="0" y="0"/>
                  </a:moveTo>
                  <a:lnTo>
                    <a:pt x="0" y="5144757"/>
                  </a:lnTo>
                </a:path>
              </a:pathLst>
            </a:custGeom>
            <a:ln w="12599">
              <a:solidFill>
                <a:srgbClr val="FFFFFF"/>
              </a:solidFill>
            </a:ln>
          </p:spPr>
          <p:txBody>
            <a:bodyPr wrap="square" lIns="0" tIns="0" rIns="0" bIns="0" rtlCol="0"/>
            <a:lstStyle/>
            <a:p>
              <a:endParaRPr/>
            </a:p>
          </p:txBody>
        </p:sp>
        <p:sp>
          <p:nvSpPr>
            <p:cNvPr id="7" name="object 7"/>
            <p:cNvSpPr/>
            <p:nvPr/>
          </p:nvSpPr>
          <p:spPr>
            <a:xfrm>
              <a:off x="-355" y="990358"/>
              <a:ext cx="1882775" cy="702310"/>
            </a:xfrm>
            <a:custGeom>
              <a:avLst/>
              <a:gdLst/>
              <a:ahLst/>
              <a:cxnLst/>
              <a:rect l="l" t="t" r="r" b="b"/>
              <a:pathLst>
                <a:path w="1882775" h="702310">
                  <a:moveTo>
                    <a:pt x="1882432" y="0"/>
                  </a:moveTo>
                  <a:lnTo>
                    <a:pt x="0" y="0"/>
                  </a:lnTo>
                  <a:lnTo>
                    <a:pt x="0" y="702005"/>
                  </a:lnTo>
                  <a:lnTo>
                    <a:pt x="941400" y="702005"/>
                  </a:lnTo>
                  <a:lnTo>
                    <a:pt x="1882432" y="702005"/>
                  </a:lnTo>
                  <a:lnTo>
                    <a:pt x="1882432" y="0"/>
                  </a:lnTo>
                  <a:close/>
                </a:path>
              </a:pathLst>
            </a:custGeom>
            <a:solidFill>
              <a:srgbClr val="453E31">
                <a:alpha val="92999"/>
              </a:srgbClr>
            </a:solidFill>
          </p:spPr>
          <p:txBody>
            <a:bodyPr wrap="square" lIns="0" tIns="0" rIns="0" bIns="0" rtlCol="0"/>
            <a:lstStyle/>
            <a:p>
              <a:endParaRPr/>
            </a:p>
          </p:txBody>
        </p:sp>
        <p:sp>
          <p:nvSpPr>
            <p:cNvPr id="8" name="object 8"/>
            <p:cNvSpPr/>
            <p:nvPr/>
          </p:nvSpPr>
          <p:spPr>
            <a:xfrm>
              <a:off x="0" y="1180439"/>
              <a:ext cx="2516505" cy="0"/>
            </a:xfrm>
            <a:custGeom>
              <a:avLst/>
              <a:gdLst/>
              <a:ahLst/>
              <a:cxnLst/>
              <a:rect l="l" t="t" r="r" b="b"/>
              <a:pathLst>
                <a:path w="2516505">
                  <a:moveTo>
                    <a:pt x="0" y="0"/>
                  </a:moveTo>
                  <a:lnTo>
                    <a:pt x="2516403" y="0"/>
                  </a:lnTo>
                </a:path>
              </a:pathLst>
            </a:custGeom>
            <a:ln w="12599">
              <a:solidFill>
                <a:srgbClr val="FFFFFF"/>
              </a:solidFill>
            </a:ln>
          </p:spPr>
          <p:txBody>
            <a:bodyPr wrap="square" lIns="0" tIns="0" rIns="0" bIns="0" rtlCol="0"/>
            <a:lstStyle/>
            <a:p>
              <a:endParaRPr/>
            </a:p>
          </p:txBody>
        </p:sp>
        <p:sp>
          <p:nvSpPr>
            <p:cNvPr id="9" name="object 9"/>
            <p:cNvSpPr/>
            <p:nvPr/>
          </p:nvSpPr>
          <p:spPr>
            <a:xfrm>
              <a:off x="7760881" y="1540433"/>
              <a:ext cx="403225" cy="403225"/>
            </a:xfrm>
            <a:custGeom>
              <a:avLst/>
              <a:gdLst/>
              <a:ahLst/>
              <a:cxnLst/>
              <a:rect l="l" t="t" r="r" b="b"/>
              <a:pathLst>
                <a:path w="403225" h="403225">
                  <a:moveTo>
                    <a:pt x="201599" y="0"/>
                  </a:moveTo>
                  <a:lnTo>
                    <a:pt x="160921" y="4330"/>
                  </a:lnTo>
                  <a:lnTo>
                    <a:pt x="122034" y="16560"/>
                  </a:lnTo>
                  <a:lnTo>
                    <a:pt x="86398" y="36360"/>
                  </a:lnTo>
                  <a:lnTo>
                    <a:pt x="55435" y="63004"/>
                  </a:lnTo>
                  <a:lnTo>
                    <a:pt x="30594" y="95046"/>
                  </a:lnTo>
                  <a:lnTo>
                    <a:pt x="9359" y="141490"/>
                  </a:lnTo>
                  <a:lnTo>
                    <a:pt x="1512" y="180365"/>
                  </a:lnTo>
                  <a:lnTo>
                    <a:pt x="1435" y="181089"/>
                  </a:lnTo>
                  <a:lnTo>
                    <a:pt x="773" y="190804"/>
                  </a:lnTo>
                  <a:lnTo>
                    <a:pt x="723" y="191528"/>
                  </a:lnTo>
                  <a:lnTo>
                    <a:pt x="369" y="201244"/>
                  </a:lnTo>
                  <a:lnTo>
                    <a:pt x="355" y="201612"/>
                  </a:lnTo>
                  <a:lnTo>
                    <a:pt x="0" y="201612"/>
                  </a:lnTo>
                  <a:lnTo>
                    <a:pt x="343" y="211683"/>
                  </a:lnTo>
                  <a:lnTo>
                    <a:pt x="6743" y="253441"/>
                  </a:lnTo>
                  <a:lnTo>
                    <a:pt x="6832" y="253809"/>
                  </a:lnTo>
                  <a:lnTo>
                    <a:pt x="21958" y="293052"/>
                  </a:lnTo>
                  <a:lnTo>
                    <a:pt x="44996" y="328320"/>
                  </a:lnTo>
                  <a:lnTo>
                    <a:pt x="74879" y="357847"/>
                  </a:lnTo>
                  <a:lnTo>
                    <a:pt x="110159" y="380885"/>
                  </a:lnTo>
                  <a:lnTo>
                    <a:pt x="149402" y="396011"/>
                  </a:lnTo>
                  <a:lnTo>
                    <a:pt x="191160" y="402488"/>
                  </a:lnTo>
                  <a:lnTo>
                    <a:pt x="201599" y="402844"/>
                  </a:lnTo>
                  <a:lnTo>
                    <a:pt x="212039" y="402488"/>
                  </a:lnTo>
                  <a:lnTo>
                    <a:pt x="253796" y="396011"/>
                  </a:lnTo>
                  <a:lnTo>
                    <a:pt x="293039" y="380885"/>
                  </a:lnTo>
                  <a:lnTo>
                    <a:pt x="328320" y="357847"/>
                  </a:lnTo>
                  <a:lnTo>
                    <a:pt x="357835" y="327964"/>
                  </a:lnTo>
                  <a:lnTo>
                    <a:pt x="380873" y="292684"/>
                  </a:lnTo>
                  <a:lnTo>
                    <a:pt x="395893" y="253809"/>
                  </a:lnTo>
                  <a:lnTo>
                    <a:pt x="402450" y="212051"/>
                  </a:lnTo>
                  <a:lnTo>
                    <a:pt x="402844" y="201244"/>
                  </a:lnTo>
                  <a:lnTo>
                    <a:pt x="402501" y="191528"/>
                  </a:lnTo>
                  <a:lnTo>
                    <a:pt x="402475" y="190804"/>
                  </a:lnTo>
                  <a:lnTo>
                    <a:pt x="395998" y="149047"/>
                  </a:lnTo>
                  <a:lnTo>
                    <a:pt x="380873" y="109804"/>
                  </a:lnTo>
                  <a:lnTo>
                    <a:pt x="357835" y="74523"/>
                  </a:lnTo>
                  <a:lnTo>
                    <a:pt x="327964" y="45008"/>
                  </a:lnTo>
                  <a:lnTo>
                    <a:pt x="293039" y="21971"/>
                  </a:lnTo>
                  <a:lnTo>
                    <a:pt x="253796" y="6845"/>
                  </a:lnTo>
                  <a:lnTo>
                    <a:pt x="212039" y="368"/>
                  </a:lnTo>
                  <a:lnTo>
                    <a:pt x="201599" y="0"/>
                  </a:lnTo>
                  <a:close/>
                </a:path>
              </a:pathLst>
            </a:custGeom>
            <a:solidFill>
              <a:srgbClr val="222021"/>
            </a:solidFill>
          </p:spPr>
          <p:txBody>
            <a:bodyPr wrap="square" lIns="0" tIns="0" rIns="0" bIns="0" rtlCol="0"/>
            <a:lstStyle/>
            <a:p>
              <a:endParaRPr/>
            </a:p>
          </p:txBody>
        </p:sp>
        <p:sp>
          <p:nvSpPr>
            <p:cNvPr id="10" name="object 10"/>
            <p:cNvSpPr/>
            <p:nvPr/>
          </p:nvSpPr>
          <p:spPr>
            <a:xfrm>
              <a:off x="7760881" y="1540433"/>
              <a:ext cx="403225" cy="403225"/>
            </a:xfrm>
            <a:custGeom>
              <a:avLst/>
              <a:gdLst/>
              <a:ahLst/>
              <a:cxnLst/>
              <a:rect l="l" t="t" r="r" b="b"/>
              <a:pathLst>
                <a:path w="403225" h="403225">
                  <a:moveTo>
                    <a:pt x="355" y="201612"/>
                  </a:moveTo>
                  <a:lnTo>
                    <a:pt x="723" y="191528"/>
                  </a:lnTo>
                  <a:lnTo>
                    <a:pt x="1435" y="181089"/>
                  </a:lnTo>
                  <a:lnTo>
                    <a:pt x="9359" y="141490"/>
                  </a:lnTo>
                  <a:lnTo>
                    <a:pt x="25565" y="104051"/>
                  </a:lnTo>
                  <a:lnTo>
                    <a:pt x="48602" y="70561"/>
                  </a:lnTo>
                  <a:lnTo>
                    <a:pt x="78117" y="42481"/>
                  </a:lnTo>
                  <a:lnTo>
                    <a:pt x="112674" y="20891"/>
                  </a:lnTo>
                  <a:lnTo>
                    <a:pt x="151193" y="6489"/>
                  </a:lnTo>
                  <a:lnTo>
                    <a:pt x="191516" y="368"/>
                  </a:lnTo>
                  <a:lnTo>
                    <a:pt x="201599" y="0"/>
                  </a:lnTo>
                  <a:lnTo>
                    <a:pt x="243357" y="4330"/>
                  </a:lnTo>
                  <a:lnTo>
                    <a:pt x="283324" y="17284"/>
                  </a:lnTo>
                  <a:lnTo>
                    <a:pt x="319684" y="38531"/>
                  </a:lnTo>
                  <a:lnTo>
                    <a:pt x="351002" y="66611"/>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4"/>
                  </a:lnTo>
                  <a:lnTo>
                    <a:pt x="159842" y="398525"/>
                  </a:lnTo>
                  <a:lnTo>
                    <a:pt x="119519" y="385572"/>
                  </a:lnTo>
                  <a:lnTo>
                    <a:pt x="83159" y="364324"/>
                  </a:lnTo>
                  <a:lnTo>
                    <a:pt x="51841" y="336245"/>
                  </a:lnTo>
                  <a:lnTo>
                    <a:pt x="27000" y="302412"/>
                  </a:lnTo>
                  <a:lnTo>
                    <a:pt x="17640" y="283324"/>
                  </a:lnTo>
                  <a:lnTo>
                    <a:pt x="13322" y="273608"/>
                  </a:lnTo>
                  <a:lnTo>
                    <a:pt x="2514" y="232930"/>
                  </a:lnTo>
                  <a:lnTo>
                    <a:pt x="0" y="201612"/>
                  </a:lnTo>
                  <a:lnTo>
                    <a:pt x="355" y="201612"/>
                  </a:lnTo>
                  <a:close/>
                </a:path>
              </a:pathLst>
            </a:custGeom>
            <a:ln w="12599">
              <a:solidFill>
                <a:srgbClr val="FFFFFF"/>
              </a:solidFill>
            </a:ln>
          </p:spPr>
          <p:txBody>
            <a:bodyPr wrap="square" lIns="0" tIns="0" rIns="0" bIns="0" rtlCol="0"/>
            <a:lstStyle/>
            <a:p>
              <a:endParaRPr/>
            </a:p>
          </p:txBody>
        </p:sp>
      </p:grpSp>
      <p:sp>
        <p:nvSpPr>
          <p:cNvPr id="11" name="object 11"/>
          <p:cNvSpPr txBox="1"/>
          <p:nvPr/>
        </p:nvSpPr>
        <p:spPr>
          <a:xfrm>
            <a:off x="7914500" y="1624215"/>
            <a:ext cx="98425" cy="239395"/>
          </a:xfrm>
          <a:prstGeom prst="rect">
            <a:avLst/>
          </a:prstGeom>
        </p:spPr>
        <p:txBody>
          <a:bodyPr vert="horz" wrap="square" lIns="0" tIns="12700" rIns="0" bIns="0" rtlCol="0">
            <a:spAutoFit/>
          </a:bodyPr>
          <a:lstStyle/>
          <a:p>
            <a:pPr marL="12700">
              <a:lnSpc>
                <a:spcPct val="100000"/>
              </a:lnSpc>
              <a:spcBef>
                <a:spcPts val="100"/>
              </a:spcBef>
            </a:pPr>
            <a:r>
              <a:rPr sz="1400" spc="-120" dirty="0">
                <a:solidFill>
                  <a:srgbClr val="FFFFFF"/>
                </a:solidFill>
                <a:latin typeface="Trebuchet MS"/>
                <a:cs typeface="Trebuchet MS"/>
              </a:rPr>
              <a:t>1</a:t>
            </a:r>
            <a:endParaRPr sz="1400">
              <a:latin typeface="Trebuchet MS"/>
              <a:cs typeface="Trebuchet MS"/>
            </a:endParaRPr>
          </a:p>
        </p:txBody>
      </p:sp>
      <p:grpSp>
        <p:nvGrpSpPr>
          <p:cNvPr id="12" name="object 12"/>
          <p:cNvGrpSpPr/>
          <p:nvPr/>
        </p:nvGrpSpPr>
        <p:grpSpPr>
          <a:xfrm>
            <a:off x="7754531" y="1706892"/>
            <a:ext cx="1149985" cy="2212340"/>
            <a:chOff x="7754531" y="1706892"/>
            <a:chExt cx="1149985" cy="2212340"/>
          </a:xfrm>
        </p:grpSpPr>
        <p:sp>
          <p:nvSpPr>
            <p:cNvPr id="13" name="object 13"/>
            <p:cNvSpPr/>
            <p:nvPr/>
          </p:nvSpPr>
          <p:spPr>
            <a:xfrm>
              <a:off x="8441283" y="1713242"/>
              <a:ext cx="457200" cy="53975"/>
            </a:xfrm>
            <a:custGeom>
              <a:avLst/>
              <a:gdLst/>
              <a:ahLst/>
              <a:cxnLst/>
              <a:rect l="l" t="t" r="r" b="b"/>
              <a:pathLst>
                <a:path w="457200" h="53975">
                  <a:moveTo>
                    <a:pt x="228600" y="53632"/>
                  </a:moveTo>
                  <a:lnTo>
                    <a:pt x="0" y="53632"/>
                  </a:lnTo>
                  <a:lnTo>
                    <a:pt x="0" y="0"/>
                  </a:lnTo>
                  <a:lnTo>
                    <a:pt x="456831" y="0"/>
                  </a:lnTo>
                  <a:lnTo>
                    <a:pt x="456831" y="53632"/>
                  </a:lnTo>
                  <a:lnTo>
                    <a:pt x="228600" y="53632"/>
                  </a:lnTo>
                  <a:close/>
                </a:path>
              </a:pathLst>
            </a:custGeom>
            <a:ln w="12599">
              <a:solidFill>
                <a:srgbClr val="FFFFFF"/>
              </a:solidFill>
            </a:ln>
          </p:spPr>
          <p:txBody>
            <a:bodyPr wrap="square" lIns="0" tIns="0" rIns="0" bIns="0" rtlCol="0"/>
            <a:lstStyle/>
            <a:p>
              <a:endParaRPr/>
            </a:p>
          </p:txBody>
        </p:sp>
        <p:sp>
          <p:nvSpPr>
            <p:cNvPr id="14" name="object 14"/>
            <p:cNvSpPr/>
            <p:nvPr/>
          </p:nvSpPr>
          <p:spPr>
            <a:xfrm>
              <a:off x="7760881" y="3510000"/>
              <a:ext cx="403225" cy="403225"/>
            </a:xfrm>
            <a:custGeom>
              <a:avLst/>
              <a:gdLst/>
              <a:ahLst/>
              <a:cxnLst/>
              <a:rect l="l" t="t" r="r" b="b"/>
              <a:pathLst>
                <a:path w="403225" h="403225">
                  <a:moveTo>
                    <a:pt x="201599" y="0"/>
                  </a:moveTo>
                  <a:lnTo>
                    <a:pt x="160921" y="4318"/>
                  </a:lnTo>
                  <a:lnTo>
                    <a:pt x="122034" y="16560"/>
                  </a:lnTo>
                  <a:lnTo>
                    <a:pt x="86398" y="36360"/>
                  </a:lnTo>
                  <a:lnTo>
                    <a:pt x="55435" y="63004"/>
                  </a:lnTo>
                  <a:lnTo>
                    <a:pt x="30594" y="95034"/>
                  </a:lnTo>
                  <a:lnTo>
                    <a:pt x="9359" y="141478"/>
                  </a:lnTo>
                  <a:lnTo>
                    <a:pt x="1511" y="180365"/>
                  </a:lnTo>
                  <a:lnTo>
                    <a:pt x="1435" y="181076"/>
                  </a:lnTo>
                  <a:lnTo>
                    <a:pt x="772" y="190804"/>
                  </a:lnTo>
                  <a:lnTo>
                    <a:pt x="723" y="191516"/>
                  </a:lnTo>
                  <a:lnTo>
                    <a:pt x="368" y="201244"/>
                  </a:lnTo>
                  <a:lnTo>
                    <a:pt x="355" y="201599"/>
                  </a:lnTo>
                  <a:lnTo>
                    <a:pt x="0" y="201599"/>
                  </a:lnTo>
                  <a:lnTo>
                    <a:pt x="343" y="211683"/>
                  </a:lnTo>
                  <a:lnTo>
                    <a:pt x="6746" y="253441"/>
                  </a:lnTo>
                  <a:lnTo>
                    <a:pt x="21958" y="293039"/>
                  </a:lnTo>
                  <a:lnTo>
                    <a:pt x="44996" y="328320"/>
                  </a:lnTo>
                  <a:lnTo>
                    <a:pt x="74879" y="357835"/>
                  </a:lnTo>
                  <a:lnTo>
                    <a:pt x="110159" y="380885"/>
                  </a:lnTo>
                  <a:lnTo>
                    <a:pt x="149402" y="395998"/>
                  </a:lnTo>
                  <a:lnTo>
                    <a:pt x="191160" y="402475"/>
                  </a:lnTo>
                  <a:lnTo>
                    <a:pt x="201599" y="402844"/>
                  </a:lnTo>
                  <a:lnTo>
                    <a:pt x="212039" y="402475"/>
                  </a:lnTo>
                  <a:lnTo>
                    <a:pt x="253796" y="395998"/>
                  </a:lnTo>
                  <a:lnTo>
                    <a:pt x="293039" y="380885"/>
                  </a:lnTo>
                  <a:lnTo>
                    <a:pt x="328320" y="357835"/>
                  </a:lnTo>
                  <a:lnTo>
                    <a:pt x="357835" y="327964"/>
                  </a:lnTo>
                  <a:lnTo>
                    <a:pt x="380873" y="292684"/>
                  </a:lnTo>
                  <a:lnTo>
                    <a:pt x="395897" y="253796"/>
                  </a:lnTo>
                  <a:lnTo>
                    <a:pt x="395998" y="253441"/>
                  </a:lnTo>
                  <a:lnTo>
                    <a:pt x="398427" y="243357"/>
                  </a:lnTo>
                  <a:lnTo>
                    <a:pt x="398513" y="243001"/>
                  </a:lnTo>
                  <a:lnTo>
                    <a:pt x="400316" y="232918"/>
                  </a:lnTo>
                  <a:lnTo>
                    <a:pt x="401716" y="222478"/>
                  </a:lnTo>
                  <a:lnTo>
                    <a:pt x="401764" y="222123"/>
                  </a:lnTo>
                  <a:lnTo>
                    <a:pt x="402451" y="212039"/>
                  </a:lnTo>
                  <a:lnTo>
                    <a:pt x="402831" y="201599"/>
                  </a:lnTo>
                  <a:lnTo>
                    <a:pt x="402844" y="201244"/>
                  </a:lnTo>
                  <a:lnTo>
                    <a:pt x="402500" y="191516"/>
                  </a:lnTo>
                  <a:lnTo>
                    <a:pt x="395998" y="149034"/>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a:p>
          </p:txBody>
        </p:sp>
        <p:sp>
          <p:nvSpPr>
            <p:cNvPr id="15" name="object 15"/>
            <p:cNvSpPr/>
            <p:nvPr/>
          </p:nvSpPr>
          <p:spPr>
            <a:xfrm>
              <a:off x="7760881" y="3510000"/>
              <a:ext cx="403225" cy="403225"/>
            </a:xfrm>
            <a:custGeom>
              <a:avLst/>
              <a:gdLst/>
              <a:ahLst/>
              <a:cxnLst/>
              <a:rect l="l" t="t" r="r" b="b"/>
              <a:pathLst>
                <a:path w="403225" h="403225">
                  <a:moveTo>
                    <a:pt x="355" y="201599"/>
                  </a:moveTo>
                  <a:lnTo>
                    <a:pt x="723" y="191516"/>
                  </a:lnTo>
                  <a:lnTo>
                    <a:pt x="1435" y="181076"/>
                  </a:lnTo>
                  <a:lnTo>
                    <a:pt x="9359" y="141478"/>
                  </a:lnTo>
                  <a:lnTo>
                    <a:pt x="25565" y="104038"/>
                  </a:lnTo>
                  <a:lnTo>
                    <a:pt x="48602" y="70561"/>
                  </a:lnTo>
                  <a:lnTo>
                    <a:pt x="78117" y="42481"/>
                  </a:lnTo>
                  <a:lnTo>
                    <a:pt x="112674" y="20878"/>
                  </a:lnTo>
                  <a:lnTo>
                    <a:pt x="151193" y="6476"/>
                  </a:lnTo>
                  <a:lnTo>
                    <a:pt x="191516" y="355"/>
                  </a:lnTo>
                  <a:lnTo>
                    <a:pt x="201599" y="0"/>
                  </a:lnTo>
                  <a:lnTo>
                    <a:pt x="243357" y="4318"/>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4"/>
                  </a:lnTo>
                  <a:lnTo>
                    <a:pt x="159842" y="398513"/>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16" name="object 16"/>
          <p:cNvSpPr txBox="1"/>
          <p:nvPr/>
        </p:nvSpPr>
        <p:spPr>
          <a:xfrm>
            <a:off x="9154998" y="861156"/>
            <a:ext cx="2660015" cy="2066591"/>
          </a:xfrm>
          <a:prstGeom prst="rect">
            <a:avLst/>
          </a:prstGeom>
        </p:spPr>
        <p:txBody>
          <a:bodyPr vert="horz" wrap="square" lIns="0" tIns="164465" rIns="0" bIns="0" rtlCol="0">
            <a:spAutoFit/>
          </a:bodyPr>
          <a:lstStyle/>
          <a:p>
            <a:pPr marL="12700">
              <a:lnSpc>
                <a:spcPct val="100000"/>
              </a:lnSpc>
              <a:spcBef>
                <a:spcPts val="1295"/>
              </a:spcBef>
            </a:pPr>
            <a:r>
              <a:rPr sz="1800" dirty="0">
                <a:solidFill>
                  <a:srgbClr val="FFFFFF"/>
                </a:solidFill>
                <a:latin typeface="Trebuchet MS"/>
                <a:cs typeface="Trebuchet MS"/>
              </a:rPr>
              <a:t>Enhanced Comfort</a:t>
            </a:r>
            <a:endParaRPr sz="1800" dirty="0">
              <a:latin typeface="Trebuchet MS"/>
              <a:cs typeface="Trebuchet MS"/>
            </a:endParaRPr>
          </a:p>
          <a:p>
            <a:pPr marL="12700" marR="5080">
              <a:lnSpc>
                <a:spcPct val="99800"/>
              </a:lnSpc>
              <a:spcBef>
                <a:spcPts val="930"/>
              </a:spcBef>
            </a:pPr>
            <a:r>
              <a:rPr sz="1400" dirty="0">
                <a:solidFill>
                  <a:srgbClr val="FFFFFF"/>
                </a:solidFill>
                <a:latin typeface="Trebuchet MS"/>
                <a:cs typeface="Trebuchet MS"/>
              </a:rPr>
              <a:t>Electromechanical active suspension systems improve ride comfort by adjusting stiffness and damping in real-time, providing drivers and passengers with a smoother driving experience over varied terrains.</a:t>
            </a:r>
            <a:endParaRPr sz="1400" dirty="0">
              <a:latin typeface="Trebuchet MS"/>
              <a:cs typeface="Trebuchet MS"/>
            </a:endParaRPr>
          </a:p>
        </p:txBody>
      </p:sp>
      <p:sp>
        <p:nvSpPr>
          <p:cNvPr id="17" name="object 17"/>
          <p:cNvSpPr txBox="1"/>
          <p:nvPr/>
        </p:nvSpPr>
        <p:spPr>
          <a:xfrm>
            <a:off x="7914500" y="3592703"/>
            <a:ext cx="98425" cy="239395"/>
          </a:xfrm>
          <a:prstGeom prst="rect">
            <a:avLst/>
          </a:prstGeom>
        </p:spPr>
        <p:txBody>
          <a:bodyPr vert="horz" wrap="square" lIns="0" tIns="12700" rIns="0" bIns="0" rtlCol="0">
            <a:spAutoFit/>
          </a:bodyPr>
          <a:lstStyle/>
          <a:p>
            <a:pPr marL="12700">
              <a:lnSpc>
                <a:spcPct val="100000"/>
              </a:lnSpc>
              <a:spcBef>
                <a:spcPts val="100"/>
              </a:spcBef>
            </a:pPr>
            <a:r>
              <a:rPr sz="1400" spc="-120" dirty="0">
                <a:solidFill>
                  <a:srgbClr val="FFFFFF"/>
                </a:solidFill>
                <a:latin typeface="Trebuchet MS"/>
                <a:cs typeface="Trebuchet MS"/>
              </a:rPr>
              <a:t>2</a:t>
            </a:r>
            <a:endParaRPr sz="1400">
              <a:latin typeface="Trebuchet MS"/>
              <a:cs typeface="Trebuchet MS"/>
            </a:endParaRPr>
          </a:p>
        </p:txBody>
      </p:sp>
      <p:grpSp>
        <p:nvGrpSpPr>
          <p:cNvPr id="18" name="object 18"/>
          <p:cNvGrpSpPr/>
          <p:nvPr/>
        </p:nvGrpSpPr>
        <p:grpSpPr>
          <a:xfrm>
            <a:off x="7754531" y="3676446"/>
            <a:ext cx="1149985" cy="2200910"/>
            <a:chOff x="7754531" y="3676446"/>
            <a:chExt cx="1149985" cy="2200910"/>
          </a:xfrm>
        </p:grpSpPr>
        <p:sp>
          <p:nvSpPr>
            <p:cNvPr id="19" name="object 19"/>
            <p:cNvSpPr/>
            <p:nvPr/>
          </p:nvSpPr>
          <p:spPr>
            <a:xfrm>
              <a:off x="8441283" y="3682796"/>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20" name="object 20"/>
            <p:cNvSpPr/>
            <p:nvPr/>
          </p:nvSpPr>
          <p:spPr>
            <a:xfrm>
              <a:off x="7760881" y="5467680"/>
              <a:ext cx="403225" cy="403225"/>
            </a:xfrm>
            <a:custGeom>
              <a:avLst/>
              <a:gdLst/>
              <a:ahLst/>
              <a:cxnLst/>
              <a:rect l="l" t="t" r="r" b="b"/>
              <a:pathLst>
                <a:path w="403225" h="403225">
                  <a:moveTo>
                    <a:pt x="201599" y="0"/>
                  </a:moveTo>
                  <a:lnTo>
                    <a:pt x="160921" y="4317"/>
                  </a:lnTo>
                  <a:lnTo>
                    <a:pt x="122034" y="16560"/>
                  </a:lnTo>
                  <a:lnTo>
                    <a:pt x="86398" y="36360"/>
                  </a:lnTo>
                  <a:lnTo>
                    <a:pt x="55435" y="63004"/>
                  </a:lnTo>
                  <a:lnTo>
                    <a:pt x="30594" y="95034"/>
                  </a:lnTo>
                  <a:lnTo>
                    <a:pt x="9359" y="141477"/>
                  </a:lnTo>
                  <a:lnTo>
                    <a:pt x="1511" y="180365"/>
                  </a:lnTo>
                  <a:lnTo>
                    <a:pt x="1435" y="181076"/>
                  </a:lnTo>
                  <a:lnTo>
                    <a:pt x="772" y="190804"/>
                  </a:lnTo>
                  <a:lnTo>
                    <a:pt x="723" y="191515"/>
                  </a:lnTo>
                  <a:lnTo>
                    <a:pt x="368" y="201244"/>
                  </a:lnTo>
                  <a:lnTo>
                    <a:pt x="355" y="201599"/>
                  </a:lnTo>
                  <a:lnTo>
                    <a:pt x="0" y="201599"/>
                  </a:lnTo>
                  <a:lnTo>
                    <a:pt x="343" y="211683"/>
                  </a:lnTo>
                  <a:lnTo>
                    <a:pt x="6746" y="253441"/>
                  </a:lnTo>
                  <a:lnTo>
                    <a:pt x="21958" y="293039"/>
                  </a:lnTo>
                  <a:lnTo>
                    <a:pt x="44996" y="328320"/>
                  </a:lnTo>
                  <a:lnTo>
                    <a:pt x="74879" y="357835"/>
                  </a:lnTo>
                  <a:lnTo>
                    <a:pt x="110159" y="380885"/>
                  </a:lnTo>
                  <a:lnTo>
                    <a:pt x="149402" y="395998"/>
                  </a:lnTo>
                  <a:lnTo>
                    <a:pt x="191160" y="402475"/>
                  </a:lnTo>
                  <a:lnTo>
                    <a:pt x="201599" y="402843"/>
                  </a:lnTo>
                  <a:lnTo>
                    <a:pt x="212039" y="402475"/>
                  </a:lnTo>
                  <a:lnTo>
                    <a:pt x="253796" y="395998"/>
                  </a:lnTo>
                  <a:lnTo>
                    <a:pt x="293039" y="380885"/>
                  </a:lnTo>
                  <a:lnTo>
                    <a:pt x="328320" y="357835"/>
                  </a:lnTo>
                  <a:lnTo>
                    <a:pt x="357835" y="327964"/>
                  </a:lnTo>
                  <a:lnTo>
                    <a:pt x="380873" y="292684"/>
                  </a:lnTo>
                  <a:lnTo>
                    <a:pt x="395897" y="253796"/>
                  </a:lnTo>
                  <a:lnTo>
                    <a:pt x="395998" y="253441"/>
                  </a:lnTo>
                  <a:lnTo>
                    <a:pt x="398427" y="243357"/>
                  </a:lnTo>
                  <a:lnTo>
                    <a:pt x="398513" y="243001"/>
                  </a:lnTo>
                  <a:lnTo>
                    <a:pt x="400316" y="232917"/>
                  </a:lnTo>
                  <a:lnTo>
                    <a:pt x="401716" y="222478"/>
                  </a:lnTo>
                  <a:lnTo>
                    <a:pt x="401764" y="222122"/>
                  </a:lnTo>
                  <a:lnTo>
                    <a:pt x="402451" y="212039"/>
                  </a:lnTo>
                  <a:lnTo>
                    <a:pt x="402831" y="201599"/>
                  </a:lnTo>
                  <a:lnTo>
                    <a:pt x="402844" y="201244"/>
                  </a:lnTo>
                  <a:lnTo>
                    <a:pt x="402500" y="191515"/>
                  </a:lnTo>
                  <a:lnTo>
                    <a:pt x="395998" y="149034"/>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a:p>
          </p:txBody>
        </p:sp>
        <p:sp>
          <p:nvSpPr>
            <p:cNvPr id="21" name="object 21"/>
            <p:cNvSpPr/>
            <p:nvPr/>
          </p:nvSpPr>
          <p:spPr>
            <a:xfrm>
              <a:off x="7760881" y="5467680"/>
              <a:ext cx="403225" cy="403225"/>
            </a:xfrm>
            <a:custGeom>
              <a:avLst/>
              <a:gdLst/>
              <a:ahLst/>
              <a:cxnLst/>
              <a:rect l="l" t="t" r="r" b="b"/>
              <a:pathLst>
                <a:path w="403225" h="403225">
                  <a:moveTo>
                    <a:pt x="355" y="201599"/>
                  </a:moveTo>
                  <a:lnTo>
                    <a:pt x="723" y="191515"/>
                  </a:lnTo>
                  <a:lnTo>
                    <a:pt x="1435" y="181076"/>
                  </a:lnTo>
                  <a:lnTo>
                    <a:pt x="9359" y="141477"/>
                  </a:lnTo>
                  <a:lnTo>
                    <a:pt x="25565" y="104038"/>
                  </a:lnTo>
                  <a:lnTo>
                    <a:pt x="42481" y="78485"/>
                  </a:lnTo>
                  <a:lnTo>
                    <a:pt x="48602" y="70561"/>
                  </a:lnTo>
                  <a:lnTo>
                    <a:pt x="78117" y="42481"/>
                  </a:lnTo>
                  <a:lnTo>
                    <a:pt x="112674" y="20878"/>
                  </a:lnTo>
                  <a:lnTo>
                    <a:pt x="151193" y="6476"/>
                  </a:lnTo>
                  <a:lnTo>
                    <a:pt x="191516" y="355"/>
                  </a:lnTo>
                  <a:lnTo>
                    <a:pt x="201599" y="0"/>
                  </a:lnTo>
                  <a:lnTo>
                    <a:pt x="243357" y="4317"/>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3"/>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22" name="object 22"/>
          <p:cNvSpPr txBox="1"/>
          <p:nvPr/>
        </p:nvSpPr>
        <p:spPr>
          <a:xfrm>
            <a:off x="9175660" y="2953686"/>
            <a:ext cx="2724150" cy="1849865"/>
          </a:xfrm>
          <a:prstGeom prst="rect">
            <a:avLst/>
          </a:prstGeom>
        </p:spPr>
        <p:txBody>
          <a:bodyPr vert="horz" wrap="square" lIns="0" tIns="163195" rIns="0" bIns="0" rtlCol="0">
            <a:spAutoFit/>
          </a:bodyPr>
          <a:lstStyle/>
          <a:p>
            <a:pPr marL="12700">
              <a:lnSpc>
                <a:spcPct val="100000"/>
              </a:lnSpc>
              <a:spcBef>
                <a:spcPts val="1285"/>
              </a:spcBef>
            </a:pPr>
            <a:r>
              <a:rPr sz="1800" dirty="0">
                <a:solidFill>
                  <a:srgbClr val="FFFFFF"/>
                </a:solidFill>
                <a:latin typeface="Trebuchet MS"/>
                <a:cs typeface="Trebuchet MS"/>
              </a:rPr>
              <a:t>Improved Handling</a:t>
            </a:r>
            <a:endParaRPr sz="1800" dirty="0">
              <a:latin typeface="Trebuchet MS"/>
              <a:cs typeface="Trebuchet MS"/>
            </a:endParaRPr>
          </a:p>
          <a:p>
            <a:pPr marL="12700" marR="5080">
              <a:lnSpc>
                <a:spcPct val="100000"/>
              </a:lnSpc>
              <a:spcBef>
                <a:spcPts val="919"/>
              </a:spcBef>
            </a:pPr>
            <a:r>
              <a:rPr sz="1400" dirty="0">
                <a:solidFill>
                  <a:srgbClr val="FFFFFF"/>
                </a:solidFill>
                <a:latin typeface="Trebuchet MS"/>
                <a:cs typeface="Trebuchet MS"/>
              </a:rPr>
              <a:t>These systems optimize vehicle dynamics by enabling precise control of wheel movements, significantly enhancing handling and stability during turns and under different load conditions.</a:t>
            </a:r>
            <a:endParaRPr sz="1400" dirty="0">
              <a:latin typeface="Trebuchet MS"/>
              <a:cs typeface="Trebuchet MS"/>
            </a:endParaRPr>
          </a:p>
        </p:txBody>
      </p:sp>
      <p:sp>
        <p:nvSpPr>
          <p:cNvPr id="23" name="object 23"/>
          <p:cNvSpPr txBox="1"/>
          <p:nvPr/>
        </p:nvSpPr>
        <p:spPr>
          <a:xfrm>
            <a:off x="7914500" y="5551106"/>
            <a:ext cx="98425" cy="239395"/>
          </a:xfrm>
          <a:prstGeom prst="rect">
            <a:avLst/>
          </a:prstGeom>
        </p:spPr>
        <p:txBody>
          <a:bodyPr vert="horz" wrap="square" lIns="0" tIns="12700" rIns="0" bIns="0" rtlCol="0">
            <a:spAutoFit/>
          </a:bodyPr>
          <a:lstStyle/>
          <a:p>
            <a:pPr marL="12700">
              <a:lnSpc>
                <a:spcPct val="100000"/>
              </a:lnSpc>
              <a:spcBef>
                <a:spcPts val="100"/>
              </a:spcBef>
            </a:pPr>
            <a:r>
              <a:rPr sz="1400" spc="-120" dirty="0">
                <a:solidFill>
                  <a:srgbClr val="FFFFFF"/>
                </a:solidFill>
                <a:latin typeface="Trebuchet MS"/>
                <a:cs typeface="Trebuchet MS"/>
              </a:rPr>
              <a:t>3</a:t>
            </a:r>
            <a:endParaRPr sz="1400">
              <a:latin typeface="Trebuchet MS"/>
              <a:cs typeface="Trebuchet MS"/>
            </a:endParaRPr>
          </a:p>
        </p:txBody>
      </p:sp>
      <p:sp>
        <p:nvSpPr>
          <p:cNvPr id="24" name="object 24"/>
          <p:cNvSpPr/>
          <p:nvPr/>
        </p:nvSpPr>
        <p:spPr>
          <a:xfrm>
            <a:off x="8441283" y="5640476"/>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25" name="object 25"/>
          <p:cNvSpPr txBox="1"/>
          <p:nvPr/>
        </p:nvSpPr>
        <p:spPr>
          <a:xfrm>
            <a:off x="9154998" y="4803551"/>
            <a:ext cx="2704465" cy="1851148"/>
          </a:xfrm>
          <a:prstGeom prst="rect">
            <a:avLst/>
          </a:prstGeom>
        </p:spPr>
        <p:txBody>
          <a:bodyPr vert="horz" wrap="square" lIns="0" tIns="164465" rIns="0" bIns="0" rtlCol="0">
            <a:spAutoFit/>
          </a:bodyPr>
          <a:lstStyle/>
          <a:p>
            <a:pPr marL="12700">
              <a:lnSpc>
                <a:spcPct val="100000"/>
              </a:lnSpc>
              <a:spcBef>
                <a:spcPts val="1295"/>
              </a:spcBef>
            </a:pPr>
            <a:r>
              <a:rPr sz="1800" spc="-245" dirty="0">
                <a:solidFill>
                  <a:srgbClr val="FFFFFF"/>
                </a:solidFill>
                <a:latin typeface="Trebuchet MS"/>
                <a:cs typeface="Trebuchet MS"/>
              </a:rPr>
              <a:t>S</a:t>
            </a:r>
            <a:r>
              <a:rPr sz="1800" dirty="0">
                <a:solidFill>
                  <a:srgbClr val="FFFFFF"/>
                </a:solidFill>
                <a:latin typeface="Trebuchet MS"/>
                <a:cs typeface="Trebuchet MS"/>
              </a:rPr>
              <a:t>afety Features</a:t>
            </a:r>
            <a:endParaRPr sz="1800" dirty="0">
              <a:latin typeface="Trebuchet MS"/>
              <a:cs typeface="Trebuchet MS"/>
            </a:endParaRPr>
          </a:p>
          <a:p>
            <a:pPr marL="12700" marR="5080">
              <a:lnSpc>
                <a:spcPct val="99800"/>
              </a:lnSpc>
              <a:spcBef>
                <a:spcPts val="930"/>
              </a:spcBef>
            </a:pPr>
            <a:r>
              <a:rPr sz="1400" dirty="0">
                <a:solidFill>
                  <a:srgbClr val="FFFFFF"/>
                </a:solidFill>
                <a:latin typeface="Trebuchet MS"/>
                <a:cs typeface="Trebuchet MS"/>
              </a:rPr>
              <a:t>Active suspensions contribute to increased safety by maintaining tire contact with the road, minimizing the risk of skidding, and improving braking efficiency in adverse weather conditions.</a:t>
            </a:r>
            <a:endParaRPr sz="1400" dirty="0">
              <a:latin typeface="Trebuchet MS"/>
              <a:cs typeface="Trebuchet MS"/>
            </a:endParaRPr>
          </a:p>
        </p:txBody>
      </p:sp>
      <p:pic>
        <p:nvPicPr>
          <p:cNvPr id="27" name="Picture 26" descr="A diagram of a car chassis&#10;&#10;AI-generated content may be incorrect.">
            <a:extLst>
              <a:ext uri="{FF2B5EF4-FFF2-40B4-BE49-F238E27FC236}">
                <a16:creationId xmlns:a16="http://schemas.microsoft.com/office/drawing/2014/main" id="{590DAE77-D1D8-1398-898B-5640FFA35D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3056" y="825296"/>
            <a:ext cx="4981803" cy="5714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Starting Point</a:t>
            </a:r>
          </a:p>
        </p:txBody>
      </p:sp>
      <p:grpSp>
        <p:nvGrpSpPr>
          <p:cNvPr id="3" name="object 3"/>
          <p:cNvGrpSpPr/>
          <p:nvPr/>
        </p:nvGrpSpPr>
        <p:grpSpPr>
          <a:xfrm>
            <a:off x="349199" y="856437"/>
            <a:ext cx="11843385" cy="5652770"/>
            <a:chOff x="349199" y="856437"/>
            <a:chExt cx="11843385" cy="5652770"/>
          </a:xfrm>
        </p:grpSpPr>
        <p:sp>
          <p:nvSpPr>
            <p:cNvPr id="4" name="object 4"/>
            <p:cNvSpPr/>
            <p:nvPr/>
          </p:nvSpPr>
          <p:spPr>
            <a:xfrm>
              <a:off x="349199" y="856436"/>
              <a:ext cx="11843385" cy="5652770"/>
            </a:xfrm>
            <a:custGeom>
              <a:avLst/>
              <a:gdLst/>
              <a:ahLst/>
              <a:cxnLst/>
              <a:rect l="l" t="t" r="r" b="b"/>
              <a:pathLst>
                <a:path w="11843385" h="5652770">
                  <a:moveTo>
                    <a:pt x="11842915" y="0"/>
                  </a:moveTo>
                  <a:lnTo>
                    <a:pt x="11062437" y="0"/>
                  </a:lnTo>
                  <a:lnTo>
                    <a:pt x="11062437" y="1055522"/>
                  </a:lnTo>
                  <a:lnTo>
                    <a:pt x="0" y="1055522"/>
                  </a:lnTo>
                  <a:lnTo>
                    <a:pt x="0" y="5652719"/>
                  </a:lnTo>
                  <a:lnTo>
                    <a:pt x="5639397" y="5652719"/>
                  </a:lnTo>
                  <a:lnTo>
                    <a:pt x="11278807" y="5652719"/>
                  </a:lnTo>
                  <a:lnTo>
                    <a:pt x="11278807" y="1770837"/>
                  </a:lnTo>
                  <a:lnTo>
                    <a:pt x="11452682" y="1770837"/>
                  </a:lnTo>
                  <a:lnTo>
                    <a:pt x="11842915" y="1770837"/>
                  </a:lnTo>
                  <a:lnTo>
                    <a:pt x="11842915" y="0"/>
                  </a:lnTo>
                  <a:close/>
                </a:path>
              </a:pathLst>
            </a:custGeom>
            <a:solidFill>
              <a:srgbClr val="453E31">
                <a:alpha val="92999"/>
              </a:srgbClr>
            </a:solidFill>
          </p:spPr>
          <p:txBody>
            <a:bodyPr wrap="square" lIns="0" tIns="0" rIns="0" bIns="0" rtlCol="0"/>
            <a:lstStyle/>
            <a:p>
              <a:endParaRPr/>
            </a:p>
          </p:txBody>
        </p:sp>
        <p:sp>
          <p:nvSpPr>
            <p:cNvPr id="5" name="object 5"/>
            <p:cNvSpPr/>
            <p:nvPr/>
          </p:nvSpPr>
          <p:spPr>
            <a:xfrm>
              <a:off x="10472394" y="1055154"/>
              <a:ext cx="1231265" cy="0"/>
            </a:xfrm>
            <a:custGeom>
              <a:avLst/>
              <a:gdLst/>
              <a:ahLst/>
              <a:cxnLst/>
              <a:rect l="l" t="t" r="r" b="b"/>
              <a:pathLst>
                <a:path w="1231265">
                  <a:moveTo>
                    <a:pt x="0" y="0"/>
                  </a:moveTo>
                  <a:lnTo>
                    <a:pt x="1230845" y="0"/>
                  </a:lnTo>
                </a:path>
              </a:pathLst>
            </a:custGeom>
            <a:ln w="12599">
              <a:solidFill>
                <a:srgbClr val="FFFFFF"/>
              </a:solidFill>
            </a:ln>
          </p:spPr>
          <p:txBody>
            <a:bodyPr wrap="square" lIns="0" tIns="0" rIns="0" bIns="0" rtlCol="0"/>
            <a:lstStyle/>
            <a:p>
              <a:endParaRPr/>
            </a:p>
          </p:txBody>
        </p:sp>
        <p:pic>
          <p:nvPicPr>
            <p:cNvPr id="6" name="object 6"/>
            <p:cNvPicPr/>
            <p:nvPr/>
          </p:nvPicPr>
          <p:blipFill>
            <a:blip r:embed="rId2" cstate="print"/>
            <a:stretch>
              <a:fillRect/>
            </a:stretch>
          </p:blipFill>
          <p:spPr>
            <a:xfrm>
              <a:off x="8589962" y="1345679"/>
              <a:ext cx="3254044" cy="3977284"/>
            </a:xfrm>
            <a:prstGeom prst="rect">
              <a:avLst/>
            </a:prstGeom>
          </p:spPr>
        </p:pic>
        <p:sp>
          <p:nvSpPr>
            <p:cNvPr id="7" name="object 7"/>
            <p:cNvSpPr/>
            <p:nvPr/>
          </p:nvSpPr>
          <p:spPr>
            <a:xfrm>
              <a:off x="1287716" y="1979282"/>
              <a:ext cx="403225" cy="403225"/>
            </a:xfrm>
            <a:custGeom>
              <a:avLst/>
              <a:gdLst/>
              <a:ahLst/>
              <a:cxnLst/>
              <a:rect l="l" t="t" r="r" b="b"/>
              <a:pathLst>
                <a:path w="403225" h="403225">
                  <a:moveTo>
                    <a:pt x="201599" y="0"/>
                  </a:moveTo>
                  <a:lnTo>
                    <a:pt x="160921" y="4318"/>
                  </a:lnTo>
                  <a:lnTo>
                    <a:pt x="122047" y="16560"/>
                  </a:lnTo>
                  <a:lnTo>
                    <a:pt x="86398" y="36360"/>
                  </a:lnTo>
                  <a:lnTo>
                    <a:pt x="55448" y="62992"/>
                  </a:lnTo>
                  <a:lnTo>
                    <a:pt x="30607" y="95034"/>
                  </a:lnTo>
                  <a:lnTo>
                    <a:pt x="9359" y="141477"/>
                  </a:lnTo>
                  <a:lnTo>
                    <a:pt x="1525" y="180352"/>
                  </a:lnTo>
                  <a:lnTo>
                    <a:pt x="1447" y="181076"/>
                  </a:lnTo>
                  <a:lnTo>
                    <a:pt x="774" y="190792"/>
                  </a:lnTo>
                  <a:lnTo>
                    <a:pt x="723" y="191515"/>
                  </a:lnTo>
                  <a:lnTo>
                    <a:pt x="381" y="201231"/>
                  </a:lnTo>
                  <a:lnTo>
                    <a:pt x="368" y="201599"/>
                  </a:lnTo>
                  <a:lnTo>
                    <a:pt x="0" y="201599"/>
                  </a:lnTo>
                  <a:lnTo>
                    <a:pt x="355" y="211683"/>
                  </a:lnTo>
                  <a:lnTo>
                    <a:pt x="1055" y="222123"/>
                  </a:lnTo>
                  <a:lnTo>
                    <a:pt x="1079" y="222478"/>
                  </a:lnTo>
                  <a:lnTo>
                    <a:pt x="2527" y="232918"/>
                  </a:lnTo>
                  <a:lnTo>
                    <a:pt x="4257" y="243001"/>
                  </a:lnTo>
                  <a:lnTo>
                    <a:pt x="4318" y="243357"/>
                  </a:lnTo>
                  <a:lnTo>
                    <a:pt x="21958" y="293039"/>
                  </a:lnTo>
                  <a:lnTo>
                    <a:pt x="45008" y="328320"/>
                  </a:lnTo>
                  <a:lnTo>
                    <a:pt x="74879" y="357835"/>
                  </a:lnTo>
                  <a:lnTo>
                    <a:pt x="110159" y="380873"/>
                  </a:lnTo>
                  <a:lnTo>
                    <a:pt x="149402" y="395998"/>
                  </a:lnTo>
                  <a:lnTo>
                    <a:pt x="191160" y="402475"/>
                  </a:lnTo>
                  <a:lnTo>
                    <a:pt x="201599" y="402844"/>
                  </a:lnTo>
                  <a:lnTo>
                    <a:pt x="212039" y="402475"/>
                  </a:lnTo>
                  <a:lnTo>
                    <a:pt x="253809" y="395998"/>
                  </a:lnTo>
                  <a:lnTo>
                    <a:pt x="293039" y="380873"/>
                  </a:lnTo>
                  <a:lnTo>
                    <a:pt x="328320" y="357835"/>
                  </a:lnTo>
                  <a:lnTo>
                    <a:pt x="357847" y="327952"/>
                  </a:lnTo>
                  <a:lnTo>
                    <a:pt x="380885" y="292671"/>
                  </a:lnTo>
                  <a:lnTo>
                    <a:pt x="395897" y="253796"/>
                  </a:lnTo>
                  <a:lnTo>
                    <a:pt x="398439" y="243357"/>
                  </a:lnTo>
                  <a:lnTo>
                    <a:pt x="398526" y="243001"/>
                  </a:lnTo>
                  <a:lnTo>
                    <a:pt x="402831" y="201599"/>
                  </a:lnTo>
                  <a:lnTo>
                    <a:pt x="402844" y="201231"/>
                  </a:lnTo>
                  <a:lnTo>
                    <a:pt x="402513" y="191515"/>
                  </a:lnTo>
                  <a:lnTo>
                    <a:pt x="395998" y="149034"/>
                  </a:lnTo>
                  <a:lnTo>
                    <a:pt x="380885" y="109791"/>
                  </a:lnTo>
                  <a:lnTo>
                    <a:pt x="357847" y="74523"/>
                  </a:lnTo>
                  <a:lnTo>
                    <a:pt x="327964" y="44996"/>
                  </a:lnTo>
                  <a:lnTo>
                    <a:pt x="293039" y="21958"/>
                  </a:lnTo>
                  <a:lnTo>
                    <a:pt x="253809" y="6832"/>
                  </a:lnTo>
                  <a:lnTo>
                    <a:pt x="212039" y="355"/>
                  </a:lnTo>
                  <a:lnTo>
                    <a:pt x="201599" y="0"/>
                  </a:lnTo>
                  <a:close/>
                </a:path>
              </a:pathLst>
            </a:custGeom>
            <a:solidFill>
              <a:srgbClr val="453E31"/>
            </a:solidFill>
          </p:spPr>
          <p:txBody>
            <a:bodyPr wrap="square" lIns="0" tIns="0" rIns="0" bIns="0" rtlCol="0"/>
            <a:lstStyle/>
            <a:p>
              <a:endParaRPr/>
            </a:p>
          </p:txBody>
        </p:sp>
        <p:sp>
          <p:nvSpPr>
            <p:cNvPr id="8" name="object 8"/>
            <p:cNvSpPr/>
            <p:nvPr/>
          </p:nvSpPr>
          <p:spPr>
            <a:xfrm>
              <a:off x="1287716" y="1979282"/>
              <a:ext cx="403225" cy="403225"/>
            </a:xfrm>
            <a:custGeom>
              <a:avLst/>
              <a:gdLst/>
              <a:ahLst/>
              <a:cxnLst/>
              <a:rect l="l" t="t" r="r" b="b"/>
              <a:pathLst>
                <a:path w="403225" h="403225">
                  <a:moveTo>
                    <a:pt x="368" y="201599"/>
                  </a:moveTo>
                  <a:lnTo>
                    <a:pt x="723" y="191515"/>
                  </a:lnTo>
                  <a:lnTo>
                    <a:pt x="1447" y="181076"/>
                  </a:lnTo>
                  <a:lnTo>
                    <a:pt x="2527" y="170992"/>
                  </a:lnTo>
                  <a:lnTo>
                    <a:pt x="4318" y="160921"/>
                  </a:lnTo>
                  <a:lnTo>
                    <a:pt x="6845" y="151193"/>
                  </a:lnTo>
                  <a:lnTo>
                    <a:pt x="9359" y="141477"/>
                  </a:lnTo>
                  <a:lnTo>
                    <a:pt x="12966" y="131762"/>
                  </a:lnTo>
                  <a:lnTo>
                    <a:pt x="16560" y="122034"/>
                  </a:lnTo>
                  <a:lnTo>
                    <a:pt x="20878" y="113042"/>
                  </a:lnTo>
                  <a:lnTo>
                    <a:pt x="42481" y="78473"/>
                  </a:lnTo>
                  <a:lnTo>
                    <a:pt x="70205" y="48958"/>
                  </a:lnTo>
                  <a:lnTo>
                    <a:pt x="103682" y="25552"/>
                  </a:lnTo>
                  <a:lnTo>
                    <a:pt x="141122" y="9359"/>
                  </a:lnTo>
                  <a:lnTo>
                    <a:pt x="181089" y="1079"/>
                  </a:lnTo>
                  <a:lnTo>
                    <a:pt x="201599" y="0"/>
                  </a:lnTo>
                  <a:lnTo>
                    <a:pt x="243357" y="4318"/>
                  </a:lnTo>
                  <a:lnTo>
                    <a:pt x="283324" y="17272"/>
                  </a:lnTo>
                  <a:lnTo>
                    <a:pt x="319684" y="38519"/>
                  </a:lnTo>
                  <a:lnTo>
                    <a:pt x="351002" y="66598"/>
                  </a:lnTo>
                  <a:lnTo>
                    <a:pt x="375843" y="100431"/>
                  </a:lnTo>
                  <a:lnTo>
                    <a:pt x="385203" y="119519"/>
                  </a:lnTo>
                  <a:lnTo>
                    <a:pt x="389521" y="129235"/>
                  </a:lnTo>
                  <a:lnTo>
                    <a:pt x="400329" y="169913"/>
                  </a:lnTo>
                  <a:lnTo>
                    <a:pt x="402844" y="201231"/>
                  </a:lnTo>
                  <a:lnTo>
                    <a:pt x="398526" y="243001"/>
                  </a:lnTo>
                  <a:lnTo>
                    <a:pt x="385559" y="283311"/>
                  </a:lnTo>
                  <a:lnTo>
                    <a:pt x="364324" y="319671"/>
                  </a:lnTo>
                  <a:lnTo>
                    <a:pt x="336245" y="351002"/>
                  </a:lnTo>
                  <a:lnTo>
                    <a:pt x="302399" y="375843"/>
                  </a:lnTo>
                  <a:lnTo>
                    <a:pt x="263880" y="392760"/>
                  </a:lnTo>
                  <a:lnTo>
                    <a:pt x="222478" y="401751"/>
                  </a:lnTo>
                  <a:lnTo>
                    <a:pt x="201599" y="402844"/>
                  </a:lnTo>
                  <a:lnTo>
                    <a:pt x="159842" y="398513"/>
                  </a:lnTo>
                  <a:lnTo>
                    <a:pt x="119519" y="385559"/>
                  </a:lnTo>
                  <a:lnTo>
                    <a:pt x="83159" y="364312"/>
                  </a:lnTo>
                  <a:lnTo>
                    <a:pt x="51841" y="336232"/>
                  </a:lnTo>
                  <a:lnTo>
                    <a:pt x="27000" y="302399"/>
                  </a:lnTo>
                  <a:lnTo>
                    <a:pt x="17640" y="283311"/>
                  </a:lnTo>
                  <a:lnTo>
                    <a:pt x="13322" y="273596"/>
                  </a:lnTo>
                  <a:lnTo>
                    <a:pt x="2527" y="232918"/>
                  </a:lnTo>
                  <a:lnTo>
                    <a:pt x="0" y="201599"/>
                  </a:lnTo>
                  <a:lnTo>
                    <a:pt x="368" y="201599"/>
                  </a:lnTo>
                  <a:close/>
                </a:path>
              </a:pathLst>
            </a:custGeom>
            <a:ln w="12599">
              <a:solidFill>
                <a:srgbClr val="FFFFFF"/>
              </a:solidFill>
            </a:ln>
          </p:spPr>
          <p:txBody>
            <a:bodyPr wrap="square" lIns="0" tIns="0" rIns="0" bIns="0" rtlCol="0"/>
            <a:lstStyle/>
            <a:p>
              <a:endParaRPr/>
            </a:p>
          </p:txBody>
        </p:sp>
        <p:pic>
          <p:nvPicPr>
            <p:cNvPr id="9" name="object 9"/>
            <p:cNvPicPr/>
            <p:nvPr/>
          </p:nvPicPr>
          <p:blipFill>
            <a:blip r:embed="rId3" cstate="print"/>
            <a:stretch>
              <a:fillRect/>
            </a:stretch>
          </p:blipFill>
          <p:spPr>
            <a:xfrm>
              <a:off x="1356842" y="2077199"/>
              <a:ext cx="269278" cy="200875"/>
            </a:xfrm>
            <a:prstGeom prst="rect">
              <a:avLst/>
            </a:prstGeom>
          </p:spPr>
        </p:pic>
      </p:grpSp>
      <p:sp>
        <p:nvSpPr>
          <p:cNvPr id="10" name="object 10"/>
          <p:cNvSpPr txBox="1"/>
          <p:nvPr/>
        </p:nvSpPr>
        <p:spPr>
          <a:xfrm>
            <a:off x="687146" y="2542590"/>
            <a:ext cx="1607185" cy="1274067"/>
          </a:xfrm>
          <a:prstGeom prst="rect">
            <a:avLst/>
          </a:prstGeom>
        </p:spPr>
        <p:txBody>
          <a:bodyPr vert="horz" wrap="square" lIns="0" tIns="12065" rIns="0" bIns="0" rtlCol="0">
            <a:spAutoFit/>
          </a:bodyPr>
          <a:lstStyle/>
          <a:p>
            <a:pPr marL="635" algn="ctr">
              <a:lnSpc>
                <a:spcPct val="100000"/>
              </a:lnSpc>
              <a:spcBef>
                <a:spcPts val="95"/>
              </a:spcBef>
            </a:pPr>
            <a:r>
              <a:rPr sz="1600" dirty="0">
                <a:solidFill>
                  <a:srgbClr val="FFFFFF"/>
                </a:solidFill>
                <a:latin typeface="Trebuchet MS"/>
                <a:cs typeface="Trebuchet MS"/>
              </a:rPr>
              <a:t>Research</a:t>
            </a:r>
            <a:endParaRPr sz="1600" dirty="0">
              <a:latin typeface="Trebuchet MS"/>
              <a:cs typeface="Trebuchet MS"/>
            </a:endParaRPr>
          </a:p>
          <a:p>
            <a:pPr marL="12065" marR="5080" indent="-635" algn="ctr">
              <a:lnSpc>
                <a:spcPct val="100000"/>
              </a:lnSpc>
              <a:spcBef>
                <a:spcPts val="1245"/>
              </a:spcBef>
            </a:pPr>
            <a:r>
              <a:rPr sz="1400" dirty="0">
                <a:solidFill>
                  <a:srgbClr val="FFFFFF"/>
                </a:solidFill>
                <a:latin typeface="Trebuchet MS"/>
                <a:cs typeface="Trebuchet MS"/>
              </a:rPr>
              <a:t>Study various active suspension system types for development.</a:t>
            </a:r>
            <a:endParaRPr sz="1400" dirty="0">
              <a:latin typeface="Trebuchet MS"/>
              <a:cs typeface="Trebuchet MS"/>
            </a:endParaRPr>
          </a:p>
        </p:txBody>
      </p:sp>
      <p:grpSp>
        <p:nvGrpSpPr>
          <p:cNvPr id="11" name="object 11"/>
          <p:cNvGrpSpPr/>
          <p:nvPr/>
        </p:nvGrpSpPr>
        <p:grpSpPr>
          <a:xfrm>
            <a:off x="1281416" y="1972982"/>
            <a:ext cx="6499860" cy="2749550"/>
            <a:chOff x="1281416" y="1972982"/>
            <a:chExt cx="6499860" cy="2749550"/>
          </a:xfrm>
        </p:grpSpPr>
        <p:sp>
          <p:nvSpPr>
            <p:cNvPr id="12" name="object 12"/>
            <p:cNvSpPr/>
            <p:nvPr/>
          </p:nvSpPr>
          <p:spPr>
            <a:xfrm>
              <a:off x="4329722" y="1979282"/>
              <a:ext cx="403225" cy="403225"/>
            </a:xfrm>
            <a:custGeom>
              <a:avLst/>
              <a:gdLst/>
              <a:ahLst/>
              <a:cxnLst/>
              <a:rect l="l" t="t" r="r" b="b"/>
              <a:pathLst>
                <a:path w="403225" h="403225">
                  <a:moveTo>
                    <a:pt x="201599" y="0"/>
                  </a:moveTo>
                  <a:lnTo>
                    <a:pt x="160921" y="4318"/>
                  </a:lnTo>
                  <a:lnTo>
                    <a:pt x="122034" y="16560"/>
                  </a:lnTo>
                  <a:lnTo>
                    <a:pt x="86398" y="36360"/>
                  </a:lnTo>
                  <a:lnTo>
                    <a:pt x="55435" y="62992"/>
                  </a:lnTo>
                  <a:lnTo>
                    <a:pt x="30594" y="95034"/>
                  </a:lnTo>
                  <a:lnTo>
                    <a:pt x="9359" y="141477"/>
                  </a:lnTo>
                  <a:lnTo>
                    <a:pt x="1512" y="180352"/>
                  </a:lnTo>
                  <a:lnTo>
                    <a:pt x="1435" y="181076"/>
                  </a:lnTo>
                  <a:lnTo>
                    <a:pt x="773" y="190792"/>
                  </a:lnTo>
                  <a:lnTo>
                    <a:pt x="723" y="191515"/>
                  </a:lnTo>
                  <a:lnTo>
                    <a:pt x="369" y="201231"/>
                  </a:lnTo>
                  <a:lnTo>
                    <a:pt x="355" y="201599"/>
                  </a:lnTo>
                  <a:lnTo>
                    <a:pt x="0" y="201599"/>
                  </a:lnTo>
                  <a:lnTo>
                    <a:pt x="343" y="211683"/>
                  </a:lnTo>
                  <a:lnTo>
                    <a:pt x="1054" y="222123"/>
                  </a:lnTo>
                  <a:lnTo>
                    <a:pt x="1079" y="222478"/>
                  </a:lnTo>
                  <a:lnTo>
                    <a:pt x="2514" y="232918"/>
                  </a:lnTo>
                  <a:lnTo>
                    <a:pt x="4256" y="243001"/>
                  </a:lnTo>
                  <a:lnTo>
                    <a:pt x="4317" y="243357"/>
                  </a:lnTo>
                  <a:lnTo>
                    <a:pt x="6746" y="253441"/>
                  </a:lnTo>
                  <a:lnTo>
                    <a:pt x="6832" y="253796"/>
                  </a:lnTo>
                  <a:lnTo>
                    <a:pt x="9965" y="263512"/>
                  </a:lnTo>
                  <a:lnTo>
                    <a:pt x="27000" y="302399"/>
                  </a:lnTo>
                  <a:lnTo>
                    <a:pt x="51841" y="336232"/>
                  </a:lnTo>
                  <a:lnTo>
                    <a:pt x="83159" y="364312"/>
                  </a:lnTo>
                  <a:lnTo>
                    <a:pt x="119519" y="385559"/>
                  </a:lnTo>
                  <a:lnTo>
                    <a:pt x="159842" y="398513"/>
                  </a:lnTo>
                  <a:lnTo>
                    <a:pt x="201599" y="402844"/>
                  </a:lnTo>
                  <a:lnTo>
                    <a:pt x="212039" y="402475"/>
                  </a:lnTo>
                  <a:lnTo>
                    <a:pt x="253796" y="395998"/>
                  </a:lnTo>
                  <a:lnTo>
                    <a:pt x="293039" y="380873"/>
                  </a:lnTo>
                  <a:lnTo>
                    <a:pt x="328320" y="357835"/>
                  </a:lnTo>
                  <a:lnTo>
                    <a:pt x="357835" y="327952"/>
                  </a:lnTo>
                  <a:lnTo>
                    <a:pt x="380873" y="292671"/>
                  </a:lnTo>
                  <a:lnTo>
                    <a:pt x="395896" y="253796"/>
                  </a:lnTo>
                  <a:lnTo>
                    <a:pt x="402451" y="212039"/>
                  </a:lnTo>
                  <a:lnTo>
                    <a:pt x="402843" y="201231"/>
                  </a:lnTo>
                  <a:lnTo>
                    <a:pt x="402501" y="191515"/>
                  </a:lnTo>
                  <a:lnTo>
                    <a:pt x="402475" y="190792"/>
                  </a:lnTo>
                  <a:lnTo>
                    <a:pt x="401801" y="181076"/>
                  </a:lnTo>
                  <a:lnTo>
                    <a:pt x="401751" y="180352"/>
                  </a:lnTo>
                  <a:lnTo>
                    <a:pt x="400316" y="169913"/>
                  </a:lnTo>
                  <a:lnTo>
                    <a:pt x="389521" y="129235"/>
                  </a:lnTo>
                  <a:lnTo>
                    <a:pt x="370077" y="91439"/>
                  </a:lnTo>
                  <a:lnTo>
                    <a:pt x="343801" y="59042"/>
                  </a:lnTo>
                  <a:lnTo>
                    <a:pt x="311035" y="32397"/>
                  </a:lnTo>
                  <a:lnTo>
                    <a:pt x="273596" y="13322"/>
                  </a:lnTo>
                  <a:lnTo>
                    <a:pt x="232917" y="2514"/>
                  </a:lnTo>
                  <a:lnTo>
                    <a:pt x="212039" y="355"/>
                  </a:lnTo>
                  <a:lnTo>
                    <a:pt x="201599" y="0"/>
                  </a:lnTo>
                  <a:close/>
                </a:path>
              </a:pathLst>
            </a:custGeom>
            <a:solidFill>
              <a:srgbClr val="453E31"/>
            </a:solidFill>
          </p:spPr>
          <p:txBody>
            <a:bodyPr wrap="square" lIns="0" tIns="0" rIns="0" bIns="0" rtlCol="0"/>
            <a:lstStyle/>
            <a:p>
              <a:endParaRPr/>
            </a:p>
          </p:txBody>
        </p:sp>
        <p:sp>
          <p:nvSpPr>
            <p:cNvPr id="13" name="object 13"/>
            <p:cNvSpPr/>
            <p:nvPr/>
          </p:nvSpPr>
          <p:spPr>
            <a:xfrm>
              <a:off x="4329722" y="1979282"/>
              <a:ext cx="403225" cy="403225"/>
            </a:xfrm>
            <a:custGeom>
              <a:avLst/>
              <a:gdLst/>
              <a:ahLst/>
              <a:cxnLst/>
              <a:rect l="l" t="t" r="r" b="b"/>
              <a:pathLst>
                <a:path w="403225" h="403225">
                  <a:moveTo>
                    <a:pt x="355" y="201599"/>
                  </a:moveTo>
                  <a:lnTo>
                    <a:pt x="723" y="191515"/>
                  </a:lnTo>
                  <a:lnTo>
                    <a:pt x="1435" y="181076"/>
                  </a:lnTo>
                  <a:lnTo>
                    <a:pt x="9359" y="141477"/>
                  </a:lnTo>
                  <a:lnTo>
                    <a:pt x="25552" y="104038"/>
                  </a:lnTo>
                  <a:lnTo>
                    <a:pt x="48602" y="70561"/>
                  </a:lnTo>
                  <a:lnTo>
                    <a:pt x="78117" y="42481"/>
                  </a:lnTo>
                  <a:lnTo>
                    <a:pt x="112674" y="20878"/>
                  </a:lnTo>
                  <a:lnTo>
                    <a:pt x="151193" y="6476"/>
                  </a:lnTo>
                  <a:lnTo>
                    <a:pt x="191515" y="355"/>
                  </a:lnTo>
                  <a:lnTo>
                    <a:pt x="201599" y="0"/>
                  </a:lnTo>
                  <a:lnTo>
                    <a:pt x="243357" y="4318"/>
                  </a:lnTo>
                  <a:lnTo>
                    <a:pt x="283311" y="17272"/>
                  </a:lnTo>
                  <a:lnTo>
                    <a:pt x="319671" y="38519"/>
                  </a:lnTo>
                  <a:lnTo>
                    <a:pt x="351002" y="66598"/>
                  </a:lnTo>
                  <a:lnTo>
                    <a:pt x="375843" y="100431"/>
                  </a:lnTo>
                  <a:lnTo>
                    <a:pt x="392760" y="138963"/>
                  </a:lnTo>
                  <a:lnTo>
                    <a:pt x="401751" y="180352"/>
                  </a:lnTo>
                  <a:lnTo>
                    <a:pt x="402843" y="201231"/>
                  </a:lnTo>
                  <a:lnTo>
                    <a:pt x="398513" y="243001"/>
                  </a:lnTo>
                  <a:lnTo>
                    <a:pt x="385559" y="283311"/>
                  </a:lnTo>
                  <a:lnTo>
                    <a:pt x="364312" y="319671"/>
                  </a:lnTo>
                  <a:lnTo>
                    <a:pt x="336232" y="351002"/>
                  </a:lnTo>
                  <a:lnTo>
                    <a:pt x="302399" y="375843"/>
                  </a:lnTo>
                  <a:lnTo>
                    <a:pt x="263880" y="392760"/>
                  </a:lnTo>
                  <a:lnTo>
                    <a:pt x="222478" y="401751"/>
                  </a:lnTo>
                  <a:lnTo>
                    <a:pt x="201599" y="402844"/>
                  </a:lnTo>
                  <a:lnTo>
                    <a:pt x="159842" y="398513"/>
                  </a:lnTo>
                  <a:lnTo>
                    <a:pt x="119519" y="385559"/>
                  </a:lnTo>
                  <a:lnTo>
                    <a:pt x="83159" y="364312"/>
                  </a:lnTo>
                  <a:lnTo>
                    <a:pt x="51841" y="336232"/>
                  </a:lnTo>
                  <a:lnTo>
                    <a:pt x="27000" y="302399"/>
                  </a:lnTo>
                  <a:lnTo>
                    <a:pt x="17640" y="283311"/>
                  </a:lnTo>
                  <a:lnTo>
                    <a:pt x="13322" y="273596"/>
                  </a:lnTo>
                  <a:lnTo>
                    <a:pt x="2514" y="232918"/>
                  </a:lnTo>
                  <a:lnTo>
                    <a:pt x="0" y="201599"/>
                  </a:lnTo>
                  <a:lnTo>
                    <a:pt x="355" y="201599"/>
                  </a:lnTo>
                  <a:close/>
                </a:path>
              </a:pathLst>
            </a:custGeom>
            <a:ln w="12599">
              <a:solidFill>
                <a:srgbClr val="FFFFFF"/>
              </a:solidFill>
            </a:ln>
          </p:spPr>
          <p:txBody>
            <a:bodyPr wrap="square" lIns="0" tIns="0" rIns="0" bIns="0" rtlCol="0"/>
            <a:lstStyle/>
            <a:p>
              <a:endParaRPr/>
            </a:p>
          </p:txBody>
        </p:sp>
        <p:pic>
          <p:nvPicPr>
            <p:cNvPr id="14" name="object 14"/>
            <p:cNvPicPr/>
            <p:nvPr/>
          </p:nvPicPr>
          <p:blipFill>
            <a:blip r:embed="rId3" cstate="print"/>
            <a:stretch>
              <a:fillRect/>
            </a:stretch>
          </p:blipFill>
          <p:spPr>
            <a:xfrm>
              <a:off x="4399203" y="2077199"/>
              <a:ext cx="269278" cy="200875"/>
            </a:xfrm>
            <a:prstGeom prst="rect">
              <a:avLst/>
            </a:prstGeom>
          </p:spPr>
        </p:pic>
        <p:sp>
          <p:nvSpPr>
            <p:cNvPr id="15" name="object 15"/>
            <p:cNvSpPr/>
            <p:nvPr/>
          </p:nvSpPr>
          <p:spPr>
            <a:xfrm>
              <a:off x="7372083" y="1979282"/>
              <a:ext cx="403225" cy="403225"/>
            </a:xfrm>
            <a:custGeom>
              <a:avLst/>
              <a:gdLst/>
              <a:ahLst/>
              <a:cxnLst/>
              <a:rect l="l" t="t" r="r" b="b"/>
              <a:pathLst>
                <a:path w="403225" h="403225">
                  <a:moveTo>
                    <a:pt x="201599" y="0"/>
                  </a:moveTo>
                  <a:lnTo>
                    <a:pt x="160921" y="4318"/>
                  </a:lnTo>
                  <a:lnTo>
                    <a:pt x="122034" y="16560"/>
                  </a:lnTo>
                  <a:lnTo>
                    <a:pt x="86398" y="36360"/>
                  </a:lnTo>
                  <a:lnTo>
                    <a:pt x="55435" y="62992"/>
                  </a:lnTo>
                  <a:lnTo>
                    <a:pt x="30594" y="95034"/>
                  </a:lnTo>
                  <a:lnTo>
                    <a:pt x="9359" y="141477"/>
                  </a:lnTo>
                  <a:lnTo>
                    <a:pt x="1512" y="180352"/>
                  </a:lnTo>
                  <a:lnTo>
                    <a:pt x="1435" y="181076"/>
                  </a:lnTo>
                  <a:lnTo>
                    <a:pt x="761" y="190792"/>
                  </a:lnTo>
                  <a:lnTo>
                    <a:pt x="711" y="191515"/>
                  </a:lnTo>
                  <a:lnTo>
                    <a:pt x="368" y="201231"/>
                  </a:lnTo>
                  <a:lnTo>
                    <a:pt x="355" y="201599"/>
                  </a:lnTo>
                  <a:lnTo>
                    <a:pt x="0" y="201599"/>
                  </a:lnTo>
                  <a:lnTo>
                    <a:pt x="343" y="211683"/>
                  </a:lnTo>
                  <a:lnTo>
                    <a:pt x="6746" y="253441"/>
                  </a:lnTo>
                  <a:lnTo>
                    <a:pt x="6832" y="253796"/>
                  </a:lnTo>
                  <a:lnTo>
                    <a:pt x="21958" y="293039"/>
                  </a:lnTo>
                  <a:lnTo>
                    <a:pt x="44996" y="328320"/>
                  </a:lnTo>
                  <a:lnTo>
                    <a:pt x="74879" y="357835"/>
                  </a:lnTo>
                  <a:lnTo>
                    <a:pt x="110159" y="380873"/>
                  </a:lnTo>
                  <a:lnTo>
                    <a:pt x="149402" y="395998"/>
                  </a:lnTo>
                  <a:lnTo>
                    <a:pt x="191160" y="402475"/>
                  </a:lnTo>
                  <a:lnTo>
                    <a:pt x="201599" y="402844"/>
                  </a:lnTo>
                  <a:lnTo>
                    <a:pt x="212039" y="402475"/>
                  </a:lnTo>
                  <a:lnTo>
                    <a:pt x="253796" y="395998"/>
                  </a:lnTo>
                  <a:lnTo>
                    <a:pt x="293039" y="380873"/>
                  </a:lnTo>
                  <a:lnTo>
                    <a:pt x="328320" y="357835"/>
                  </a:lnTo>
                  <a:lnTo>
                    <a:pt x="357835" y="327952"/>
                  </a:lnTo>
                  <a:lnTo>
                    <a:pt x="380873" y="292671"/>
                  </a:lnTo>
                  <a:lnTo>
                    <a:pt x="395896" y="253796"/>
                  </a:lnTo>
                  <a:lnTo>
                    <a:pt x="402451" y="212039"/>
                  </a:lnTo>
                  <a:lnTo>
                    <a:pt x="402831" y="201231"/>
                  </a:lnTo>
                  <a:lnTo>
                    <a:pt x="402500" y="191515"/>
                  </a:lnTo>
                  <a:lnTo>
                    <a:pt x="402475" y="190792"/>
                  </a:lnTo>
                  <a:lnTo>
                    <a:pt x="401801" y="181076"/>
                  </a:lnTo>
                  <a:lnTo>
                    <a:pt x="401751" y="180352"/>
                  </a:lnTo>
                  <a:lnTo>
                    <a:pt x="392760" y="138963"/>
                  </a:lnTo>
                  <a:lnTo>
                    <a:pt x="375831" y="100431"/>
                  </a:lnTo>
                  <a:lnTo>
                    <a:pt x="351002" y="66598"/>
                  </a:lnTo>
                  <a:lnTo>
                    <a:pt x="319671" y="38519"/>
                  </a:lnTo>
                  <a:lnTo>
                    <a:pt x="283311" y="17272"/>
                  </a:lnTo>
                  <a:lnTo>
                    <a:pt x="243357" y="4318"/>
                  </a:lnTo>
                  <a:lnTo>
                    <a:pt x="212039" y="355"/>
                  </a:lnTo>
                  <a:lnTo>
                    <a:pt x="201599" y="0"/>
                  </a:lnTo>
                  <a:close/>
                </a:path>
              </a:pathLst>
            </a:custGeom>
            <a:solidFill>
              <a:srgbClr val="453E31"/>
            </a:solidFill>
          </p:spPr>
          <p:txBody>
            <a:bodyPr wrap="square" lIns="0" tIns="0" rIns="0" bIns="0" rtlCol="0"/>
            <a:lstStyle/>
            <a:p>
              <a:endParaRPr/>
            </a:p>
          </p:txBody>
        </p:sp>
        <p:sp>
          <p:nvSpPr>
            <p:cNvPr id="16" name="object 16"/>
            <p:cNvSpPr/>
            <p:nvPr/>
          </p:nvSpPr>
          <p:spPr>
            <a:xfrm>
              <a:off x="7372083" y="1979282"/>
              <a:ext cx="403225" cy="403225"/>
            </a:xfrm>
            <a:custGeom>
              <a:avLst/>
              <a:gdLst/>
              <a:ahLst/>
              <a:cxnLst/>
              <a:rect l="l" t="t" r="r" b="b"/>
              <a:pathLst>
                <a:path w="403225" h="403225">
                  <a:moveTo>
                    <a:pt x="355" y="201599"/>
                  </a:moveTo>
                  <a:lnTo>
                    <a:pt x="711" y="191515"/>
                  </a:lnTo>
                  <a:lnTo>
                    <a:pt x="1435" y="181076"/>
                  </a:lnTo>
                  <a:lnTo>
                    <a:pt x="9359" y="141477"/>
                  </a:lnTo>
                  <a:lnTo>
                    <a:pt x="25552" y="104038"/>
                  </a:lnTo>
                  <a:lnTo>
                    <a:pt x="48602" y="70561"/>
                  </a:lnTo>
                  <a:lnTo>
                    <a:pt x="78117" y="42481"/>
                  </a:lnTo>
                  <a:lnTo>
                    <a:pt x="112674" y="20878"/>
                  </a:lnTo>
                  <a:lnTo>
                    <a:pt x="151193" y="6476"/>
                  </a:lnTo>
                  <a:lnTo>
                    <a:pt x="191515" y="355"/>
                  </a:lnTo>
                  <a:lnTo>
                    <a:pt x="201599" y="0"/>
                  </a:lnTo>
                  <a:lnTo>
                    <a:pt x="243357" y="4318"/>
                  </a:lnTo>
                  <a:lnTo>
                    <a:pt x="283311" y="17272"/>
                  </a:lnTo>
                  <a:lnTo>
                    <a:pt x="319671" y="38519"/>
                  </a:lnTo>
                  <a:lnTo>
                    <a:pt x="351002" y="66598"/>
                  </a:lnTo>
                  <a:lnTo>
                    <a:pt x="375831" y="100431"/>
                  </a:lnTo>
                  <a:lnTo>
                    <a:pt x="385190" y="119519"/>
                  </a:lnTo>
                  <a:lnTo>
                    <a:pt x="389521" y="129235"/>
                  </a:lnTo>
                  <a:lnTo>
                    <a:pt x="400316" y="169913"/>
                  </a:lnTo>
                  <a:lnTo>
                    <a:pt x="402831" y="201231"/>
                  </a:lnTo>
                  <a:lnTo>
                    <a:pt x="398513" y="243001"/>
                  </a:lnTo>
                  <a:lnTo>
                    <a:pt x="385559" y="283311"/>
                  </a:lnTo>
                  <a:lnTo>
                    <a:pt x="364312" y="319671"/>
                  </a:lnTo>
                  <a:lnTo>
                    <a:pt x="336232" y="351002"/>
                  </a:lnTo>
                  <a:lnTo>
                    <a:pt x="302399" y="375843"/>
                  </a:lnTo>
                  <a:lnTo>
                    <a:pt x="263880" y="392760"/>
                  </a:lnTo>
                  <a:lnTo>
                    <a:pt x="222478" y="401751"/>
                  </a:lnTo>
                  <a:lnTo>
                    <a:pt x="201599" y="402844"/>
                  </a:lnTo>
                  <a:lnTo>
                    <a:pt x="159842" y="398513"/>
                  </a:lnTo>
                  <a:lnTo>
                    <a:pt x="119519" y="385559"/>
                  </a:lnTo>
                  <a:lnTo>
                    <a:pt x="83159" y="364312"/>
                  </a:lnTo>
                  <a:lnTo>
                    <a:pt x="51841" y="336232"/>
                  </a:lnTo>
                  <a:lnTo>
                    <a:pt x="27000" y="302399"/>
                  </a:lnTo>
                  <a:lnTo>
                    <a:pt x="17640" y="283311"/>
                  </a:lnTo>
                  <a:lnTo>
                    <a:pt x="13322" y="273596"/>
                  </a:lnTo>
                  <a:lnTo>
                    <a:pt x="2514" y="232918"/>
                  </a:lnTo>
                  <a:lnTo>
                    <a:pt x="0" y="201599"/>
                  </a:lnTo>
                  <a:lnTo>
                    <a:pt x="355" y="201599"/>
                  </a:lnTo>
                  <a:close/>
                </a:path>
              </a:pathLst>
            </a:custGeom>
            <a:ln w="12599">
              <a:solidFill>
                <a:srgbClr val="FFFFFF"/>
              </a:solidFill>
            </a:ln>
          </p:spPr>
          <p:txBody>
            <a:bodyPr wrap="square" lIns="0" tIns="0" rIns="0" bIns="0" rtlCol="0"/>
            <a:lstStyle/>
            <a:p>
              <a:endParaRPr/>
            </a:p>
          </p:txBody>
        </p:sp>
        <p:pic>
          <p:nvPicPr>
            <p:cNvPr id="17" name="object 17"/>
            <p:cNvPicPr/>
            <p:nvPr/>
          </p:nvPicPr>
          <p:blipFill>
            <a:blip r:embed="rId3" cstate="print"/>
            <a:stretch>
              <a:fillRect/>
            </a:stretch>
          </p:blipFill>
          <p:spPr>
            <a:xfrm>
              <a:off x="7441565" y="2077199"/>
              <a:ext cx="269278" cy="200875"/>
            </a:xfrm>
            <a:prstGeom prst="rect">
              <a:avLst/>
            </a:prstGeom>
          </p:spPr>
        </p:pic>
        <p:sp>
          <p:nvSpPr>
            <p:cNvPr id="18" name="object 18"/>
            <p:cNvSpPr/>
            <p:nvPr/>
          </p:nvSpPr>
          <p:spPr>
            <a:xfrm>
              <a:off x="1287716" y="4312805"/>
              <a:ext cx="403225" cy="403225"/>
            </a:xfrm>
            <a:custGeom>
              <a:avLst/>
              <a:gdLst/>
              <a:ahLst/>
              <a:cxnLst/>
              <a:rect l="l" t="t" r="r" b="b"/>
              <a:pathLst>
                <a:path w="403225" h="403225">
                  <a:moveTo>
                    <a:pt x="201599" y="0"/>
                  </a:moveTo>
                  <a:lnTo>
                    <a:pt x="160921" y="4318"/>
                  </a:lnTo>
                  <a:lnTo>
                    <a:pt x="122047" y="16548"/>
                  </a:lnTo>
                  <a:lnTo>
                    <a:pt x="86398" y="36360"/>
                  </a:lnTo>
                  <a:lnTo>
                    <a:pt x="55448" y="62991"/>
                  </a:lnTo>
                  <a:lnTo>
                    <a:pt x="30607" y="95034"/>
                  </a:lnTo>
                  <a:lnTo>
                    <a:pt x="9359" y="141477"/>
                  </a:lnTo>
                  <a:lnTo>
                    <a:pt x="1525" y="180352"/>
                  </a:lnTo>
                  <a:lnTo>
                    <a:pt x="774" y="190792"/>
                  </a:lnTo>
                  <a:lnTo>
                    <a:pt x="723" y="191515"/>
                  </a:lnTo>
                  <a:lnTo>
                    <a:pt x="381" y="201231"/>
                  </a:lnTo>
                  <a:lnTo>
                    <a:pt x="368" y="201599"/>
                  </a:lnTo>
                  <a:lnTo>
                    <a:pt x="0" y="201599"/>
                  </a:lnTo>
                  <a:lnTo>
                    <a:pt x="355" y="211670"/>
                  </a:lnTo>
                  <a:lnTo>
                    <a:pt x="6756" y="253428"/>
                  </a:lnTo>
                  <a:lnTo>
                    <a:pt x="6845" y="253796"/>
                  </a:lnTo>
                  <a:lnTo>
                    <a:pt x="21958" y="293039"/>
                  </a:lnTo>
                  <a:lnTo>
                    <a:pt x="45008" y="328320"/>
                  </a:lnTo>
                  <a:lnTo>
                    <a:pt x="74879" y="357835"/>
                  </a:lnTo>
                  <a:lnTo>
                    <a:pt x="110159" y="380872"/>
                  </a:lnTo>
                  <a:lnTo>
                    <a:pt x="149402" y="395998"/>
                  </a:lnTo>
                  <a:lnTo>
                    <a:pt x="191160" y="402475"/>
                  </a:lnTo>
                  <a:lnTo>
                    <a:pt x="201599" y="402831"/>
                  </a:lnTo>
                  <a:lnTo>
                    <a:pt x="212039" y="402475"/>
                  </a:lnTo>
                  <a:lnTo>
                    <a:pt x="253809" y="395998"/>
                  </a:lnTo>
                  <a:lnTo>
                    <a:pt x="293039" y="380872"/>
                  </a:lnTo>
                  <a:lnTo>
                    <a:pt x="328320" y="357835"/>
                  </a:lnTo>
                  <a:lnTo>
                    <a:pt x="357847" y="327952"/>
                  </a:lnTo>
                  <a:lnTo>
                    <a:pt x="380885" y="292671"/>
                  </a:lnTo>
                  <a:lnTo>
                    <a:pt x="395893" y="253796"/>
                  </a:lnTo>
                  <a:lnTo>
                    <a:pt x="401715" y="222478"/>
                  </a:lnTo>
                  <a:lnTo>
                    <a:pt x="401764" y="222110"/>
                  </a:lnTo>
                  <a:lnTo>
                    <a:pt x="402462" y="212039"/>
                  </a:lnTo>
                  <a:lnTo>
                    <a:pt x="402831" y="201599"/>
                  </a:lnTo>
                  <a:lnTo>
                    <a:pt x="402844" y="201231"/>
                  </a:lnTo>
                  <a:lnTo>
                    <a:pt x="402513" y="191515"/>
                  </a:lnTo>
                  <a:lnTo>
                    <a:pt x="395998" y="149034"/>
                  </a:lnTo>
                  <a:lnTo>
                    <a:pt x="380885" y="109791"/>
                  </a:lnTo>
                  <a:lnTo>
                    <a:pt x="357847" y="74510"/>
                  </a:lnTo>
                  <a:lnTo>
                    <a:pt x="327964" y="44996"/>
                  </a:lnTo>
                  <a:lnTo>
                    <a:pt x="293039" y="21958"/>
                  </a:lnTo>
                  <a:lnTo>
                    <a:pt x="253809" y="6832"/>
                  </a:lnTo>
                  <a:lnTo>
                    <a:pt x="212039" y="355"/>
                  </a:lnTo>
                  <a:lnTo>
                    <a:pt x="201599" y="0"/>
                  </a:lnTo>
                  <a:close/>
                </a:path>
              </a:pathLst>
            </a:custGeom>
            <a:solidFill>
              <a:srgbClr val="453E31"/>
            </a:solidFill>
          </p:spPr>
          <p:txBody>
            <a:bodyPr wrap="square" lIns="0" tIns="0" rIns="0" bIns="0" rtlCol="0"/>
            <a:lstStyle/>
            <a:p>
              <a:endParaRPr/>
            </a:p>
          </p:txBody>
        </p:sp>
        <p:sp>
          <p:nvSpPr>
            <p:cNvPr id="19" name="object 19"/>
            <p:cNvSpPr/>
            <p:nvPr/>
          </p:nvSpPr>
          <p:spPr>
            <a:xfrm>
              <a:off x="1287716" y="4312805"/>
              <a:ext cx="403225" cy="403225"/>
            </a:xfrm>
            <a:custGeom>
              <a:avLst/>
              <a:gdLst/>
              <a:ahLst/>
              <a:cxnLst/>
              <a:rect l="l" t="t" r="r" b="b"/>
              <a:pathLst>
                <a:path w="403225" h="403225">
                  <a:moveTo>
                    <a:pt x="368" y="201599"/>
                  </a:moveTo>
                  <a:lnTo>
                    <a:pt x="723" y="191515"/>
                  </a:lnTo>
                  <a:lnTo>
                    <a:pt x="1447" y="181076"/>
                  </a:lnTo>
                  <a:lnTo>
                    <a:pt x="2527" y="170992"/>
                  </a:lnTo>
                  <a:lnTo>
                    <a:pt x="4318" y="160908"/>
                  </a:lnTo>
                  <a:lnTo>
                    <a:pt x="6845" y="151193"/>
                  </a:lnTo>
                  <a:lnTo>
                    <a:pt x="9359" y="141477"/>
                  </a:lnTo>
                  <a:lnTo>
                    <a:pt x="12966" y="131749"/>
                  </a:lnTo>
                  <a:lnTo>
                    <a:pt x="16560" y="122034"/>
                  </a:lnTo>
                  <a:lnTo>
                    <a:pt x="20878" y="113030"/>
                  </a:lnTo>
                  <a:lnTo>
                    <a:pt x="25565" y="104038"/>
                  </a:lnTo>
                  <a:lnTo>
                    <a:pt x="30607" y="95034"/>
                  </a:lnTo>
                  <a:lnTo>
                    <a:pt x="36360" y="86398"/>
                  </a:lnTo>
                  <a:lnTo>
                    <a:pt x="42481" y="78473"/>
                  </a:lnTo>
                  <a:lnTo>
                    <a:pt x="48602" y="70548"/>
                  </a:lnTo>
                  <a:lnTo>
                    <a:pt x="78117" y="42468"/>
                  </a:lnTo>
                  <a:lnTo>
                    <a:pt x="112687" y="20878"/>
                  </a:lnTo>
                  <a:lnTo>
                    <a:pt x="151206" y="6476"/>
                  </a:lnTo>
                  <a:lnTo>
                    <a:pt x="191528" y="355"/>
                  </a:lnTo>
                  <a:lnTo>
                    <a:pt x="201599" y="0"/>
                  </a:lnTo>
                  <a:lnTo>
                    <a:pt x="243357" y="4318"/>
                  </a:lnTo>
                  <a:lnTo>
                    <a:pt x="283324" y="17271"/>
                  </a:lnTo>
                  <a:lnTo>
                    <a:pt x="319684" y="38519"/>
                  </a:lnTo>
                  <a:lnTo>
                    <a:pt x="351002" y="66598"/>
                  </a:lnTo>
                  <a:lnTo>
                    <a:pt x="375843" y="100431"/>
                  </a:lnTo>
                  <a:lnTo>
                    <a:pt x="385203" y="119519"/>
                  </a:lnTo>
                  <a:lnTo>
                    <a:pt x="389521" y="129235"/>
                  </a:lnTo>
                  <a:lnTo>
                    <a:pt x="400329" y="169913"/>
                  </a:lnTo>
                  <a:lnTo>
                    <a:pt x="402844" y="201231"/>
                  </a:lnTo>
                  <a:lnTo>
                    <a:pt x="398526" y="242989"/>
                  </a:lnTo>
                  <a:lnTo>
                    <a:pt x="385559" y="283311"/>
                  </a:lnTo>
                  <a:lnTo>
                    <a:pt x="364324" y="319671"/>
                  </a:lnTo>
                  <a:lnTo>
                    <a:pt x="336245" y="350989"/>
                  </a:lnTo>
                  <a:lnTo>
                    <a:pt x="302399" y="375831"/>
                  </a:lnTo>
                  <a:lnTo>
                    <a:pt x="283324" y="385190"/>
                  </a:lnTo>
                  <a:lnTo>
                    <a:pt x="273608" y="389508"/>
                  </a:lnTo>
                  <a:lnTo>
                    <a:pt x="232918" y="400316"/>
                  </a:lnTo>
                  <a:lnTo>
                    <a:pt x="201599" y="402831"/>
                  </a:lnTo>
                  <a:lnTo>
                    <a:pt x="159842" y="398513"/>
                  </a:lnTo>
                  <a:lnTo>
                    <a:pt x="119519" y="385559"/>
                  </a:lnTo>
                  <a:lnTo>
                    <a:pt x="83159" y="364312"/>
                  </a:lnTo>
                  <a:lnTo>
                    <a:pt x="51841" y="336232"/>
                  </a:lnTo>
                  <a:lnTo>
                    <a:pt x="27000" y="302399"/>
                  </a:lnTo>
                  <a:lnTo>
                    <a:pt x="17640" y="283311"/>
                  </a:lnTo>
                  <a:lnTo>
                    <a:pt x="13322" y="273596"/>
                  </a:lnTo>
                  <a:lnTo>
                    <a:pt x="2527" y="232918"/>
                  </a:lnTo>
                  <a:lnTo>
                    <a:pt x="0" y="201599"/>
                  </a:lnTo>
                  <a:lnTo>
                    <a:pt x="368" y="201599"/>
                  </a:lnTo>
                  <a:close/>
                </a:path>
              </a:pathLst>
            </a:custGeom>
            <a:ln w="12599">
              <a:solidFill>
                <a:srgbClr val="FFFFFF"/>
              </a:solidFill>
            </a:ln>
          </p:spPr>
          <p:txBody>
            <a:bodyPr wrap="square" lIns="0" tIns="0" rIns="0" bIns="0" rtlCol="0"/>
            <a:lstStyle/>
            <a:p>
              <a:endParaRPr/>
            </a:p>
          </p:txBody>
        </p:sp>
        <p:pic>
          <p:nvPicPr>
            <p:cNvPr id="20" name="object 20"/>
            <p:cNvPicPr/>
            <p:nvPr/>
          </p:nvPicPr>
          <p:blipFill>
            <a:blip r:embed="rId3" cstate="print"/>
            <a:stretch>
              <a:fillRect/>
            </a:stretch>
          </p:blipFill>
          <p:spPr>
            <a:xfrm>
              <a:off x="1356842" y="4413605"/>
              <a:ext cx="269278" cy="200875"/>
            </a:xfrm>
            <a:prstGeom prst="rect">
              <a:avLst/>
            </a:prstGeom>
          </p:spPr>
        </p:pic>
        <p:sp>
          <p:nvSpPr>
            <p:cNvPr id="21" name="object 21"/>
            <p:cNvSpPr/>
            <p:nvPr/>
          </p:nvSpPr>
          <p:spPr>
            <a:xfrm>
              <a:off x="4329722" y="4312805"/>
              <a:ext cx="403225" cy="403225"/>
            </a:xfrm>
            <a:custGeom>
              <a:avLst/>
              <a:gdLst/>
              <a:ahLst/>
              <a:cxnLst/>
              <a:rect l="l" t="t" r="r" b="b"/>
              <a:pathLst>
                <a:path w="403225" h="403225">
                  <a:moveTo>
                    <a:pt x="201599" y="0"/>
                  </a:moveTo>
                  <a:lnTo>
                    <a:pt x="160921" y="4318"/>
                  </a:lnTo>
                  <a:lnTo>
                    <a:pt x="122034" y="16548"/>
                  </a:lnTo>
                  <a:lnTo>
                    <a:pt x="86398" y="36360"/>
                  </a:lnTo>
                  <a:lnTo>
                    <a:pt x="55435" y="62991"/>
                  </a:lnTo>
                  <a:lnTo>
                    <a:pt x="30594" y="95034"/>
                  </a:lnTo>
                  <a:lnTo>
                    <a:pt x="9359" y="141477"/>
                  </a:lnTo>
                  <a:lnTo>
                    <a:pt x="1512" y="180352"/>
                  </a:lnTo>
                  <a:lnTo>
                    <a:pt x="1435" y="181076"/>
                  </a:lnTo>
                  <a:lnTo>
                    <a:pt x="773" y="190792"/>
                  </a:lnTo>
                  <a:lnTo>
                    <a:pt x="723" y="191515"/>
                  </a:lnTo>
                  <a:lnTo>
                    <a:pt x="369" y="201231"/>
                  </a:lnTo>
                  <a:lnTo>
                    <a:pt x="355" y="201599"/>
                  </a:lnTo>
                  <a:lnTo>
                    <a:pt x="0" y="201599"/>
                  </a:lnTo>
                  <a:lnTo>
                    <a:pt x="343" y="211670"/>
                  </a:lnTo>
                  <a:lnTo>
                    <a:pt x="6743" y="253428"/>
                  </a:lnTo>
                  <a:lnTo>
                    <a:pt x="21958" y="293039"/>
                  </a:lnTo>
                  <a:lnTo>
                    <a:pt x="44996" y="328320"/>
                  </a:lnTo>
                  <a:lnTo>
                    <a:pt x="74879" y="357835"/>
                  </a:lnTo>
                  <a:lnTo>
                    <a:pt x="110159" y="380872"/>
                  </a:lnTo>
                  <a:lnTo>
                    <a:pt x="149402" y="395998"/>
                  </a:lnTo>
                  <a:lnTo>
                    <a:pt x="191160" y="402475"/>
                  </a:lnTo>
                  <a:lnTo>
                    <a:pt x="201599" y="402831"/>
                  </a:lnTo>
                  <a:lnTo>
                    <a:pt x="212039" y="402475"/>
                  </a:lnTo>
                  <a:lnTo>
                    <a:pt x="253796" y="395998"/>
                  </a:lnTo>
                  <a:lnTo>
                    <a:pt x="293039" y="380872"/>
                  </a:lnTo>
                  <a:lnTo>
                    <a:pt x="328320" y="357835"/>
                  </a:lnTo>
                  <a:lnTo>
                    <a:pt x="357835" y="327952"/>
                  </a:lnTo>
                  <a:lnTo>
                    <a:pt x="380873" y="292671"/>
                  </a:lnTo>
                  <a:lnTo>
                    <a:pt x="395893" y="253796"/>
                  </a:lnTo>
                  <a:lnTo>
                    <a:pt x="398424" y="243357"/>
                  </a:lnTo>
                  <a:lnTo>
                    <a:pt x="398513" y="242989"/>
                  </a:lnTo>
                  <a:lnTo>
                    <a:pt x="400316" y="232918"/>
                  </a:lnTo>
                  <a:lnTo>
                    <a:pt x="401702" y="222478"/>
                  </a:lnTo>
                  <a:lnTo>
                    <a:pt x="401751" y="222110"/>
                  </a:lnTo>
                  <a:lnTo>
                    <a:pt x="402450" y="212039"/>
                  </a:lnTo>
                  <a:lnTo>
                    <a:pt x="402831" y="201599"/>
                  </a:lnTo>
                  <a:lnTo>
                    <a:pt x="402843" y="201231"/>
                  </a:lnTo>
                  <a:lnTo>
                    <a:pt x="402501" y="191515"/>
                  </a:lnTo>
                  <a:lnTo>
                    <a:pt x="402475" y="190792"/>
                  </a:lnTo>
                  <a:lnTo>
                    <a:pt x="401801" y="181076"/>
                  </a:lnTo>
                  <a:lnTo>
                    <a:pt x="401751" y="180352"/>
                  </a:lnTo>
                  <a:lnTo>
                    <a:pt x="400316" y="169913"/>
                  </a:lnTo>
                  <a:lnTo>
                    <a:pt x="389521" y="129235"/>
                  </a:lnTo>
                  <a:lnTo>
                    <a:pt x="370077" y="91439"/>
                  </a:lnTo>
                  <a:lnTo>
                    <a:pt x="343801" y="59029"/>
                  </a:lnTo>
                  <a:lnTo>
                    <a:pt x="311035" y="32397"/>
                  </a:lnTo>
                  <a:lnTo>
                    <a:pt x="273596" y="13309"/>
                  </a:lnTo>
                  <a:lnTo>
                    <a:pt x="232917" y="2514"/>
                  </a:lnTo>
                  <a:lnTo>
                    <a:pt x="212039" y="355"/>
                  </a:lnTo>
                  <a:lnTo>
                    <a:pt x="201599" y="0"/>
                  </a:lnTo>
                  <a:close/>
                </a:path>
              </a:pathLst>
            </a:custGeom>
            <a:solidFill>
              <a:srgbClr val="453E31"/>
            </a:solidFill>
          </p:spPr>
          <p:txBody>
            <a:bodyPr wrap="square" lIns="0" tIns="0" rIns="0" bIns="0" rtlCol="0"/>
            <a:lstStyle/>
            <a:p>
              <a:endParaRPr/>
            </a:p>
          </p:txBody>
        </p:sp>
        <p:sp>
          <p:nvSpPr>
            <p:cNvPr id="22" name="object 22"/>
            <p:cNvSpPr/>
            <p:nvPr/>
          </p:nvSpPr>
          <p:spPr>
            <a:xfrm>
              <a:off x="4329722" y="4312805"/>
              <a:ext cx="403225" cy="403225"/>
            </a:xfrm>
            <a:custGeom>
              <a:avLst/>
              <a:gdLst/>
              <a:ahLst/>
              <a:cxnLst/>
              <a:rect l="l" t="t" r="r" b="b"/>
              <a:pathLst>
                <a:path w="403225" h="403225">
                  <a:moveTo>
                    <a:pt x="355" y="201599"/>
                  </a:moveTo>
                  <a:lnTo>
                    <a:pt x="723" y="191515"/>
                  </a:lnTo>
                  <a:lnTo>
                    <a:pt x="1435" y="181076"/>
                  </a:lnTo>
                  <a:lnTo>
                    <a:pt x="9359" y="141477"/>
                  </a:lnTo>
                  <a:lnTo>
                    <a:pt x="25552" y="104038"/>
                  </a:lnTo>
                  <a:lnTo>
                    <a:pt x="48602" y="70548"/>
                  </a:lnTo>
                  <a:lnTo>
                    <a:pt x="78117" y="42468"/>
                  </a:lnTo>
                  <a:lnTo>
                    <a:pt x="112674" y="20878"/>
                  </a:lnTo>
                  <a:lnTo>
                    <a:pt x="151193" y="6476"/>
                  </a:lnTo>
                  <a:lnTo>
                    <a:pt x="191515" y="355"/>
                  </a:lnTo>
                  <a:lnTo>
                    <a:pt x="201599" y="0"/>
                  </a:lnTo>
                  <a:lnTo>
                    <a:pt x="243357" y="4318"/>
                  </a:lnTo>
                  <a:lnTo>
                    <a:pt x="283311" y="17271"/>
                  </a:lnTo>
                  <a:lnTo>
                    <a:pt x="319671" y="38519"/>
                  </a:lnTo>
                  <a:lnTo>
                    <a:pt x="351002" y="66598"/>
                  </a:lnTo>
                  <a:lnTo>
                    <a:pt x="375843" y="100431"/>
                  </a:lnTo>
                  <a:lnTo>
                    <a:pt x="392760" y="138950"/>
                  </a:lnTo>
                  <a:lnTo>
                    <a:pt x="401751" y="180352"/>
                  </a:lnTo>
                  <a:lnTo>
                    <a:pt x="402843" y="201231"/>
                  </a:lnTo>
                  <a:lnTo>
                    <a:pt x="398513" y="242989"/>
                  </a:lnTo>
                  <a:lnTo>
                    <a:pt x="385559" y="283311"/>
                  </a:lnTo>
                  <a:lnTo>
                    <a:pt x="364312" y="319671"/>
                  </a:lnTo>
                  <a:lnTo>
                    <a:pt x="336232" y="350989"/>
                  </a:lnTo>
                  <a:lnTo>
                    <a:pt x="302399" y="375831"/>
                  </a:lnTo>
                  <a:lnTo>
                    <a:pt x="283311" y="385190"/>
                  </a:lnTo>
                  <a:lnTo>
                    <a:pt x="273596" y="389508"/>
                  </a:lnTo>
                  <a:lnTo>
                    <a:pt x="232917" y="400316"/>
                  </a:lnTo>
                  <a:lnTo>
                    <a:pt x="201599" y="402831"/>
                  </a:lnTo>
                  <a:lnTo>
                    <a:pt x="159842" y="398513"/>
                  </a:lnTo>
                  <a:lnTo>
                    <a:pt x="119519" y="385559"/>
                  </a:lnTo>
                  <a:lnTo>
                    <a:pt x="83159" y="364312"/>
                  </a:lnTo>
                  <a:lnTo>
                    <a:pt x="51841" y="336232"/>
                  </a:lnTo>
                  <a:lnTo>
                    <a:pt x="27000" y="302399"/>
                  </a:lnTo>
                  <a:lnTo>
                    <a:pt x="17640" y="283311"/>
                  </a:lnTo>
                  <a:lnTo>
                    <a:pt x="13322" y="273596"/>
                  </a:lnTo>
                  <a:lnTo>
                    <a:pt x="2514" y="232918"/>
                  </a:lnTo>
                  <a:lnTo>
                    <a:pt x="0" y="201599"/>
                  </a:lnTo>
                  <a:lnTo>
                    <a:pt x="355" y="201599"/>
                  </a:lnTo>
                  <a:close/>
                </a:path>
              </a:pathLst>
            </a:custGeom>
            <a:ln w="12599">
              <a:solidFill>
                <a:srgbClr val="FFFFFF"/>
              </a:solidFill>
            </a:ln>
          </p:spPr>
          <p:txBody>
            <a:bodyPr wrap="square" lIns="0" tIns="0" rIns="0" bIns="0" rtlCol="0"/>
            <a:lstStyle/>
            <a:p>
              <a:endParaRPr/>
            </a:p>
          </p:txBody>
        </p:sp>
        <p:pic>
          <p:nvPicPr>
            <p:cNvPr id="23" name="object 23"/>
            <p:cNvPicPr/>
            <p:nvPr/>
          </p:nvPicPr>
          <p:blipFill>
            <a:blip r:embed="rId3" cstate="print"/>
            <a:stretch>
              <a:fillRect/>
            </a:stretch>
          </p:blipFill>
          <p:spPr>
            <a:xfrm>
              <a:off x="4399203" y="4413605"/>
              <a:ext cx="269278" cy="200875"/>
            </a:xfrm>
            <a:prstGeom prst="rect">
              <a:avLst/>
            </a:prstGeom>
          </p:spPr>
        </p:pic>
        <p:sp>
          <p:nvSpPr>
            <p:cNvPr id="24" name="object 24"/>
            <p:cNvSpPr/>
            <p:nvPr/>
          </p:nvSpPr>
          <p:spPr>
            <a:xfrm>
              <a:off x="7372083" y="4312805"/>
              <a:ext cx="403225" cy="403225"/>
            </a:xfrm>
            <a:custGeom>
              <a:avLst/>
              <a:gdLst/>
              <a:ahLst/>
              <a:cxnLst/>
              <a:rect l="l" t="t" r="r" b="b"/>
              <a:pathLst>
                <a:path w="403225" h="403225">
                  <a:moveTo>
                    <a:pt x="201599" y="0"/>
                  </a:moveTo>
                  <a:lnTo>
                    <a:pt x="160921" y="4318"/>
                  </a:lnTo>
                  <a:lnTo>
                    <a:pt x="122034" y="16548"/>
                  </a:lnTo>
                  <a:lnTo>
                    <a:pt x="86398" y="36360"/>
                  </a:lnTo>
                  <a:lnTo>
                    <a:pt x="55435" y="62991"/>
                  </a:lnTo>
                  <a:lnTo>
                    <a:pt x="30594" y="95034"/>
                  </a:lnTo>
                  <a:lnTo>
                    <a:pt x="9359" y="141477"/>
                  </a:lnTo>
                  <a:lnTo>
                    <a:pt x="1512" y="180352"/>
                  </a:lnTo>
                  <a:lnTo>
                    <a:pt x="1435" y="181076"/>
                  </a:lnTo>
                  <a:lnTo>
                    <a:pt x="761" y="190792"/>
                  </a:lnTo>
                  <a:lnTo>
                    <a:pt x="711" y="191515"/>
                  </a:lnTo>
                  <a:lnTo>
                    <a:pt x="368" y="201231"/>
                  </a:lnTo>
                  <a:lnTo>
                    <a:pt x="355" y="201599"/>
                  </a:lnTo>
                  <a:lnTo>
                    <a:pt x="0" y="201599"/>
                  </a:lnTo>
                  <a:lnTo>
                    <a:pt x="343" y="211670"/>
                  </a:lnTo>
                  <a:lnTo>
                    <a:pt x="6743" y="253428"/>
                  </a:lnTo>
                  <a:lnTo>
                    <a:pt x="6832" y="253796"/>
                  </a:lnTo>
                  <a:lnTo>
                    <a:pt x="21958" y="293039"/>
                  </a:lnTo>
                  <a:lnTo>
                    <a:pt x="44996" y="328320"/>
                  </a:lnTo>
                  <a:lnTo>
                    <a:pt x="74879" y="357835"/>
                  </a:lnTo>
                  <a:lnTo>
                    <a:pt x="110159" y="380872"/>
                  </a:lnTo>
                  <a:lnTo>
                    <a:pt x="149402" y="395998"/>
                  </a:lnTo>
                  <a:lnTo>
                    <a:pt x="191160" y="402475"/>
                  </a:lnTo>
                  <a:lnTo>
                    <a:pt x="201599" y="402831"/>
                  </a:lnTo>
                  <a:lnTo>
                    <a:pt x="212039" y="402475"/>
                  </a:lnTo>
                  <a:lnTo>
                    <a:pt x="253796" y="395998"/>
                  </a:lnTo>
                  <a:lnTo>
                    <a:pt x="293039" y="380872"/>
                  </a:lnTo>
                  <a:lnTo>
                    <a:pt x="328320" y="357835"/>
                  </a:lnTo>
                  <a:lnTo>
                    <a:pt x="357835" y="327952"/>
                  </a:lnTo>
                  <a:lnTo>
                    <a:pt x="380873" y="292671"/>
                  </a:lnTo>
                  <a:lnTo>
                    <a:pt x="395893" y="253796"/>
                  </a:lnTo>
                  <a:lnTo>
                    <a:pt x="402450" y="212039"/>
                  </a:lnTo>
                  <a:lnTo>
                    <a:pt x="402831" y="201231"/>
                  </a:lnTo>
                  <a:lnTo>
                    <a:pt x="402500" y="191515"/>
                  </a:lnTo>
                  <a:lnTo>
                    <a:pt x="402475" y="190792"/>
                  </a:lnTo>
                  <a:lnTo>
                    <a:pt x="401801" y="181076"/>
                  </a:lnTo>
                  <a:lnTo>
                    <a:pt x="401751" y="180352"/>
                  </a:lnTo>
                  <a:lnTo>
                    <a:pt x="392760" y="138950"/>
                  </a:lnTo>
                  <a:lnTo>
                    <a:pt x="375831" y="100431"/>
                  </a:lnTo>
                  <a:lnTo>
                    <a:pt x="351002" y="66598"/>
                  </a:lnTo>
                  <a:lnTo>
                    <a:pt x="319671" y="38519"/>
                  </a:lnTo>
                  <a:lnTo>
                    <a:pt x="283311" y="17271"/>
                  </a:lnTo>
                  <a:lnTo>
                    <a:pt x="243357" y="4318"/>
                  </a:lnTo>
                  <a:lnTo>
                    <a:pt x="212039" y="355"/>
                  </a:lnTo>
                  <a:lnTo>
                    <a:pt x="201599" y="0"/>
                  </a:lnTo>
                  <a:close/>
                </a:path>
              </a:pathLst>
            </a:custGeom>
            <a:solidFill>
              <a:srgbClr val="453E31"/>
            </a:solidFill>
          </p:spPr>
          <p:txBody>
            <a:bodyPr wrap="square" lIns="0" tIns="0" rIns="0" bIns="0" rtlCol="0"/>
            <a:lstStyle/>
            <a:p>
              <a:endParaRPr/>
            </a:p>
          </p:txBody>
        </p:sp>
        <p:sp>
          <p:nvSpPr>
            <p:cNvPr id="25" name="object 25"/>
            <p:cNvSpPr/>
            <p:nvPr/>
          </p:nvSpPr>
          <p:spPr>
            <a:xfrm>
              <a:off x="7372083" y="4312805"/>
              <a:ext cx="403225" cy="403225"/>
            </a:xfrm>
            <a:custGeom>
              <a:avLst/>
              <a:gdLst/>
              <a:ahLst/>
              <a:cxnLst/>
              <a:rect l="l" t="t" r="r" b="b"/>
              <a:pathLst>
                <a:path w="403225" h="403225">
                  <a:moveTo>
                    <a:pt x="355" y="201599"/>
                  </a:moveTo>
                  <a:lnTo>
                    <a:pt x="711" y="191515"/>
                  </a:lnTo>
                  <a:lnTo>
                    <a:pt x="1435" y="181076"/>
                  </a:lnTo>
                  <a:lnTo>
                    <a:pt x="9359" y="141477"/>
                  </a:lnTo>
                  <a:lnTo>
                    <a:pt x="25552" y="104038"/>
                  </a:lnTo>
                  <a:lnTo>
                    <a:pt x="48602" y="70548"/>
                  </a:lnTo>
                  <a:lnTo>
                    <a:pt x="78117" y="42468"/>
                  </a:lnTo>
                  <a:lnTo>
                    <a:pt x="112674" y="20878"/>
                  </a:lnTo>
                  <a:lnTo>
                    <a:pt x="151193" y="6476"/>
                  </a:lnTo>
                  <a:lnTo>
                    <a:pt x="191515" y="355"/>
                  </a:lnTo>
                  <a:lnTo>
                    <a:pt x="201599" y="0"/>
                  </a:lnTo>
                  <a:lnTo>
                    <a:pt x="243357" y="4318"/>
                  </a:lnTo>
                  <a:lnTo>
                    <a:pt x="283311" y="17271"/>
                  </a:lnTo>
                  <a:lnTo>
                    <a:pt x="319671" y="38519"/>
                  </a:lnTo>
                  <a:lnTo>
                    <a:pt x="351002" y="66598"/>
                  </a:lnTo>
                  <a:lnTo>
                    <a:pt x="375831" y="100431"/>
                  </a:lnTo>
                  <a:lnTo>
                    <a:pt x="385190" y="119519"/>
                  </a:lnTo>
                  <a:lnTo>
                    <a:pt x="389521" y="129235"/>
                  </a:lnTo>
                  <a:lnTo>
                    <a:pt x="400316" y="169913"/>
                  </a:lnTo>
                  <a:lnTo>
                    <a:pt x="402831" y="201231"/>
                  </a:lnTo>
                  <a:lnTo>
                    <a:pt x="398513" y="242989"/>
                  </a:lnTo>
                  <a:lnTo>
                    <a:pt x="385559" y="283311"/>
                  </a:lnTo>
                  <a:lnTo>
                    <a:pt x="364312" y="319671"/>
                  </a:lnTo>
                  <a:lnTo>
                    <a:pt x="336232" y="350989"/>
                  </a:lnTo>
                  <a:lnTo>
                    <a:pt x="302399" y="375831"/>
                  </a:lnTo>
                  <a:lnTo>
                    <a:pt x="283311" y="385190"/>
                  </a:lnTo>
                  <a:lnTo>
                    <a:pt x="273596" y="389508"/>
                  </a:lnTo>
                  <a:lnTo>
                    <a:pt x="232917" y="400316"/>
                  </a:lnTo>
                  <a:lnTo>
                    <a:pt x="201599" y="402831"/>
                  </a:lnTo>
                  <a:lnTo>
                    <a:pt x="159842" y="398513"/>
                  </a:lnTo>
                  <a:lnTo>
                    <a:pt x="119519" y="385559"/>
                  </a:lnTo>
                  <a:lnTo>
                    <a:pt x="83159" y="364312"/>
                  </a:lnTo>
                  <a:lnTo>
                    <a:pt x="51841" y="336232"/>
                  </a:lnTo>
                  <a:lnTo>
                    <a:pt x="27000" y="302399"/>
                  </a:lnTo>
                  <a:lnTo>
                    <a:pt x="17640" y="283311"/>
                  </a:lnTo>
                  <a:lnTo>
                    <a:pt x="13322" y="273596"/>
                  </a:lnTo>
                  <a:lnTo>
                    <a:pt x="2514" y="232918"/>
                  </a:lnTo>
                  <a:lnTo>
                    <a:pt x="0" y="201599"/>
                  </a:lnTo>
                  <a:lnTo>
                    <a:pt x="355" y="201599"/>
                  </a:lnTo>
                  <a:close/>
                </a:path>
              </a:pathLst>
            </a:custGeom>
            <a:ln w="12599">
              <a:solidFill>
                <a:srgbClr val="FFFFFF"/>
              </a:solidFill>
            </a:ln>
          </p:spPr>
          <p:txBody>
            <a:bodyPr wrap="square" lIns="0" tIns="0" rIns="0" bIns="0" rtlCol="0"/>
            <a:lstStyle/>
            <a:p>
              <a:endParaRPr/>
            </a:p>
          </p:txBody>
        </p:sp>
        <p:pic>
          <p:nvPicPr>
            <p:cNvPr id="26" name="object 26"/>
            <p:cNvPicPr/>
            <p:nvPr/>
          </p:nvPicPr>
          <p:blipFill>
            <a:blip r:embed="rId3" cstate="print"/>
            <a:stretch>
              <a:fillRect/>
            </a:stretch>
          </p:blipFill>
          <p:spPr>
            <a:xfrm>
              <a:off x="7441565" y="4413605"/>
              <a:ext cx="269278" cy="200875"/>
            </a:xfrm>
            <a:prstGeom prst="rect">
              <a:avLst/>
            </a:prstGeom>
          </p:spPr>
        </p:pic>
      </p:grpSp>
      <p:sp>
        <p:nvSpPr>
          <p:cNvPr id="27" name="object 27"/>
          <p:cNvSpPr txBox="1"/>
          <p:nvPr/>
        </p:nvSpPr>
        <p:spPr>
          <a:xfrm>
            <a:off x="3734904" y="2542590"/>
            <a:ext cx="1594485" cy="1704954"/>
          </a:xfrm>
          <a:prstGeom prst="rect">
            <a:avLst/>
          </a:prstGeom>
        </p:spPr>
        <p:txBody>
          <a:bodyPr vert="horz" wrap="square" lIns="0" tIns="12065" rIns="0" bIns="0" rtlCol="0">
            <a:spAutoFit/>
          </a:bodyPr>
          <a:lstStyle/>
          <a:p>
            <a:pPr marL="3810" algn="ctr">
              <a:lnSpc>
                <a:spcPct val="100000"/>
              </a:lnSpc>
              <a:spcBef>
                <a:spcPts val="95"/>
              </a:spcBef>
            </a:pPr>
            <a:r>
              <a:rPr lang="en-US" sz="1600" dirty="0">
                <a:solidFill>
                  <a:srgbClr val="FFFFFF"/>
                </a:solidFill>
                <a:latin typeface="Trebuchet MS"/>
                <a:cs typeface="Trebuchet MS"/>
              </a:rPr>
              <a:t>EAS </a:t>
            </a:r>
            <a:r>
              <a:rPr sz="1600" dirty="0">
                <a:solidFill>
                  <a:srgbClr val="FFFFFF"/>
                </a:solidFill>
                <a:latin typeface="Trebuchet MS"/>
                <a:cs typeface="Trebuchet MS"/>
              </a:rPr>
              <a:t>Concept</a:t>
            </a:r>
            <a:endParaRPr sz="1600" dirty="0">
              <a:latin typeface="Trebuchet MS"/>
              <a:cs typeface="Trebuchet MS"/>
            </a:endParaRPr>
          </a:p>
          <a:p>
            <a:pPr marL="12065" marR="5080" algn="ctr">
              <a:lnSpc>
                <a:spcPct val="100000"/>
              </a:lnSpc>
              <a:spcBef>
                <a:spcPts val="1245"/>
              </a:spcBef>
            </a:pPr>
            <a:r>
              <a:rPr sz="1400" dirty="0">
                <a:solidFill>
                  <a:srgbClr val="FFFFFF"/>
                </a:solidFill>
                <a:latin typeface="Trebuchet MS"/>
                <a:cs typeface="Trebuchet MS"/>
              </a:rPr>
              <a:t>Define system requirements concerning suspension characteristics clearly.</a:t>
            </a:r>
            <a:endParaRPr sz="1400" dirty="0">
              <a:latin typeface="Trebuchet MS"/>
              <a:cs typeface="Trebuchet MS"/>
            </a:endParaRPr>
          </a:p>
        </p:txBody>
      </p:sp>
      <p:sp>
        <p:nvSpPr>
          <p:cNvPr id="28" name="object 28"/>
          <p:cNvSpPr txBox="1"/>
          <p:nvPr/>
        </p:nvSpPr>
        <p:spPr>
          <a:xfrm>
            <a:off x="6703097" y="2542590"/>
            <a:ext cx="1742439" cy="1274067"/>
          </a:xfrm>
          <a:prstGeom prst="rect">
            <a:avLst/>
          </a:prstGeom>
        </p:spPr>
        <p:txBody>
          <a:bodyPr vert="horz" wrap="square" lIns="0" tIns="12065" rIns="0" bIns="0" rtlCol="0">
            <a:spAutoFit/>
          </a:bodyPr>
          <a:lstStyle/>
          <a:p>
            <a:pPr marL="1905" algn="ctr">
              <a:lnSpc>
                <a:spcPct val="100000"/>
              </a:lnSpc>
              <a:spcBef>
                <a:spcPts val="95"/>
              </a:spcBef>
            </a:pPr>
            <a:r>
              <a:rPr sz="1600" dirty="0">
                <a:solidFill>
                  <a:srgbClr val="FFFFFF"/>
                </a:solidFill>
                <a:latin typeface="Trebuchet MS"/>
                <a:cs typeface="Trebuchet MS"/>
              </a:rPr>
              <a:t>3D Modeling</a:t>
            </a:r>
            <a:endParaRPr sz="1600">
              <a:latin typeface="Trebuchet MS"/>
              <a:cs typeface="Trebuchet MS"/>
            </a:endParaRPr>
          </a:p>
          <a:p>
            <a:pPr marL="12065" marR="5080" algn="ctr">
              <a:lnSpc>
                <a:spcPct val="100000"/>
              </a:lnSpc>
              <a:spcBef>
                <a:spcPts val="1245"/>
              </a:spcBef>
            </a:pPr>
            <a:r>
              <a:rPr sz="1400" dirty="0">
                <a:solidFill>
                  <a:srgbClr val="FFFFFF"/>
                </a:solidFill>
                <a:latin typeface="Trebuchet MS"/>
                <a:cs typeface="Trebuchet MS"/>
              </a:rPr>
              <a:t>Utilize SolidWorks for effective 3D component design and assembly.</a:t>
            </a:r>
            <a:endParaRPr sz="1400">
              <a:latin typeface="Trebuchet MS"/>
              <a:cs typeface="Trebuchet MS"/>
            </a:endParaRPr>
          </a:p>
        </p:txBody>
      </p:sp>
      <p:sp>
        <p:nvSpPr>
          <p:cNvPr id="29" name="object 29"/>
          <p:cNvSpPr txBox="1"/>
          <p:nvPr/>
        </p:nvSpPr>
        <p:spPr>
          <a:xfrm>
            <a:off x="819264" y="4871783"/>
            <a:ext cx="1344930" cy="1489510"/>
          </a:xfrm>
          <a:prstGeom prst="rect">
            <a:avLst/>
          </a:prstGeom>
        </p:spPr>
        <p:txBody>
          <a:bodyPr vert="horz" wrap="square" lIns="0" tIns="12065" rIns="0" bIns="0" rtlCol="0">
            <a:spAutoFit/>
          </a:bodyPr>
          <a:lstStyle/>
          <a:p>
            <a:pPr algn="ctr">
              <a:lnSpc>
                <a:spcPct val="100000"/>
              </a:lnSpc>
              <a:spcBef>
                <a:spcPts val="95"/>
              </a:spcBef>
            </a:pPr>
            <a:r>
              <a:rPr sz="1600" dirty="0">
                <a:solidFill>
                  <a:srgbClr val="FFFFFF"/>
                </a:solidFill>
                <a:latin typeface="Trebuchet MS"/>
                <a:cs typeface="Trebuchet MS"/>
              </a:rPr>
              <a:t>FEA Analysis</a:t>
            </a:r>
            <a:endParaRPr sz="1600">
              <a:latin typeface="Trebuchet MS"/>
              <a:cs typeface="Trebuchet MS"/>
            </a:endParaRPr>
          </a:p>
          <a:p>
            <a:pPr marL="12700" marR="5080" indent="-1270" algn="ctr">
              <a:lnSpc>
                <a:spcPct val="100000"/>
              </a:lnSpc>
              <a:spcBef>
                <a:spcPts val="1245"/>
              </a:spcBef>
            </a:pPr>
            <a:r>
              <a:rPr sz="1400" dirty="0">
                <a:solidFill>
                  <a:srgbClr val="FFFFFF"/>
                </a:solidFill>
                <a:latin typeface="Trebuchet MS"/>
                <a:cs typeface="Trebuchet MS"/>
              </a:rPr>
              <a:t>Apply loads and define boundary conditions for structural analysis.</a:t>
            </a:r>
            <a:endParaRPr sz="1400">
              <a:latin typeface="Trebuchet MS"/>
              <a:cs typeface="Trebuchet MS"/>
            </a:endParaRPr>
          </a:p>
        </p:txBody>
      </p:sp>
      <p:sp>
        <p:nvSpPr>
          <p:cNvPr id="30" name="object 30"/>
          <p:cNvSpPr txBox="1"/>
          <p:nvPr/>
        </p:nvSpPr>
        <p:spPr>
          <a:xfrm>
            <a:off x="3669017" y="4871783"/>
            <a:ext cx="1624965" cy="1735732"/>
          </a:xfrm>
          <a:prstGeom prst="rect">
            <a:avLst/>
          </a:prstGeom>
        </p:spPr>
        <p:txBody>
          <a:bodyPr vert="horz" wrap="square" lIns="0" tIns="12065" rIns="0" bIns="0" rtlCol="0">
            <a:spAutoFit/>
          </a:bodyPr>
          <a:lstStyle/>
          <a:p>
            <a:pPr marL="339090" algn="l">
              <a:lnSpc>
                <a:spcPct val="100000"/>
              </a:lnSpc>
              <a:spcBef>
                <a:spcPts val="95"/>
              </a:spcBef>
            </a:pPr>
            <a:r>
              <a:rPr sz="1600" dirty="0">
                <a:solidFill>
                  <a:srgbClr val="FFFFFF"/>
                </a:solidFill>
                <a:latin typeface="Trebuchet MS"/>
                <a:cs typeface="Trebuchet MS"/>
              </a:rPr>
              <a:t>Control Strategy</a:t>
            </a:r>
            <a:endParaRPr sz="1600" dirty="0">
              <a:latin typeface="Trebuchet MS"/>
              <a:cs typeface="Trebuchet MS"/>
            </a:endParaRPr>
          </a:p>
          <a:p>
            <a:pPr marL="12700" marR="5080" algn="ctr">
              <a:lnSpc>
                <a:spcPct val="100000"/>
              </a:lnSpc>
              <a:spcBef>
                <a:spcPts val="1245"/>
              </a:spcBef>
            </a:pPr>
            <a:r>
              <a:rPr sz="1400" dirty="0">
                <a:solidFill>
                  <a:srgbClr val="FFFFFF"/>
                </a:solidFill>
                <a:latin typeface="Trebuchet MS"/>
                <a:cs typeface="Trebuchet MS"/>
              </a:rPr>
              <a:t>Implement PID controllers for precise active suspension performance.</a:t>
            </a:r>
            <a:endParaRPr sz="1400" dirty="0">
              <a:latin typeface="Trebuchet MS"/>
              <a:cs typeface="Trebuchet MS"/>
            </a:endParaRPr>
          </a:p>
        </p:txBody>
      </p:sp>
      <p:sp>
        <p:nvSpPr>
          <p:cNvPr id="31" name="object 31"/>
          <p:cNvSpPr txBox="1"/>
          <p:nvPr/>
        </p:nvSpPr>
        <p:spPr>
          <a:xfrm>
            <a:off x="6747382" y="4871783"/>
            <a:ext cx="1653539" cy="1520288"/>
          </a:xfrm>
          <a:prstGeom prst="rect">
            <a:avLst/>
          </a:prstGeom>
        </p:spPr>
        <p:txBody>
          <a:bodyPr vert="horz" wrap="square" lIns="0" tIns="12065" rIns="0" bIns="0" rtlCol="0">
            <a:spAutoFit/>
          </a:bodyPr>
          <a:lstStyle/>
          <a:p>
            <a:pPr marL="635" algn="ctr">
              <a:lnSpc>
                <a:spcPct val="100000"/>
              </a:lnSpc>
              <a:spcBef>
                <a:spcPts val="95"/>
              </a:spcBef>
            </a:pPr>
            <a:r>
              <a:rPr sz="1600" dirty="0">
                <a:solidFill>
                  <a:srgbClr val="FFFFFF"/>
                </a:solidFill>
                <a:latin typeface="Trebuchet MS"/>
                <a:cs typeface="Trebuchet MS"/>
              </a:rPr>
              <a:t>Simscape Simulation</a:t>
            </a:r>
            <a:endParaRPr sz="1600">
              <a:latin typeface="Trebuchet MS"/>
              <a:cs typeface="Trebuchet MS"/>
            </a:endParaRPr>
          </a:p>
          <a:p>
            <a:pPr marL="12065" marR="5080" algn="ctr">
              <a:lnSpc>
                <a:spcPct val="100000"/>
              </a:lnSpc>
              <a:spcBef>
                <a:spcPts val="1245"/>
              </a:spcBef>
            </a:pPr>
            <a:r>
              <a:rPr sz="1400" dirty="0">
                <a:solidFill>
                  <a:srgbClr val="FFFFFF"/>
                </a:solidFill>
                <a:latin typeface="Trebuchet MS"/>
                <a:cs typeface="Trebuchet MS"/>
              </a:rPr>
              <a:t>Validate suspension response through dynamic motion studies effectively.</a:t>
            </a:r>
            <a:endParaRPr sz="1400">
              <a:latin typeface="Trebuchet MS"/>
              <a:cs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936154"/>
          </a:xfrm>
          <a:prstGeom prst="rect">
            <a:avLst/>
          </a:prstGeom>
        </p:spPr>
        <p:txBody>
          <a:bodyPr vert="horz" wrap="square" lIns="0" tIns="12700" rIns="0" bIns="0" rtlCol="0">
            <a:spAutoFit/>
          </a:bodyPr>
          <a:lstStyle/>
          <a:p>
            <a:pPr marL="12700">
              <a:lnSpc>
                <a:spcPct val="100000"/>
              </a:lnSpc>
              <a:spcBef>
                <a:spcPts val="100"/>
              </a:spcBef>
            </a:pPr>
            <a:r>
              <a:rPr lang="en-US" dirty="0"/>
              <a:t>Electromechanical </a:t>
            </a:r>
            <a:r>
              <a:rPr dirty="0"/>
              <a:t>Active Suspension Systems</a:t>
            </a:r>
            <a:br>
              <a:rPr lang="en-US" dirty="0"/>
            </a:br>
            <a:r>
              <a:rPr lang="en-US" sz="2000" dirty="0"/>
              <a:t>how does it work?</a:t>
            </a:r>
            <a:endParaRPr dirty="0"/>
          </a:p>
        </p:txBody>
      </p:sp>
      <p:grpSp>
        <p:nvGrpSpPr>
          <p:cNvPr id="3" name="object 3"/>
          <p:cNvGrpSpPr/>
          <p:nvPr/>
        </p:nvGrpSpPr>
        <p:grpSpPr>
          <a:xfrm>
            <a:off x="0" y="1180439"/>
            <a:ext cx="9946474" cy="5678170"/>
            <a:chOff x="0" y="1180439"/>
            <a:chExt cx="9946474" cy="5678170"/>
          </a:xfrm>
        </p:grpSpPr>
        <p:sp>
          <p:nvSpPr>
            <p:cNvPr id="4" name="object 4"/>
            <p:cNvSpPr/>
            <p:nvPr/>
          </p:nvSpPr>
          <p:spPr>
            <a:xfrm>
              <a:off x="4820754" y="6188760"/>
              <a:ext cx="5125720" cy="262255"/>
            </a:xfrm>
            <a:custGeom>
              <a:avLst/>
              <a:gdLst/>
              <a:ahLst/>
              <a:cxnLst/>
              <a:rect l="l" t="t" r="r" b="b"/>
              <a:pathLst>
                <a:path w="5125720" h="262254">
                  <a:moveTo>
                    <a:pt x="5125681" y="0"/>
                  </a:moveTo>
                  <a:lnTo>
                    <a:pt x="0" y="0"/>
                  </a:lnTo>
                  <a:lnTo>
                    <a:pt x="0" y="262077"/>
                  </a:lnTo>
                  <a:lnTo>
                    <a:pt x="2562847" y="262077"/>
                  </a:lnTo>
                  <a:lnTo>
                    <a:pt x="5125681" y="262077"/>
                  </a:lnTo>
                  <a:lnTo>
                    <a:pt x="5125681" y="0"/>
                  </a:lnTo>
                  <a:close/>
                </a:path>
              </a:pathLst>
            </a:custGeom>
            <a:solidFill>
              <a:srgbClr val="453E31">
                <a:alpha val="92999"/>
              </a:srgbClr>
            </a:solidFill>
          </p:spPr>
          <p:txBody>
            <a:bodyPr wrap="square" lIns="0" tIns="0" rIns="0" bIns="0" rtlCol="0"/>
            <a:lstStyle/>
            <a:p>
              <a:endParaRPr/>
            </a:p>
          </p:txBody>
        </p:sp>
        <p:sp>
          <p:nvSpPr>
            <p:cNvPr id="6" name="object 6"/>
            <p:cNvSpPr/>
            <p:nvPr/>
          </p:nvSpPr>
          <p:spPr>
            <a:xfrm>
              <a:off x="83090" y="1241348"/>
              <a:ext cx="1882775" cy="702310"/>
            </a:xfrm>
            <a:custGeom>
              <a:avLst/>
              <a:gdLst/>
              <a:ahLst/>
              <a:cxnLst/>
              <a:rect l="l" t="t" r="r" b="b"/>
              <a:pathLst>
                <a:path w="1882775" h="702310">
                  <a:moveTo>
                    <a:pt x="1882432" y="0"/>
                  </a:moveTo>
                  <a:lnTo>
                    <a:pt x="0" y="0"/>
                  </a:lnTo>
                  <a:lnTo>
                    <a:pt x="0" y="702005"/>
                  </a:lnTo>
                  <a:lnTo>
                    <a:pt x="941400" y="702005"/>
                  </a:lnTo>
                  <a:lnTo>
                    <a:pt x="1882432" y="702005"/>
                  </a:lnTo>
                  <a:lnTo>
                    <a:pt x="1882432" y="0"/>
                  </a:lnTo>
                  <a:close/>
                </a:path>
              </a:pathLst>
            </a:custGeom>
            <a:solidFill>
              <a:srgbClr val="453E31">
                <a:alpha val="92999"/>
              </a:srgbClr>
            </a:solidFill>
          </p:spPr>
          <p:txBody>
            <a:bodyPr wrap="square" lIns="0" tIns="0" rIns="0" bIns="0" rtlCol="0"/>
            <a:lstStyle/>
            <a:p>
              <a:endParaRPr/>
            </a:p>
          </p:txBody>
        </p:sp>
        <p:sp>
          <p:nvSpPr>
            <p:cNvPr id="7" name="object 7"/>
            <p:cNvSpPr/>
            <p:nvPr/>
          </p:nvSpPr>
          <p:spPr>
            <a:xfrm>
              <a:off x="0" y="1180439"/>
              <a:ext cx="7963534" cy="5678170"/>
            </a:xfrm>
            <a:custGeom>
              <a:avLst/>
              <a:gdLst/>
              <a:ahLst/>
              <a:cxnLst/>
              <a:rect l="l" t="t" r="r" b="b"/>
              <a:pathLst>
                <a:path w="7963534" h="5678170">
                  <a:moveTo>
                    <a:pt x="7963204" y="532803"/>
                  </a:moveTo>
                  <a:lnTo>
                    <a:pt x="7963204" y="5677560"/>
                  </a:lnTo>
                </a:path>
                <a:path w="7963534" h="5678170">
                  <a:moveTo>
                    <a:pt x="0" y="0"/>
                  </a:moveTo>
                  <a:lnTo>
                    <a:pt x="2516403" y="0"/>
                  </a:lnTo>
                </a:path>
              </a:pathLst>
            </a:custGeom>
            <a:ln w="12599">
              <a:solidFill>
                <a:srgbClr val="FFFFFF"/>
              </a:solidFill>
            </a:ln>
          </p:spPr>
          <p:txBody>
            <a:bodyPr wrap="square" lIns="0" tIns="0" rIns="0" bIns="0" rtlCol="0"/>
            <a:lstStyle/>
            <a:p>
              <a:endParaRPr/>
            </a:p>
          </p:txBody>
        </p:sp>
        <p:sp>
          <p:nvSpPr>
            <p:cNvPr id="8" name="object 8"/>
            <p:cNvSpPr/>
            <p:nvPr/>
          </p:nvSpPr>
          <p:spPr>
            <a:xfrm>
              <a:off x="7760881" y="1540433"/>
              <a:ext cx="403225" cy="403225"/>
            </a:xfrm>
            <a:custGeom>
              <a:avLst/>
              <a:gdLst/>
              <a:ahLst/>
              <a:cxnLst/>
              <a:rect l="l" t="t" r="r" b="b"/>
              <a:pathLst>
                <a:path w="403225" h="403225">
                  <a:moveTo>
                    <a:pt x="201599" y="0"/>
                  </a:moveTo>
                  <a:lnTo>
                    <a:pt x="160921" y="4330"/>
                  </a:lnTo>
                  <a:lnTo>
                    <a:pt x="122034" y="16560"/>
                  </a:lnTo>
                  <a:lnTo>
                    <a:pt x="86398" y="36360"/>
                  </a:lnTo>
                  <a:lnTo>
                    <a:pt x="55435" y="63004"/>
                  </a:lnTo>
                  <a:lnTo>
                    <a:pt x="30594" y="95046"/>
                  </a:lnTo>
                  <a:lnTo>
                    <a:pt x="9359" y="141490"/>
                  </a:lnTo>
                  <a:lnTo>
                    <a:pt x="1512" y="180365"/>
                  </a:lnTo>
                  <a:lnTo>
                    <a:pt x="1435" y="181089"/>
                  </a:lnTo>
                  <a:lnTo>
                    <a:pt x="773" y="190804"/>
                  </a:lnTo>
                  <a:lnTo>
                    <a:pt x="723" y="191528"/>
                  </a:lnTo>
                  <a:lnTo>
                    <a:pt x="369" y="201244"/>
                  </a:lnTo>
                  <a:lnTo>
                    <a:pt x="355" y="201612"/>
                  </a:lnTo>
                  <a:lnTo>
                    <a:pt x="0" y="201612"/>
                  </a:lnTo>
                  <a:lnTo>
                    <a:pt x="343" y="211683"/>
                  </a:lnTo>
                  <a:lnTo>
                    <a:pt x="6743" y="253441"/>
                  </a:lnTo>
                  <a:lnTo>
                    <a:pt x="6832" y="253809"/>
                  </a:lnTo>
                  <a:lnTo>
                    <a:pt x="21958" y="293052"/>
                  </a:lnTo>
                  <a:lnTo>
                    <a:pt x="44996" y="328320"/>
                  </a:lnTo>
                  <a:lnTo>
                    <a:pt x="74879" y="357847"/>
                  </a:lnTo>
                  <a:lnTo>
                    <a:pt x="110159" y="380885"/>
                  </a:lnTo>
                  <a:lnTo>
                    <a:pt x="149402" y="396011"/>
                  </a:lnTo>
                  <a:lnTo>
                    <a:pt x="191160" y="402488"/>
                  </a:lnTo>
                  <a:lnTo>
                    <a:pt x="201599" y="402844"/>
                  </a:lnTo>
                  <a:lnTo>
                    <a:pt x="212039" y="402488"/>
                  </a:lnTo>
                  <a:lnTo>
                    <a:pt x="253796" y="396011"/>
                  </a:lnTo>
                  <a:lnTo>
                    <a:pt x="293039" y="380885"/>
                  </a:lnTo>
                  <a:lnTo>
                    <a:pt x="328320" y="357847"/>
                  </a:lnTo>
                  <a:lnTo>
                    <a:pt x="357835" y="327964"/>
                  </a:lnTo>
                  <a:lnTo>
                    <a:pt x="380873" y="292684"/>
                  </a:lnTo>
                  <a:lnTo>
                    <a:pt x="395893" y="253809"/>
                  </a:lnTo>
                  <a:lnTo>
                    <a:pt x="402450" y="212051"/>
                  </a:lnTo>
                  <a:lnTo>
                    <a:pt x="402844" y="201244"/>
                  </a:lnTo>
                  <a:lnTo>
                    <a:pt x="402501" y="191528"/>
                  </a:lnTo>
                  <a:lnTo>
                    <a:pt x="402475" y="190804"/>
                  </a:lnTo>
                  <a:lnTo>
                    <a:pt x="395998" y="149047"/>
                  </a:lnTo>
                  <a:lnTo>
                    <a:pt x="380873" y="109804"/>
                  </a:lnTo>
                  <a:lnTo>
                    <a:pt x="357835" y="74523"/>
                  </a:lnTo>
                  <a:lnTo>
                    <a:pt x="327964" y="45008"/>
                  </a:lnTo>
                  <a:lnTo>
                    <a:pt x="293039" y="21971"/>
                  </a:lnTo>
                  <a:lnTo>
                    <a:pt x="253796" y="6845"/>
                  </a:lnTo>
                  <a:lnTo>
                    <a:pt x="212039" y="368"/>
                  </a:lnTo>
                  <a:lnTo>
                    <a:pt x="201599" y="0"/>
                  </a:lnTo>
                  <a:close/>
                </a:path>
              </a:pathLst>
            </a:custGeom>
            <a:solidFill>
              <a:srgbClr val="222021"/>
            </a:solidFill>
          </p:spPr>
          <p:txBody>
            <a:bodyPr wrap="square" lIns="0" tIns="0" rIns="0" bIns="0" rtlCol="0"/>
            <a:lstStyle/>
            <a:p>
              <a:endParaRPr/>
            </a:p>
          </p:txBody>
        </p:sp>
        <p:sp>
          <p:nvSpPr>
            <p:cNvPr id="9" name="object 9"/>
            <p:cNvSpPr/>
            <p:nvPr/>
          </p:nvSpPr>
          <p:spPr>
            <a:xfrm>
              <a:off x="7760881" y="1540433"/>
              <a:ext cx="403225" cy="403225"/>
            </a:xfrm>
            <a:custGeom>
              <a:avLst/>
              <a:gdLst/>
              <a:ahLst/>
              <a:cxnLst/>
              <a:rect l="l" t="t" r="r" b="b"/>
              <a:pathLst>
                <a:path w="403225" h="403225">
                  <a:moveTo>
                    <a:pt x="355" y="201612"/>
                  </a:moveTo>
                  <a:lnTo>
                    <a:pt x="723" y="191528"/>
                  </a:lnTo>
                  <a:lnTo>
                    <a:pt x="1435" y="181089"/>
                  </a:lnTo>
                  <a:lnTo>
                    <a:pt x="9359" y="141490"/>
                  </a:lnTo>
                  <a:lnTo>
                    <a:pt x="25565" y="104051"/>
                  </a:lnTo>
                  <a:lnTo>
                    <a:pt x="48602" y="70561"/>
                  </a:lnTo>
                  <a:lnTo>
                    <a:pt x="78117" y="42481"/>
                  </a:lnTo>
                  <a:lnTo>
                    <a:pt x="112674" y="20891"/>
                  </a:lnTo>
                  <a:lnTo>
                    <a:pt x="151193" y="6489"/>
                  </a:lnTo>
                  <a:lnTo>
                    <a:pt x="191516" y="368"/>
                  </a:lnTo>
                  <a:lnTo>
                    <a:pt x="201599" y="0"/>
                  </a:lnTo>
                  <a:lnTo>
                    <a:pt x="243357" y="4330"/>
                  </a:lnTo>
                  <a:lnTo>
                    <a:pt x="283324" y="17284"/>
                  </a:lnTo>
                  <a:lnTo>
                    <a:pt x="319684" y="38531"/>
                  </a:lnTo>
                  <a:lnTo>
                    <a:pt x="351002" y="66611"/>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4"/>
                  </a:lnTo>
                  <a:lnTo>
                    <a:pt x="159842" y="398525"/>
                  </a:lnTo>
                  <a:lnTo>
                    <a:pt x="119519" y="385572"/>
                  </a:lnTo>
                  <a:lnTo>
                    <a:pt x="83159" y="364324"/>
                  </a:lnTo>
                  <a:lnTo>
                    <a:pt x="51841" y="336245"/>
                  </a:lnTo>
                  <a:lnTo>
                    <a:pt x="27000" y="302412"/>
                  </a:lnTo>
                  <a:lnTo>
                    <a:pt x="17640" y="283324"/>
                  </a:lnTo>
                  <a:lnTo>
                    <a:pt x="13322" y="273608"/>
                  </a:lnTo>
                  <a:lnTo>
                    <a:pt x="2514" y="232930"/>
                  </a:lnTo>
                  <a:lnTo>
                    <a:pt x="0" y="201612"/>
                  </a:lnTo>
                  <a:lnTo>
                    <a:pt x="355" y="201612"/>
                  </a:lnTo>
                  <a:close/>
                </a:path>
              </a:pathLst>
            </a:custGeom>
            <a:ln w="12599">
              <a:solidFill>
                <a:srgbClr val="FFFFFF"/>
              </a:solidFill>
            </a:ln>
          </p:spPr>
          <p:txBody>
            <a:bodyPr wrap="square" lIns="0" tIns="0" rIns="0" bIns="0" rtlCol="0"/>
            <a:lstStyle/>
            <a:p>
              <a:endParaRPr/>
            </a:p>
          </p:txBody>
        </p:sp>
      </p:grpSp>
      <p:sp>
        <p:nvSpPr>
          <p:cNvPr id="10" name="object 10"/>
          <p:cNvSpPr txBox="1"/>
          <p:nvPr/>
        </p:nvSpPr>
        <p:spPr>
          <a:xfrm>
            <a:off x="7914500" y="1624215"/>
            <a:ext cx="98425" cy="19749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Trebuchet MS"/>
                <a:cs typeface="Trebuchet MS"/>
              </a:rPr>
              <a:t>1</a:t>
            </a:r>
            <a:endParaRPr sz="1200">
              <a:latin typeface="Trebuchet MS"/>
              <a:cs typeface="Trebuchet MS"/>
            </a:endParaRPr>
          </a:p>
        </p:txBody>
      </p:sp>
      <p:grpSp>
        <p:nvGrpSpPr>
          <p:cNvPr id="11" name="object 11"/>
          <p:cNvGrpSpPr/>
          <p:nvPr/>
        </p:nvGrpSpPr>
        <p:grpSpPr>
          <a:xfrm>
            <a:off x="7754531" y="1706892"/>
            <a:ext cx="1149985" cy="2683510"/>
            <a:chOff x="7754531" y="1706892"/>
            <a:chExt cx="1149985" cy="2683510"/>
          </a:xfrm>
        </p:grpSpPr>
        <p:sp>
          <p:nvSpPr>
            <p:cNvPr id="12" name="object 12"/>
            <p:cNvSpPr/>
            <p:nvPr/>
          </p:nvSpPr>
          <p:spPr>
            <a:xfrm>
              <a:off x="8441283" y="1713242"/>
              <a:ext cx="457200" cy="53975"/>
            </a:xfrm>
            <a:custGeom>
              <a:avLst/>
              <a:gdLst/>
              <a:ahLst/>
              <a:cxnLst/>
              <a:rect l="l" t="t" r="r" b="b"/>
              <a:pathLst>
                <a:path w="457200" h="53975">
                  <a:moveTo>
                    <a:pt x="228600" y="53632"/>
                  </a:moveTo>
                  <a:lnTo>
                    <a:pt x="0" y="53632"/>
                  </a:lnTo>
                  <a:lnTo>
                    <a:pt x="0" y="0"/>
                  </a:lnTo>
                  <a:lnTo>
                    <a:pt x="456831" y="0"/>
                  </a:lnTo>
                  <a:lnTo>
                    <a:pt x="456831" y="53632"/>
                  </a:lnTo>
                  <a:lnTo>
                    <a:pt x="228600" y="53632"/>
                  </a:lnTo>
                  <a:close/>
                </a:path>
              </a:pathLst>
            </a:custGeom>
            <a:ln w="12599">
              <a:solidFill>
                <a:srgbClr val="FFFFFF"/>
              </a:solidFill>
            </a:ln>
          </p:spPr>
          <p:txBody>
            <a:bodyPr wrap="square" lIns="0" tIns="0" rIns="0" bIns="0" rtlCol="0"/>
            <a:lstStyle/>
            <a:p>
              <a:endParaRPr sz="1600"/>
            </a:p>
          </p:txBody>
        </p:sp>
        <p:sp>
          <p:nvSpPr>
            <p:cNvPr id="13" name="object 13"/>
            <p:cNvSpPr/>
            <p:nvPr/>
          </p:nvSpPr>
          <p:spPr>
            <a:xfrm>
              <a:off x="7760881" y="3980878"/>
              <a:ext cx="403225" cy="403225"/>
            </a:xfrm>
            <a:custGeom>
              <a:avLst/>
              <a:gdLst/>
              <a:ahLst/>
              <a:cxnLst/>
              <a:rect l="l" t="t" r="r" b="b"/>
              <a:pathLst>
                <a:path w="403225" h="403225">
                  <a:moveTo>
                    <a:pt x="201599" y="0"/>
                  </a:moveTo>
                  <a:lnTo>
                    <a:pt x="160921" y="4317"/>
                  </a:lnTo>
                  <a:lnTo>
                    <a:pt x="122034" y="16560"/>
                  </a:lnTo>
                  <a:lnTo>
                    <a:pt x="86398" y="36360"/>
                  </a:lnTo>
                  <a:lnTo>
                    <a:pt x="55435" y="63004"/>
                  </a:lnTo>
                  <a:lnTo>
                    <a:pt x="30594" y="95046"/>
                  </a:lnTo>
                  <a:lnTo>
                    <a:pt x="9359" y="141477"/>
                  </a:lnTo>
                  <a:lnTo>
                    <a:pt x="1511" y="180365"/>
                  </a:lnTo>
                  <a:lnTo>
                    <a:pt x="1435" y="181076"/>
                  </a:lnTo>
                  <a:lnTo>
                    <a:pt x="772" y="190804"/>
                  </a:lnTo>
                  <a:lnTo>
                    <a:pt x="723" y="191515"/>
                  </a:lnTo>
                  <a:lnTo>
                    <a:pt x="368" y="201244"/>
                  </a:lnTo>
                  <a:lnTo>
                    <a:pt x="355" y="201599"/>
                  </a:lnTo>
                  <a:lnTo>
                    <a:pt x="0" y="201599"/>
                  </a:lnTo>
                  <a:lnTo>
                    <a:pt x="343" y="211683"/>
                  </a:lnTo>
                  <a:lnTo>
                    <a:pt x="6746" y="253441"/>
                  </a:lnTo>
                  <a:lnTo>
                    <a:pt x="21958" y="293039"/>
                  </a:lnTo>
                  <a:lnTo>
                    <a:pt x="44996" y="328320"/>
                  </a:lnTo>
                  <a:lnTo>
                    <a:pt x="74879" y="357835"/>
                  </a:lnTo>
                  <a:lnTo>
                    <a:pt x="110159" y="380885"/>
                  </a:lnTo>
                  <a:lnTo>
                    <a:pt x="149402" y="395998"/>
                  </a:lnTo>
                  <a:lnTo>
                    <a:pt x="191160" y="402475"/>
                  </a:lnTo>
                  <a:lnTo>
                    <a:pt x="201599" y="402843"/>
                  </a:lnTo>
                  <a:lnTo>
                    <a:pt x="212039" y="402475"/>
                  </a:lnTo>
                  <a:lnTo>
                    <a:pt x="253796" y="395998"/>
                  </a:lnTo>
                  <a:lnTo>
                    <a:pt x="293039" y="380885"/>
                  </a:lnTo>
                  <a:lnTo>
                    <a:pt x="328320" y="357835"/>
                  </a:lnTo>
                  <a:lnTo>
                    <a:pt x="357835" y="327964"/>
                  </a:lnTo>
                  <a:lnTo>
                    <a:pt x="380873" y="292684"/>
                  </a:lnTo>
                  <a:lnTo>
                    <a:pt x="395897" y="253796"/>
                  </a:lnTo>
                  <a:lnTo>
                    <a:pt x="395998" y="253441"/>
                  </a:lnTo>
                  <a:lnTo>
                    <a:pt x="398427" y="243357"/>
                  </a:lnTo>
                  <a:lnTo>
                    <a:pt x="398513" y="243001"/>
                  </a:lnTo>
                  <a:lnTo>
                    <a:pt x="400316" y="232917"/>
                  </a:lnTo>
                  <a:lnTo>
                    <a:pt x="401716" y="222478"/>
                  </a:lnTo>
                  <a:lnTo>
                    <a:pt x="401764" y="222122"/>
                  </a:lnTo>
                  <a:lnTo>
                    <a:pt x="402451" y="212039"/>
                  </a:lnTo>
                  <a:lnTo>
                    <a:pt x="402831" y="201599"/>
                  </a:lnTo>
                  <a:lnTo>
                    <a:pt x="402844" y="201244"/>
                  </a:lnTo>
                  <a:lnTo>
                    <a:pt x="402500" y="191515"/>
                  </a:lnTo>
                  <a:lnTo>
                    <a:pt x="395998" y="149047"/>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sz="1600"/>
            </a:p>
          </p:txBody>
        </p:sp>
        <p:sp>
          <p:nvSpPr>
            <p:cNvPr id="14" name="object 14"/>
            <p:cNvSpPr/>
            <p:nvPr/>
          </p:nvSpPr>
          <p:spPr>
            <a:xfrm>
              <a:off x="7760881" y="3980878"/>
              <a:ext cx="403225" cy="403225"/>
            </a:xfrm>
            <a:custGeom>
              <a:avLst/>
              <a:gdLst/>
              <a:ahLst/>
              <a:cxnLst/>
              <a:rect l="l" t="t" r="r" b="b"/>
              <a:pathLst>
                <a:path w="403225" h="403225">
                  <a:moveTo>
                    <a:pt x="355" y="201599"/>
                  </a:moveTo>
                  <a:lnTo>
                    <a:pt x="723" y="191515"/>
                  </a:lnTo>
                  <a:lnTo>
                    <a:pt x="1435" y="181076"/>
                  </a:lnTo>
                  <a:lnTo>
                    <a:pt x="9359" y="141477"/>
                  </a:lnTo>
                  <a:lnTo>
                    <a:pt x="25565" y="104038"/>
                  </a:lnTo>
                  <a:lnTo>
                    <a:pt x="42481" y="78485"/>
                  </a:lnTo>
                  <a:lnTo>
                    <a:pt x="48602" y="70561"/>
                  </a:lnTo>
                  <a:lnTo>
                    <a:pt x="78117" y="42481"/>
                  </a:lnTo>
                  <a:lnTo>
                    <a:pt x="112674" y="20878"/>
                  </a:lnTo>
                  <a:lnTo>
                    <a:pt x="151193" y="6476"/>
                  </a:lnTo>
                  <a:lnTo>
                    <a:pt x="191516" y="355"/>
                  </a:lnTo>
                  <a:lnTo>
                    <a:pt x="201599" y="0"/>
                  </a:lnTo>
                  <a:lnTo>
                    <a:pt x="243357" y="4317"/>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3"/>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sz="1600"/>
            </a:p>
          </p:txBody>
        </p:sp>
      </p:grpSp>
      <p:sp>
        <p:nvSpPr>
          <p:cNvPr id="15" name="object 15"/>
          <p:cNvSpPr txBox="1"/>
          <p:nvPr/>
        </p:nvSpPr>
        <p:spPr>
          <a:xfrm>
            <a:off x="9101137" y="830144"/>
            <a:ext cx="2678430" cy="2991203"/>
          </a:xfrm>
          <a:prstGeom prst="rect">
            <a:avLst/>
          </a:prstGeom>
        </p:spPr>
        <p:txBody>
          <a:bodyPr vert="horz" wrap="square" lIns="0" tIns="145415" rIns="0" bIns="0" rtlCol="0">
            <a:spAutoFit/>
          </a:bodyPr>
          <a:lstStyle/>
          <a:p>
            <a:pPr marL="12700">
              <a:lnSpc>
                <a:spcPct val="100000"/>
              </a:lnSpc>
              <a:spcBef>
                <a:spcPts val="1145"/>
              </a:spcBef>
            </a:pPr>
            <a:r>
              <a:rPr sz="1600" dirty="0">
                <a:solidFill>
                  <a:srgbClr val="FFFFFF"/>
                </a:solidFill>
                <a:latin typeface="Trebuchet MS"/>
                <a:cs typeface="Trebuchet MS"/>
              </a:rPr>
              <a:t>Performance</a:t>
            </a:r>
            <a:endParaRPr lang="en-US" sz="1600" dirty="0">
              <a:solidFill>
                <a:srgbClr val="FFFFFF"/>
              </a:solidFill>
              <a:latin typeface="Trebuchet MS"/>
              <a:cs typeface="Trebuchet MS"/>
            </a:endParaRPr>
          </a:p>
          <a:p>
            <a:pPr marL="12700" marR="5080">
              <a:lnSpc>
                <a:spcPct val="99800"/>
              </a:lnSpc>
              <a:spcBef>
                <a:spcPts val="100"/>
              </a:spcBef>
            </a:pPr>
            <a:r>
              <a:rPr lang="en-US" sz="1400" dirty="0">
                <a:solidFill>
                  <a:srgbClr val="FFFFFF"/>
                </a:solidFill>
                <a:latin typeface="Trebuchet MS"/>
                <a:cs typeface="Trebuchet MS"/>
              </a:rPr>
              <a:t>Active suspension systems enhance vehicle performance by independently adjusting forces between sprung and </a:t>
            </a:r>
            <a:r>
              <a:rPr lang="en-US" sz="1400" dirty="0" err="1">
                <a:solidFill>
                  <a:srgbClr val="FFFFFF"/>
                </a:solidFill>
                <a:latin typeface="Trebuchet MS"/>
                <a:cs typeface="Trebuchet MS"/>
              </a:rPr>
              <a:t>unsprung</a:t>
            </a:r>
            <a:r>
              <a:rPr lang="en-US" sz="1400" dirty="0">
                <a:solidFill>
                  <a:srgbClr val="FFFFFF"/>
                </a:solidFill>
                <a:latin typeface="Trebuchet MS"/>
                <a:cs typeface="Trebuchet MS"/>
              </a:rPr>
              <a:t> masses. These systems leverage advanced electromechanical actuators and control algorithms to significantly improve ride comfort, stability, and handling characteristics in modern automotive engineering applications.</a:t>
            </a:r>
            <a:endParaRPr lang="en-US" sz="1400" dirty="0">
              <a:latin typeface="Trebuchet MS"/>
              <a:cs typeface="Trebuchet MS"/>
            </a:endParaRPr>
          </a:p>
        </p:txBody>
      </p:sp>
      <p:sp>
        <p:nvSpPr>
          <p:cNvPr id="16" name="object 16"/>
          <p:cNvSpPr txBox="1"/>
          <p:nvPr/>
        </p:nvSpPr>
        <p:spPr>
          <a:xfrm>
            <a:off x="7914500" y="4063936"/>
            <a:ext cx="98425" cy="19749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Trebuchet MS"/>
                <a:cs typeface="Trebuchet MS"/>
              </a:rPr>
              <a:t>2</a:t>
            </a:r>
            <a:endParaRPr sz="1200">
              <a:latin typeface="Trebuchet MS"/>
              <a:cs typeface="Trebuchet MS"/>
            </a:endParaRPr>
          </a:p>
        </p:txBody>
      </p:sp>
      <p:sp>
        <p:nvSpPr>
          <p:cNvPr id="17" name="object 17"/>
          <p:cNvSpPr/>
          <p:nvPr/>
        </p:nvSpPr>
        <p:spPr>
          <a:xfrm>
            <a:off x="8441283" y="4153674"/>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sz="1600"/>
          </a:p>
        </p:txBody>
      </p:sp>
      <p:sp>
        <p:nvSpPr>
          <p:cNvPr id="18" name="object 18"/>
          <p:cNvSpPr txBox="1"/>
          <p:nvPr/>
        </p:nvSpPr>
        <p:spPr>
          <a:xfrm>
            <a:off x="9067800" y="3949588"/>
            <a:ext cx="2606040" cy="2227533"/>
          </a:xfrm>
          <a:prstGeom prst="rect">
            <a:avLst/>
          </a:prstGeom>
        </p:spPr>
        <p:txBody>
          <a:bodyPr vert="horz" wrap="square" lIns="0" tIns="140970" rIns="0" bIns="0" rtlCol="0">
            <a:spAutoFit/>
          </a:bodyPr>
          <a:lstStyle/>
          <a:p>
            <a:pPr marL="12700">
              <a:lnSpc>
                <a:spcPct val="100000"/>
              </a:lnSpc>
              <a:spcBef>
                <a:spcPts val="1110"/>
              </a:spcBef>
            </a:pPr>
            <a:r>
              <a:rPr lang="en-US" sz="1600" dirty="0">
                <a:solidFill>
                  <a:srgbClr val="FFFFFF"/>
                </a:solidFill>
                <a:latin typeface="Trebuchet MS"/>
                <a:cs typeface="Trebuchet MS"/>
              </a:rPr>
              <a:t>Control unit</a:t>
            </a:r>
            <a:endParaRPr sz="1600" dirty="0">
              <a:latin typeface="Trebuchet MS"/>
              <a:cs typeface="Trebuchet MS"/>
            </a:endParaRPr>
          </a:p>
          <a:p>
            <a:pPr marL="12700" marR="5080">
              <a:lnSpc>
                <a:spcPct val="100000"/>
              </a:lnSpc>
              <a:spcBef>
                <a:spcPts val="900"/>
              </a:spcBef>
            </a:pPr>
            <a:r>
              <a:rPr lang="en-US" sz="1400" dirty="0">
                <a:solidFill>
                  <a:schemeClr val="bg1"/>
                </a:solidFill>
              </a:rPr>
              <a:t>This system uses a DC motor connected to a lead screw to convert electrical energy into linear motion. Controlled by sensors and a computer, it adjusts the suspension height and stiffness based on driving conditions.</a:t>
            </a:r>
            <a:endParaRPr sz="1400" dirty="0">
              <a:solidFill>
                <a:schemeClr val="bg1"/>
              </a:solidFill>
              <a:latin typeface="Trebuchet MS"/>
              <a:cs typeface="Trebuchet MS"/>
            </a:endParaRPr>
          </a:p>
        </p:txBody>
      </p:sp>
      <p:pic>
        <p:nvPicPr>
          <p:cNvPr id="19" name="Picture 18">
            <a:extLst>
              <a:ext uri="{FF2B5EF4-FFF2-40B4-BE49-F238E27FC236}">
                <a16:creationId xmlns:a16="http://schemas.microsoft.com/office/drawing/2014/main" id="{DEF78E60-F4E0-1D16-504F-89D790F1A3B7}"/>
              </a:ext>
            </a:extLst>
          </p:cNvPr>
          <p:cNvPicPr>
            <a:picLocks noChangeAspect="1"/>
          </p:cNvPicPr>
          <p:nvPr/>
        </p:nvPicPr>
        <p:blipFill>
          <a:blip r:embed="rId2"/>
          <a:stretch>
            <a:fillRect/>
          </a:stretch>
        </p:blipFill>
        <p:spPr>
          <a:xfrm>
            <a:off x="2709272" y="1075719"/>
            <a:ext cx="4171727" cy="53652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594" y="12"/>
            <a:ext cx="12186285" cy="4341495"/>
            <a:chOff x="3594" y="12"/>
            <a:chExt cx="12186285" cy="4341495"/>
          </a:xfrm>
        </p:grpSpPr>
        <p:pic>
          <p:nvPicPr>
            <p:cNvPr id="3" name="object 3"/>
            <p:cNvPicPr/>
            <p:nvPr/>
          </p:nvPicPr>
          <p:blipFill>
            <a:blip r:embed="rId2" cstate="print"/>
            <a:stretch>
              <a:fillRect/>
            </a:stretch>
          </p:blipFill>
          <p:spPr>
            <a:xfrm>
              <a:off x="3594" y="12"/>
              <a:ext cx="12186005" cy="3099231"/>
            </a:xfrm>
            <a:prstGeom prst="rect">
              <a:avLst/>
            </a:prstGeom>
          </p:spPr>
        </p:pic>
        <p:sp>
          <p:nvSpPr>
            <p:cNvPr id="4" name="object 4"/>
            <p:cNvSpPr/>
            <p:nvPr/>
          </p:nvSpPr>
          <p:spPr>
            <a:xfrm>
              <a:off x="338404" y="2609634"/>
              <a:ext cx="1414145" cy="1731645"/>
            </a:xfrm>
            <a:custGeom>
              <a:avLst/>
              <a:gdLst/>
              <a:ahLst/>
              <a:cxnLst/>
              <a:rect l="l" t="t" r="r" b="b"/>
              <a:pathLst>
                <a:path w="1414145" h="1731645">
                  <a:moveTo>
                    <a:pt x="1414081" y="0"/>
                  </a:moveTo>
                  <a:lnTo>
                    <a:pt x="0" y="0"/>
                  </a:lnTo>
                  <a:lnTo>
                    <a:pt x="0" y="1731606"/>
                  </a:lnTo>
                  <a:lnTo>
                    <a:pt x="707034" y="1731606"/>
                  </a:lnTo>
                  <a:lnTo>
                    <a:pt x="1414081" y="1731606"/>
                  </a:lnTo>
                  <a:lnTo>
                    <a:pt x="1414081" y="0"/>
                  </a:lnTo>
                  <a:close/>
                </a:path>
              </a:pathLst>
            </a:custGeom>
            <a:solidFill>
              <a:srgbClr val="453E31">
                <a:alpha val="92999"/>
              </a:srgbClr>
            </a:solidFill>
          </p:spPr>
          <p:txBody>
            <a:bodyPr wrap="square" lIns="0" tIns="0" rIns="0" bIns="0" rtlCol="0"/>
            <a:lstStyle/>
            <a:p>
              <a:endParaRPr/>
            </a:p>
          </p:txBody>
        </p:sp>
      </p:grpSp>
      <p:sp>
        <p:nvSpPr>
          <p:cNvPr id="5" name="object 5"/>
          <p:cNvSpPr txBox="1"/>
          <p:nvPr/>
        </p:nvSpPr>
        <p:spPr>
          <a:xfrm>
            <a:off x="152400" y="3341283"/>
            <a:ext cx="5187315" cy="443711"/>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FFFFFF"/>
                </a:solidFill>
                <a:latin typeface="Trebuchet MS"/>
                <a:cs typeface="Trebuchet MS"/>
              </a:rPr>
              <a:t>Active Suspension Key Elements</a:t>
            </a:r>
            <a:endParaRPr sz="2800" dirty="0">
              <a:latin typeface="Trebuchet MS"/>
              <a:cs typeface="Trebuchet MS"/>
            </a:endParaRPr>
          </a:p>
        </p:txBody>
      </p:sp>
      <p:sp>
        <p:nvSpPr>
          <p:cNvPr id="6" name="object 6"/>
          <p:cNvSpPr/>
          <p:nvPr/>
        </p:nvSpPr>
        <p:spPr>
          <a:xfrm>
            <a:off x="1345882" y="3962400"/>
            <a:ext cx="1400175" cy="0"/>
          </a:xfrm>
          <a:custGeom>
            <a:avLst/>
            <a:gdLst/>
            <a:ahLst/>
            <a:cxnLst/>
            <a:rect l="l" t="t" r="r" b="b"/>
            <a:pathLst>
              <a:path w="1400175">
                <a:moveTo>
                  <a:pt x="1400035" y="0"/>
                </a:moveTo>
                <a:lnTo>
                  <a:pt x="0" y="0"/>
                </a:lnTo>
              </a:path>
            </a:pathLst>
          </a:custGeom>
          <a:ln w="12599">
            <a:solidFill>
              <a:srgbClr val="FFFFFF"/>
            </a:solidFill>
          </a:ln>
        </p:spPr>
        <p:txBody>
          <a:bodyPr wrap="square" lIns="0" tIns="0" rIns="0" bIns="0" rtlCol="0"/>
          <a:lstStyle/>
          <a:p>
            <a:endParaRPr/>
          </a:p>
        </p:txBody>
      </p:sp>
      <p:sp>
        <p:nvSpPr>
          <p:cNvPr id="7" name="object 7"/>
          <p:cNvSpPr txBox="1"/>
          <p:nvPr/>
        </p:nvSpPr>
        <p:spPr>
          <a:xfrm>
            <a:off x="261620" y="4517542"/>
            <a:ext cx="2390775" cy="84963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Mechanical Arms</a:t>
            </a:r>
            <a:endParaRPr sz="1800" dirty="0">
              <a:latin typeface="Trebuchet MS"/>
              <a:cs typeface="Trebuchet MS"/>
            </a:endParaRPr>
          </a:p>
          <a:p>
            <a:pPr marL="12700" marR="5080">
              <a:lnSpc>
                <a:spcPts val="1550"/>
              </a:lnSpc>
              <a:spcBef>
                <a:spcPts val="1280"/>
              </a:spcBef>
            </a:pPr>
            <a:r>
              <a:rPr sz="1300" dirty="0">
                <a:solidFill>
                  <a:srgbClr val="FFFFFF"/>
                </a:solidFill>
                <a:latin typeface="Trebuchet MS"/>
                <a:cs typeface="Trebuchet MS"/>
              </a:rPr>
              <a:t>Connect wheel movement to vehicle body for stability.</a:t>
            </a:r>
            <a:endParaRPr sz="1300" dirty="0">
              <a:latin typeface="Trebuchet MS"/>
              <a:cs typeface="Trebuchet MS"/>
            </a:endParaRPr>
          </a:p>
        </p:txBody>
      </p:sp>
      <p:sp>
        <p:nvSpPr>
          <p:cNvPr id="8" name="object 8"/>
          <p:cNvSpPr txBox="1"/>
          <p:nvPr/>
        </p:nvSpPr>
        <p:spPr>
          <a:xfrm>
            <a:off x="3277704" y="4517542"/>
            <a:ext cx="2477770" cy="84963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Springs</a:t>
            </a:r>
            <a:endParaRPr sz="1800">
              <a:latin typeface="Trebuchet MS"/>
              <a:cs typeface="Trebuchet MS"/>
            </a:endParaRPr>
          </a:p>
          <a:p>
            <a:pPr marL="12700" marR="5080">
              <a:lnSpc>
                <a:spcPts val="1550"/>
              </a:lnSpc>
              <a:spcBef>
                <a:spcPts val="1280"/>
              </a:spcBef>
            </a:pPr>
            <a:r>
              <a:rPr sz="1300" dirty="0">
                <a:solidFill>
                  <a:srgbClr val="FFFFFF"/>
                </a:solidFill>
                <a:latin typeface="Trebuchet MS"/>
                <a:cs typeface="Trebuchet MS"/>
              </a:rPr>
              <a:t>Absorb shocks while maintaining vehicle height for comfort.</a:t>
            </a:r>
            <a:endParaRPr sz="1300">
              <a:latin typeface="Trebuchet MS"/>
              <a:cs typeface="Trebuchet MS"/>
            </a:endParaRPr>
          </a:p>
        </p:txBody>
      </p:sp>
      <p:sp>
        <p:nvSpPr>
          <p:cNvPr id="9" name="object 9"/>
          <p:cNvSpPr txBox="1"/>
          <p:nvPr/>
        </p:nvSpPr>
        <p:spPr>
          <a:xfrm>
            <a:off x="6294145" y="4517542"/>
            <a:ext cx="2374265" cy="84963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Dampers</a:t>
            </a:r>
            <a:endParaRPr sz="1800">
              <a:latin typeface="Trebuchet MS"/>
              <a:cs typeface="Trebuchet MS"/>
            </a:endParaRPr>
          </a:p>
          <a:p>
            <a:pPr marL="12700" marR="5080">
              <a:lnSpc>
                <a:spcPts val="1550"/>
              </a:lnSpc>
              <a:spcBef>
                <a:spcPts val="1280"/>
              </a:spcBef>
            </a:pPr>
            <a:r>
              <a:rPr sz="1300" dirty="0">
                <a:solidFill>
                  <a:srgbClr val="FFFFFF"/>
                </a:solidFill>
                <a:latin typeface="Trebuchet MS"/>
                <a:cs typeface="Trebuchet MS"/>
              </a:rPr>
              <a:t>Control oscillations to provide smooth vehicle dynamics.</a:t>
            </a:r>
            <a:endParaRPr sz="1300">
              <a:latin typeface="Trebuchet MS"/>
              <a:cs typeface="Trebuchet MS"/>
            </a:endParaRPr>
          </a:p>
        </p:txBody>
      </p:sp>
      <p:sp>
        <p:nvSpPr>
          <p:cNvPr id="10" name="object 10"/>
          <p:cNvSpPr txBox="1"/>
          <p:nvPr/>
        </p:nvSpPr>
        <p:spPr>
          <a:xfrm>
            <a:off x="9310217" y="4517542"/>
            <a:ext cx="2134870" cy="1059072"/>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Actuators</a:t>
            </a:r>
            <a:endParaRPr sz="1800">
              <a:latin typeface="Trebuchet MS"/>
              <a:cs typeface="Trebuchet MS"/>
            </a:endParaRPr>
          </a:p>
          <a:p>
            <a:pPr marL="12700" marR="5080">
              <a:lnSpc>
                <a:spcPts val="1550"/>
              </a:lnSpc>
              <a:spcBef>
                <a:spcPts val="1280"/>
              </a:spcBef>
            </a:pPr>
            <a:r>
              <a:rPr sz="1300" dirty="0">
                <a:solidFill>
                  <a:srgbClr val="FFFFFF"/>
                </a:solidFill>
                <a:latin typeface="Trebuchet MS"/>
                <a:cs typeface="Trebuchet MS"/>
              </a:rPr>
              <a:t>Adjust forces actively to respond to road conditions rapidly.</a:t>
            </a:r>
            <a:endParaRPr sz="1300">
              <a:latin typeface="Trebuchet MS"/>
              <a:cs typeface="Trebuchet MS"/>
            </a:endParaRPr>
          </a:p>
        </p:txBody>
      </p:sp>
      <p:sp>
        <p:nvSpPr>
          <p:cNvPr id="11" name="object 11"/>
          <p:cNvSpPr txBox="1"/>
          <p:nvPr/>
        </p:nvSpPr>
        <p:spPr>
          <a:xfrm>
            <a:off x="261620" y="5666663"/>
            <a:ext cx="2265045" cy="1043876"/>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Control Algorithm</a:t>
            </a:r>
            <a:endParaRPr sz="1800">
              <a:latin typeface="Trebuchet MS"/>
              <a:cs typeface="Trebuchet MS"/>
            </a:endParaRPr>
          </a:p>
          <a:p>
            <a:pPr marL="12700" marR="5080">
              <a:lnSpc>
                <a:spcPct val="100000"/>
              </a:lnSpc>
              <a:spcBef>
                <a:spcPts val="1210"/>
              </a:spcBef>
            </a:pPr>
            <a:r>
              <a:rPr sz="1300" dirty="0">
                <a:solidFill>
                  <a:srgbClr val="FFFFFF"/>
                </a:solidFill>
                <a:latin typeface="Trebuchet MS"/>
                <a:cs typeface="Trebuchet MS"/>
              </a:rPr>
              <a:t>Implement real-time processing for optimal suspension adjustment.</a:t>
            </a:r>
            <a:endParaRPr sz="1300">
              <a:latin typeface="Trebuchet MS"/>
              <a:cs typeface="Trebuchet MS"/>
            </a:endParaRPr>
          </a:p>
        </p:txBody>
      </p:sp>
      <p:sp>
        <p:nvSpPr>
          <p:cNvPr id="12" name="object 12"/>
          <p:cNvSpPr txBox="1"/>
          <p:nvPr/>
        </p:nvSpPr>
        <p:spPr>
          <a:xfrm>
            <a:off x="3277704" y="5666663"/>
            <a:ext cx="2594610" cy="85026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Sensors</a:t>
            </a:r>
            <a:endParaRPr sz="1800">
              <a:latin typeface="Trebuchet MS"/>
              <a:cs typeface="Trebuchet MS"/>
            </a:endParaRPr>
          </a:p>
          <a:p>
            <a:pPr marL="12700" marR="5080">
              <a:lnSpc>
                <a:spcPct val="100000"/>
              </a:lnSpc>
              <a:spcBef>
                <a:spcPts val="1210"/>
              </a:spcBef>
            </a:pPr>
            <a:r>
              <a:rPr sz="1300" dirty="0">
                <a:solidFill>
                  <a:srgbClr val="FFFFFF"/>
                </a:solidFill>
                <a:latin typeface="Trebuchet MS"/>
                <a:cs typeface="Trebuchet MS"/>
              </a:rPr>
              <a:t>Provide data for monitoring vehicle dynamics and feedback.</a:t>
            </a:r>
            <a:endParaRPr sz="1300">
              <a:latin typeface="Trebuchet MS"/>
              <a:cs typeface="Trebuchet MS"/>
            </a:endParaRPr>
          </a:p>
        </p:txBody>
      </p:sp>
      <p:sp>
        <p:nvSpPr>
          <p:cNvPr id="13" name="object 13"/>
          <p:cNvSpPr txBox="1"/>
          <p:nvPr/>
        </p:nvSpPr>
        <p:spPr>
          <a:xfrm>
            <a:off x="6294145" y="5666663"/>
            <a:ext cx="2103755" cy="85026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Energy Management</a:t>
            </a:r>
            <a:endParaRPr sz="1800">
              <a:latin typeface="Trebuchet MS"/>
              <a:cs typeface="Trebuchet MS"/>
            </a:endParaRPr>
          </a:p>
          <a:p>
            <a:pPr marL="12700" marR="5080">
              <a:lnSpc>
                <a:spcPct val="100000"/>
              </a:lnSpc>
              <a:spcBef>
                <a:spcPts val="1210"/>
              </a:spcBef>
            </a:pPr>
            <a:r>
              <a:rPr sz="1300" dirty="0">
                <a:solidFill>
                  <a:srgbClr val="FFFFFF"/>
                </a:solidFill>
                <a:latin typeface="Trebuchet MS"/>
                <a:cs typeface="Trebuchet MS"/>
              </a:rPr>
              <a:t>Ensure efficient use of energy in system operation.</a:t>
            </a:r>
            <a:endParaRPr sz="1300">
              <a:latin typeface="Trebuchet MS"/>
              <a:cs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112" y="-21705"/>
            <a:ext cx="12192000" cy="6858000"/>
          </a:xfrm>
          <a:custGeom>
            <a:avLst/>
            <a:gdLst/>
            <a:ahLst/>
            <a:cxnLst/>
            <a:rect l="l" t="t" r="r" b="b"/>
            <a:pathLst>
              <a:path w="12192000" h="6858000">
                <a:moveTo>
                  <a:pt x="12191758" y="0"/>
                </a:moveTo>
                <a:lnTo>
                  <a:pt x="0" y="0"/>
                </a:lnTo>
                <a:lnTo>
                  <a:pt x="0" y="6857644"/>
                </a:lnTo>
                <a:lnTo>
                  <a:pt x="12191758" y="6857644"/>
                </a:lnTo>
                <a:lnTo>
                  <a:pt x="12191758" y="0"/>
                </a:lnTo>
                <a:close/>
              </a:path>
            </a:pathLst>
          </a:custGeom>
          <a:solidFill>
            <a:srgbClr val="222021"/>
          </a:solidFill>
        </p:spPr>
        <p:txBody>
          <a:bodyPr wrap="square" lIns="0" tIns="0" rIns="0" bIns="0" rtlCol="0"/>
          <a:lstStyle/>
          <a:p>
            <a:endParaRPr dirty="0"/>
          </a:p>
        </p:txBody>
      </p:sp>
      <p:pic>
        <p:nvPicPr>
          <p:cNvPr id="16" name="Picture 15">
            <a:extLst>
              <a:ext uri="{FF2B5EF4-FFF2-40B4-BE49-F238E27FC236}">
                <a16:creationId xmlns:a16="http://schemas.microsoft.com/office/drawing/2014/main" id="{582EA08A-C255-8FDB-D06A-34C7ECFEA6B8}"/>
              </a:ext>
            </a:extLst>
          </p:cNvPr>
          <p:cNvPicPr>
            <a:picLocks noChangeAspect="1"/>
          </p:cNvPicPr>
          <p:nvPr/>
        </p:nvPicPr>
        <p:blipFill>
          <a:blip r:embed="rId2"/>
          <a:stretch>
            <a:fillRect/>
          </a:stretch>
        </p:blipFill>
        <p:spPr>
          <a:xfrm>
            <a:off x="1566814" y="208899"/>
            <a:ext cx="9058371" cy="3420963"/>
          </a:xfrm>
          <a:prstGeom prst="rect">
            <a:avLst/>
          </a:prstGeom>
        </p:spPr>
      </p:pic>
      <p:sp>
        <p:nvSpPr>
          <p:cNvPr id="5" name="object 5"/>
          <p:cNvSpPr/>
          <p:nvPr/>
        </p:nvSpPr>
        <p:spPr>
          <a:xfrm>
            <a:off x="741749" y="1266345"/>
            <a:ext cx="1414145" cy="3312160"/>
          </a:xfrm>
          <a:custGeom>
            <a:avLst/>
            <a:gdLst/>
            <a:ahLst/>
            <a:cxnLst/>
            <a:rect l="l" t="t" r="r" b="b"/>
            <a:pathLst>
              <a:path w="1414145" h="3312160">
                <a:moveTo>
                  <a:pt x="1414068" y="0"/>
                </a:moveTo>
                <a:lnTo>
                  <a:pt x="0" y="0"/>
                </a:lnTo>
                <a:lnTo>
                  <a:pt x="0" y="3311639"/>
                </a:lnTo>
                <a:lnTo>
                  <a:pt x="707034" y="3311639"/>
                </a:lnTo>
                <a:lnTo>
                  <a:pt x="1414068" y="3311639"/>
                </a:lnTo>
                <a:lnTo>
                  <a:pt x="1414068" y="0"/>
                </a:lnTo>
                <a:close/>
              </a:path>
            </a:pathLst>
          </a:custGeom>
          <a:solidFill>
            <a:srgbClr val="453E31">
              <a:alpha val="92999"/>
            </a:srgbClr>
          </a:solidFill>
        </p:spPr>
        <p:txBody>
          <a:bodyPr wrap="square" lIns="0" tIns="0" rIns="0" bIns="0" rtlCol="0"/>
          <a:lstStyle/>
          <a:p>
            <a:endParaRPr/>
          </a:p>
        </p:txBody>
      </p:sp>
      <p:sp>
        <p:nvSpPr>
          <p:cNvPr id="6" name="object 6"/>
          <p:cNvSpPr txBox="1"/>
          <p:nvPr/>
        </p:nvSpPr>
        <p:spPr>
          <a:xfrm>
            <a:off x="741749" y="3734847"/>
            <a:ext cx="3164840" cy="443711"/>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FFFFFF"/>
                </a:solidFill>
                <a:latin typeface="Trebuchet MS"/>
                <a:cs typeface="Trebuchet MS"/>
              </a:rPr>
              <a:t>Hardware Elements</a:t>
            </a:r>
            <a:endParaRPr sz="2800" dirty="0">
              <a:latin typeface="Trebuchet MS"/>
              <a:cs typeface="Trebuchet MS"/>
            </a:endParaRPr>
          </a:p>
        </p:txBody>
      </p:sp>
      <p:sp>
        <p:nvSpPr>
          <p:cNvPr id="7" name="object 7"/>
          <p:cNvSpPr txBox="1"/>
          <p:nvPr/>
        </p:nvSpPr>
        <p:spPr>
          <a:xfrm>
            <a:off x="250101" y="5532018"/>
            <a:ext cx="3340735" cy="880744"/>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Actuator</a:t>
            </a:r>
            <a:endParaRPr sz="1800" dirty="0">
              <a:latin typeface="Trebuchet MS"/>
              <a:cs typeface="Trebuchet MS"/>
            </a:endParaRPr>
          </a:p>
          <a:p>
            <a:pPr marL="12700" marR="5080">
              <a:lnSpc>
                <a:spcPts val="1670"/>
              </a:lnSpc>
              <a:spcBef>
                <a:spcPts val="1285"/>
              </a:spcBef>
            </a:pPr>
            <a:r>
              <a:rPr sz="1400" dirty="0">
                <a:solidFill>
                  <a:srgbClr val="FFFFFF"/>
                </a:solidFill>
                <a:latin typeface="Trebuchet MS"/>
                <a:cs typeface="Trebuchet MS"/>
              </a:rPr>
              <a:t>Provides responsive adjustments to suspension dynamics in real-time.</a:t>
            </a:r>
            <a:endParaRPr sz="1400" dirty="0">
              <a:latin typeface="Trebuchet MS"/>
              <a:cs typeface="Trebuchet MS"/>
            </a:endParaRPr>
          </a:p>
        </p:txBody>
      </p:sp>
      <p:sp>
        <p:nvSpPr>
          <p:cNvPr id="8" name="object 8"/>
          <p:cNvSpPr txBox="1"/>
          <p:nvPr/>
        </p:nvSpPr>
        <p:spPr>
          <a:xfrm>
            <a:off x="4364901" y="4283544"/>
            <a:ext cx="3355975" cy="880744"/>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Spring</a:t>
            </a:r>
            <a:endParaRPr sz="1800" dirty="0">
              <a:latin typeface="Trebuchet MS"/>
              <a:cs typeface="Trebuchet MS"/>
            </a:endParaRPr>
          </a:p>
          <a:p>
            <a:pPr marL="12700" marR="5080">
              <a:lnSpc>
                <a:spcPct val="100000"/>
              </a:lnSpc>
              <a:spcBef>
                <a:spcPts val="1210"/>
              </a:spcBef>
            </a:pPr>
            <a:r>
              <a:rPr sz="1400" dirty="0">
                <a:solidFill>
                  <a:srgbClr val="FFFFFF"/>
                </a:solidFill>
                <a:latin typeface="Trebuchet MS"/>
                <a:cs typeface="Trebuchet MS"/>
              </a:rPr>
              <a:t>Acts as a fundamental component for shock absorption and support.</a:t>
            </a:r>
            <a:endParaRPr sz="1400" dirty="0">
              <a:latin typeface="Trebuchet MS"/>
              <a:cs typeface="Trebuchet MS"/>
            </a:endParaRPr>
          </a:p>
        </p:txBody>
      </p:sp>
      <p:sp>
        <p:nvSpPr>
          <p:cNvPr id="9" name="object 9"/>
          <p:cNvSpPr txBox="1"/>
          <p:nvPr/>
        </p:nvSpPr>
        <p:spPr>
          <a:xfrm>
            <a:off x="4364901" y="5532018"/>
            <a:ext cx="3214370" cy="880744"/>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Damper</a:t>
            </a:r>
            <a:endParaRPr sz="1800" dirty="0">
              <a:latin typeface="Trebuchet MS"/>
              <a:cs typeface="Trebuchet MS"/>
            </a:endParaRPr>
          </a:p>
          <a:p>
            <a:pPr marL="12700" marR="5080">
              <a:lnSpc>
                <a:spcPts val="1670"/>
              </a:lnSpc>
              <a:spcBef>
                <a:spcPts val="1285"/>
              </a:spcBef>
            </a:pPr>
            <a:r>
              <a:rPr sz="1400" dirty="0">
                <a:solidFill>
                  <a:srgbClr val="FFFFFF"/>
                </a:solidFill>
                <a:latin typeface="Trebuchet MS"/>
                <a:cs typeface="Trebuchet MS"/>
              </a:rPr>
              <a:t>Controls oscillations, enhancing ride comfort and stability during movement.</a:t>
            </a:r>
            <a:endParaRPr sz="1400" dirty="0">
              <a:latin typeface="Trebuchet MS"/>
              <a:cs typeface="Trebuchet MS"/>
            </a:endParaRPr>
          </a:p>
        </p:txBody>
      </p:sp>
      <p:sp>
        <p:nvSpPr>
          <p:cNvPr id="10" name="object 10"/>
          <p:cNvSpPr txBox="1"/>
          <p:nvPr/>
        </p:nvSpPr>
        <p:spPr>
          <a:xfrm>
            <a:off x="8479701" y="4283544"/>
            <a:ext cx="2813050" cy="1090042"/>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Wishbone</a:t>
            </a:r>
            <a:endParaRPr sz="1800" dirty="0">
              <a:latin typeface="Trebuchet MS"/>
              <a:cs typeface="Trebuchet MS"/>
            </a:endParaRPr>
          </a:p>
          <a:p>
            <a:pPr marL="12700" marR="5080">
              <a:lnSpc>
                <a:spcPct val="100000"/>
              </a:lnSpc>
              <a:spcBef>
                <a:spcPts val="1210"/>
              </a:spcBef>
            </a:pPr>
            <a:r>
              <a:rPr sz="1400" dirty="0">
                <a:solidFill>
                  <a:srgbClr val="FFFFFF"/>
                </a:solidFill>
                <a:latin typeface="Trebuchet MS"/>
                <a:cs typeface="Trebuchet MS"/>
              </a:rPr>
              <a:t>Connects wheel to chassis, maintaining alignment throughout travel.</a:t>
            </a:r>
            <a:endParaRPr sz="1400" dirty="0">
              <a:latin typeface="Trebuchet MS"/>
              <a:cs typeface="Trebuchet MS"/>
            </a:endParaRPr>
          </a:p>
        </p:txBody>
      </p:sp>
      <p:sp>
        <p:nvSpPr>
          <p:cNvPr id="11" name="object 11"/>
          <p:cNvSpPr txBox="1"/>
          <p:nvPr/>
        </p:nvSpPr>
        <p:spPr>
          <a:xfrm>
            <a:off x="8479701" y="5532018"/>
            <a:ext cx="3274695" cy="880744"/>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Upright</a:t>
            </a:r>
            <a:r>
              <a:rPr lang="en-US" sz="1800" dirty="0">
                <a:solidFill>
                  <a:srgbClr val="FFFFFF"/>
                </a:solidFill>
                <a:latin typeface="Trebuchet MS"/>
                <a:cs typeface="Trebuchet MS"/>
              </a:rPr>
              <a:t>(knuckle)</a:t>
            </a:r>
            <a:endParaRPr sz="1800" dirty="0">
              <a:latin typeface="Trebuchet MS"/>
              <a:cs typeface="Trebuchet MS"/>
            </a:endParaRPr>
          </a:p>
          <a:p>
            <a:pPr marL="12700" marR="5080">
              <a:lnSpc>
                <a:spcPts val="1670"/>
              </a:lnSpc>
              <a:spcBef>
                <a:spcPts val="1285"/>
              </a:spcBef>
            </a:pPr>
            <a:r>
              <a:rPr sz="1400" dirty="0">
                <a:solidFill>
                  <a:srgbClr val="FFFFFF"/>
                </a:solidFill>
                <a:latin typeface="Trebuchet MS"/>
                <a:cs typeface="Trebuchet MS"/>
              </a:rPr>
              <a:t>Serves as a critical linkage between wishbones and wheel hub.</a:t>
            </a:r>
            <a:endParaRPr sz="1400" dirty="0">
              <a:latin typeface="Trebuchet MS"/>
              <a:cs typeface="Trebuchet MS"/>
            </a:endParaRPr>
          </a:p>
        </p:txBody>
      </p:sp>
      <p:sp>
        <p:nvSpPr>
          <p:cNvPr id="13" name="object 13"/>
          <p:cNvSpPr/>
          <p:nvPr/>
        </p:nvSpPr>
        <p:spPr>
          <a:xfrm>
            <a:off x="1448821" y="4283544"/>
            <a:ext cx="1400175" cy="0"/>
          </a:xfrm>
          <a:custGeom>
            <a:avLst/>
            <a:gdLst/>
            <a:ahLst/>
            <a:cxnLst/>
            <a:rect l="l" t="t" r="r" b="b"/>
            <a:pathLst>
              <a:path w="1400175">
                <a:moveTo>
                  <a:pt x="1400035" y="0"/>
                </a:moveTo>
                <a:lnTo>
                  <a:pt x="0" y="0"/>
                </a:lnTo>
              </a:path>
            </a:pathLst>
          </a:custGeom>
          <a:ln w="12599">
            <a:solidFill>
              <a:srgbClr val="FFFFFF"/>
            </a:solidFill>
          </a:ln>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3565" y="-355"/>
            <a:ext cx="1278255" cy="1994535"/>
          </a:xfrm>
          <a:custGeom>
            <a:avLst/>
            <a:gdLst/>
            <a:ahLst/>
            <a:cxnLst/>
            <a:rect l="l" t="t" r="r" b="b"/>
            <a:pathLst>
              <a:path w="1278255" h="1994535">
                <a:moveTo>
                  <a:pt x="1277988" y="0"/>
                </a:moveTo>
                <a:lnTo>
                  <a:pt x="0" y="0"/>
                </a:lnTo>
                <a:lnTo>
                  <a:pt x="0" y="1994039"/>
                </a:lnTo>
                <a:lnTo>
                  <a:pt x="638987" y="1994039"/>
                </a:lnTo>
                <a:lnTo>
                  <a:pt x="1277988" y="1994039"/>
                </a:lnTo>
                <a:lnTo>
                  <a:pt x="1277988" y="0"/>
                </a:lnTo>
                <a:close/>
              </a:path>
            </a:pathLst>
          </a:custGeom>
          <a:solidFill>
            <a:srgbClr val="453E31">
              <a:alpha val="92999"/>
            </a:srgbClr>
          </a:solidFill>
        </p:spPr>
        <p:txBody>
          <a:bodyPr wrap="square" lIns="0" tIns="0" rIns="0" bIns="0" rtlCol="0"/>
          <a:lstStyle/>
          <a:p>
            <a:endParaRPr/>
          </a:p>
        </p:txBody>
      </p:sp>
      <p:sp>
        <p:nvSpPr>
          <p:cNvPr id="3" name="object 3"/>
          <p:cNvSpPr txBox="1">
            <a:spLocks noGrp="1"/>
          </p:cNvSpPr>
          <p:nvPr>
            <p:ph type="title"/>
          </p:nvPr>
        </p:nvSpPr>
        <p:spPr>
          <a:xfrm>
            <a:off x="250101" y="203301"/>
            <a:ext cx="11698147" cy="505267"/>
          </a:xfrm>
          <a:prstGeom prst="rect">
            <a:avLst/>
          </a:prstGeom>
        </p:spPr>
        <p:txBody>
          <a:bodyPr vert="horz" wrap="square" lIns="0" tIns="12700" rIns="0" bIns="0" rtlCol="0">
            <a:spAutoFit/>
          </a:bodyPr>
          <a:lstStyle/>
          <a:p>
            <a:pPr marL="12700">
              <a:lnSpc>
                <a:spcPct val="100000"/>
              </a:lnSpc>
              <a:spcBef>
                <a:spcPts val="100"/>
              </a:spcBef>
            </a:pPr>
            <a:r>
              <a:rPr sz="3200" dirty="0"/>
              <a:t>Active Component</a:t>
            </a:r>
            <a:r>
              <a:rPr lang="en-US" sz="3200" dirty="0"/>
              <a:t>s</a:t>
            </a:r>
            <a:endParaRPr sz="3200" dirty="0"/>
          </a:p>
        </p:txBody>
      </p:sp>
      <p:sp>
        <p:nvSpPr>
          <p:cNvPr id="5" name="object 5"/>
          <p:cNvSpPr/>
          <p:nvPr/>
        </p:nvSpPr>
        <p:spPr>
          <a:xfrm>
            <a:off x="1103045" y="1049045"/>
            <a:ext cx="1400175" cy="0"/>
          </a:xfrm>
          <a:custGeom>
            <a:avLst/>
            <a:gdLst/>
            <a:ahLst/>
            <a:cxnLst/>
            <a:rect l="l" t="t" r="r" b="b"/>
            <a:pathLst>
              <a:path w="1400175">
                <a:moveTo>
                  <a:pt x="1400035" y="0"/>
                </a:moveTo>
                <a:lnTo>
                  <a:pt x="0" y="0"/>
                </a:lnTo>
              </a:path>
            </a:pathLst>
          </a:custGeom>
          <a:ln w="12599">
            <a:solidFill>
              <a:srgbClr val="FFFFFF"/>
            </a:solidFill>
          </a:ln>
        </p:spPr>
        <p:txBody>
          <a:bodyPr wrap="square" lIns="0" tIns="0" rIns="0" bIns="0" rtlCol="0"/>
          <a:lstStyle/>
          <a:p>
            <a:endParaRPr/>
          </a:p>
        </p:txBody>
      </p:sp>
      <p:sp>
        <p:nvSpPr>
          <p:cNvPr id="6" name="object 6"/>
          <p:cNvSpPr txBox="1"/>
          <p:nvPr/>
        </p:nvSpPr>
        <p:spPr>
          <a:xfrm>
            <a:off x="256578" y="3283102"/>
            <a:ext cx="3007360" cy="1090042"/>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Actuator</a:t>
            </a:r>
            <a:endParaRPr sz="1800">
              <a:latin typeface="Trebuchet MS"/>
              <a:cs typeface="Trebuchet MS"/>
            </a:endParaRPr>
          </a:p>
          <a:p>
            <a:pPr marL="12700" marR="5715">
              <a:lnSpc>
                <a:spcPct val="100000"/>
              </a:lnSpc>
              <a:spcBef>
                <a:spcPts val="1220"/>
              </a:spcBef>
            </a:pPr>
            <a:r>
              <a:rPr sz="1400" dirty="0">
                <a:solidFill>
                  <a:srgbClr val="FFFFFF"/>
                </a:solidFill>
                <a:latin typeface="Trebuchet MS"/>
                <a:cs typeface="Trebuchet MS"/>
              </a:rPr>
              <a:t>Utilizes electromechanical components for rapid force adjustments.</a:t>
            </a:r>
            <a:endParaRPr sz="1400">
              <a:latin typeface="Trebuchet MS"/>
              <a:cs typeface="Trebuchet MS"/>
            </a:endParaRPr>
          </a:p>
        </p:txBody>
      </p:sp>
      <p:sp>
        <p:nvSpPr>
          <p:cNvPr id="7" name="object 7"/>
          <p:cNvSpPr txBox="1"/>
          <p:nvPr/>
        </p:nvSpPr>
        <p:spPr>
          <a:xfrm>
            <a:off x="256578" y="5374703"/>
            <a:ext cx="2957830" cy="1090042"/>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Control System</a:t>
            </a:r>
            <a:endParaRPr sz="1800">
              <a:latin typeface="Trebuchet MS"/>
              <a:cs typeface="Trebuchet MS"/>
            </a:endParaRPr>
          </a:p>
          <a:p>
            <a:pPr marL="12700" marR="5080">
              <a:lnSpc>
                <a:spcPct val="100000"/>
              </a:lnSpc>
              <a:spcBef>
                <a:spcPts val="1210"/>
              </a:spcBef>
            </a:pPr>
            <a:r>
              <a:rPr sz="1400" dirty="0">
                <a:solidFill>
                  <a:srgbClr val="FFFFFF"/>
                </a:solidFill>
                <a:latin typeface="Trebuchet MS"/>
                <a:cs typeface="Trebuchet MS"/>
              </a:rPr>
              <a:t>Employs real-time algorithms to optimize suspension dynamics effectively.</a:t>
            </a:r>
            <a:endParaRPr sz="1400">
              <a:latin typeface="Trebuchet MS"/>
              <a:cs typeface="Trebuchet MS"/>
            </a:endParaRPr>
          </a:p>
        </p:txBody>
      </p:sp>
      <p:sp>
        <p:nvSpPr>
          <p:cNvPr id="8" name="object 8"/>
          <p:cNvSpPr txBox="1"/>
          <p:nvPr/>
        </p:nvSpPr>
        <p:spPr>
          <a:xfrm>
            <a:off x="4426102" y="5374703"/>
            <a:ext cx="3310254" cy="88011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Sensors</a:t>
            </a:r>
            <a:endParaRPr sz="1800">
              <a:latin typeface="Trebuchet MS"/>
              <a:cs typeface="Trebuchet MS"/>
            </a:endParaRPr>
          </a:p>
          <a:p>
            <a:pPr marL="12700" marR="5080">
              <a:lnSpc>
                <a:spcPct val="100000"/>
              </a:lnSpc>
              <a:spcBef>
                <a:spcPts val="1210"/>
              </a:spcBef>
            </a:pPr>
            <a:r>
              <a:rPr sz="1400" dirty="0">
                <a:solidFill>
                  <a:srgbClr val="FFFFFF"/>
                </a:solidFill>
                <a:latin typeface="Trebuchet MS"/>
                <a:cs typeface="Trebuchet MS"/>
              </a:rPr>
              <a:t>Integrates feedback mechanisms for enhanced response to road conditions.</a:t>
            </a:r>
            <a:endParaRPr sz="1400">
              <a:latin typeface="Trebuchet MS"/>
              <a:cs typeface="Trebuchet MS"/>
            </a:endParaRPr>
          </a:p>
        </p:txBody>
      </p:sp>
      <p:sp>
        <p:nvSpPr>
          <p:cNvPr id="9" name="object 9"/>
          <p:cNvSpPr txBox="1"/>
          <p:nvPr/>
        </p:nvSpPr>
        <p:spPr>
          <a:xfrm>
            <a:off x="8594178" y="5374703"/>
            <a:ext cx="3018155" cy="88011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Power Supply</a:t>
            </a:r>
            <a:endParaRPr sz="1800">
              <a:latin typeface="Trebuchet MS"/>
              <a:cs typeface="Trebuchet MS"/>
            </a:endParaRPr>
          </a:p>
          <a:p>
            <a:pPr marL="12700" marR="5080">
              <a:lnSpc>
                <a:spcPct val="100000"/>
              </a:lnSpc>
              <a:spcBef>
                <a:spcPts val="1210"/>
              </a:spcBef>
            </a:pPr>
            <a:r>
              <a:rPr sz="1400" dirty="0">
                <a:solidFill>
                  <a:srgbClr val="FFFFFF"/>
                </a:solidFill>
                <a:latin typeface="Trebuchet MS"/>
                <a:cs typeface="Trebuchet MS"/>
              </a:rPr>
              <a:t>Ensures reliable energy source for consistent actuator performance.</a:t>
            </a:r>
            <a:endParaRPr sz="1400">
              <a:latin typeface="Trebuchet MS"/>
              <a:cs typeface="Trebuchet MS"/>
            </a:endParaRPr>
          </a:p>
        </p:txBody>
      </p:sp>
      <p:pic>
        <p:nvPicPr>
          <p:cNvPr id="12" name="Picture 11">
            <a:extLst>
              <a:ext uri="{FF2B5EF4-FFF2-40B4-BE49-F238E27FC236}">
                <a16:creationId xmlns:a16="http://schemas.microsoft.com/office/drawing/2014/main" id="{D49714B8-5743-3CD2-706D-75CBA646BC67}"/>
              </a:ext>
            </a:extLst>
          </p:cNvPr>
          <p:cNvPicPr>
            <a:picLocks noChangeAspect="1"/>
          </p:cNvPicPr>
          <p:nvPr/>
        </p:nvPicPr>
        <p:blipFill>
          <a:blip r:embed="rId3"/>
          <a:stretch>
            <a:fillRect/>
          </a:stretch>
        </p:blipFill>
        <p:spPr>
          <a:xfrm>
            <a:off x="4724400" y="603187"/>
            <a:ext cx="7033482" cy="42642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3565" y="-355"/>
            <a:ext cx="1278255" cy="1994535"/>
          </a:xfrm>
          <a:custGeom>
            <a:avLst/>
            <a:gdLst/>
            <a:ahLst/>
            <a:cxnLst/>
            <a:rect l="l" t="t" r="r" b="b"/>
            <a:pathLst>
              <a:path w="1278255" h="1994535">
                <a:moveTo>
                  <a:pt x="1277988" y="0"/>
                </a:moveTo>
                <a:lnTo>
                  <a:pt x="0" y="0"/>
                </a:lnTo>
                <a:lnTo>
                  <a:pt x="0" y="1994039"/>
                </a:lnTo>
                <a:lnTo>
                  <a:pt x="638987" y="1994039"/>
                </a:lnTo>
                <a:lnTo>
                  <a:pt x="1277988" y="1994039"/>
                </a:lnTo>
                <a:lnTo>
                  <a:pt x="1277988" y="0"/>
                </a:lnTo>
                <a:close/>
              </a:path>
            </a:pathLst>
          </a:custGeom>
          <a:solidFill>
            <a:srgbClr val="453E31">
              <a:alpha val="92999"/>
            </a:srgbClr>
          </a:solidFill>
        </p:spPr>
        <p:txBody>
          <a:bodyPr wrap="square" lIns="0" tIns="0" rIns="0" bIns="0" rtlCol="0"/>
          <a:lstStyle/>
          <a:p>
            <a:endParaRPr/>
          </a:p>
        </p:txBody>
      </p:sp>
      <p:sp>
        <p:nvSpPr>
          <p:cNvPr id="3" name="object 3"/>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lang="en-US" dirty="0"/>
              <a:t>Project steps:</a:t>
            </a:r>
            <a:endParaRPr dirty="0"/>
          </a:p>
        </p:txBody>
      </p:sp>
      <p:sp>
        <p:nvSpPr>
          <p:cNvPr id="4" name="object 4"/>
          <p:cNvSpPr/>
          <p:nvPr/>
        </p:nvSpPr>
        <p:spPr>
          <a:xfrm>
            <a:off x="905395" y="987844"/>
            <a:ext cx="1400175" cy="0"/>
          </a:xfrm>
          <a:custGeom>
            <a:avLst/>
            <a:gdLst/>
            <a:ahLst/>
            <a:cxnLst/>
            <a:rect l="l" t="t" r="r" b="b"/>
            <a:pathLst>
              <a:path w="1400175">
                <a:moveTo>
                  <a:pt x="1400048" y="0"/>
                </a:moveTo>
                <a:lnTo>
                  <a:pt x="0" y="0"/>
                </a:lnTo>
              </a:path>
            </a:pathLst>
          </a:custGeom>
          <a:ln w="12599">
            <a:solidFill>
              <a:srgbClr val="FFFFFF"/>
            </a:solidFill>
          </a:ln>
        </p:spPr>
        <p:txBody>
          <a:bodyPr wrap="square" lIns="0" tIns="0" rIns="0" bIns="0" rtlCol="0"/>
          <a:lstStyle/>
          <a:p>
            <a:endParaRPr/>
          </a:p>
        </p:txBody>
      </p:sp>
      <p:grpSp>
        <p:nvGrpSpPr>
          <p:cNvPr id="5" name="object 5"/>
          <p:cNvGrpSpPr/>
          <p:nvPr/>
        </p:nvGrpSpPr>
        <p:grpSpPr>
          <a:xfrm>
            <a:off x="9623158" y="0"/>
            <a:ext cx="2436495" cy="561340"/>
            <a:chOff x="9623158" y="0"/>
            <a:chExt cx="2436495" cy="561340"/>
          </a:xfrm>
        </p:grpSpPr>
        <p:sp>
          <p:nvSpPr>
            <p:cNvPr id="6" name="object 6"/>
            <p:cNvSpPr/>
            <p:nvPr/>
          </p:nvSpPr>
          <p:spPr>
            <a:xfrm>
              <a:off x="9623158" y="241198"/>
              <a:ext cx="2436495" cy="287655"/>
            </a:xfrm>
            <a:custGeom>
              <a:avLst/>
              <a:gdLst/>
              <a:ahLst/>
              <a:cxnLst/>
              <a:rect l="l" t="t" r="r" b="b"/>
              <a:pathLst>
                <a:path w="2436495" h="287655">
                  <a:moveTo>
                    <a:pt x="2436482" y="0"/>
                  </a:moveTo>
                  <a:lnTo>
                    <a:pt x="0" y="0"/>
                  </a:lnTo>
                  <a:lnTo>
                    <a:pt x="0" y="287642"/>
                  </a:lnTo>
                  <a:lnTo>
                    <a:pt x="1218247" y="287642"/>
                  </a:lnTo>
                  <a:lnTo>
                    <a:pt x="2436482" y="287642"/>
                  </a:lnTo>
                  <a:lnTo>
                    <a:pt x="2436482" y="0"/>
                  </a:lnTo>
                  <a:close/>
                </a:path>
              </a:pathLst>
            </a:custGeom>
            <a:solidFill>
              <a:srgbClr val="453E31">
                <a:alpha val="92999"/>
              </a:srgbClr>
            </a:solidFill>
          </p:spPr>
          <p:txBody>
            <a:bodyPr wrap="square" lIns="0" tIns="0" rIns="0" bIns="0" rtlCol="0"/>
            <a:lstStyle/>
            <a:p>
              <a:endParaRPr/>
            </a:p>
          </p:txBody>
        </p:sp>
        <p:sp>
          <p:nvSpPr>
            <p:cNvPr id="7" name="object 7"/>
            <p:cNvSpPr/>
            <p:nvPr/>
          </p:nvSpPr>
          <p:spPr>
            <a:xfrm>
              <a:off x="11922836" y="0"/>
              <a:ext cx="0" cy="561340"/>
            </a:xfrm>
            <a:custGeom>
              <a:avLst/>
              <a:gdLst/>
              <a:ahLst/>
              <a:cxnLst/>
              <a:rect l="l" t="t" r="r" b="b"/>
              <a:pathLst>
                <a:path h="561340">
                  <a:moveTo>
                    <a:pt x="0" y="0"/>
                  </a:moveTo>
                  <a:lnTo>
                    <a:pt x="0" y="561238"/>
                  </a:lnTo>
                </a:path>
              </a:pathLst>
            </a:custGeom>
            <a:ln w="12599">
              <a:solidFill>
                <a:srgbClr val="FFFFFF"/>
              </a:solidFill>
            </a:ln>
          </p:spPr>
          <p:txBody>
            <a:bodyPr wrap="square" lIns="0" tIns="0" rIns="0" bIns="0" rtlCol="0"/>
            <a:lstStyle/>
            <a:p>
              <a:endParaRPr/>
            </a:p>
          </p:txBody>
        </p:sp>
      </p:grpSp>
      <p:pic>
        <p:nvPicPr>
          <p:cNvPr id="8" name="object 8"/>
          <p:cNvPicPr/>
          <p:nvPr/>
        </p:nvPicPr>
        <p:blipFill>
          <a:blip r:embed="rId2" cstate="print"/>
          <a:stretch>
            <a:fillRect/>
          </a:stretch>
        </p:blipFill>
        <p:spPr>
          <a:xfrm>
            <a:off x="6094438" y="2627629"/>
            <a:ext cx="6094082" cy="4229646"/>
          </a:xfrm>
          <a:prstGeom prst="rect">
            <a:avLst/>
          </a:prstGeom>
        </p:spPr>
      </p:pic>
      <p:sp>
        <p:nvSpPr>
          <p:cNvPr id="9" name="object 9"/>
          <p:cNvSpPr txBox="1"/>
          <p:nvPr/>
        </p:nvSpPr>
        <p:spPr>
          <a:xfrm>
            <a:off x="250101" y="2253145"/>
            <a:ext cx="2508885" cy="1367041"/>
          </a:xfrm>
          <a:prstGeom prst="rect">
            <a:avLst/>
          </a:prstGeom>
        </p:spPr>
        <p:txBody>
          <a:bodyPr vert="horz" wrap="square" lIns="0" tIns="12700" rIns="0" bIns="0" rtlCol="0">
            <a:spAutoFit/>
          </a:bodyPr>
          <a:lstStyle/>
          <a:p>
            <a:pPr marL="12700">
              <a:lnSpc>
                <a:spcPct val="100000"/>
              </a:lnSpc>
              <a:spcBef>
                <a:spcPts val="100"/>
              </a:spcBef>
            </a:pPr>
            <a:r>
              <a:rPr lang="en-US" b="1" dirty="0">
                <a:solidFill>
                  <a:srgbClr val="FFFFFF"/>
                </a:solidFill>
                <a:latin typeface="Trebuchet MS"/>
                <a:cs typeface="Trebuchet MS"/>
              </a:rPr>
              <a:t>1. 3D </a:t>
            </a:r>
            <a:r>
              <a:rPr sz="1800" b="1" dirty="0">
                <a:solidFill>
                  <a:srgbClr val="FFFFFF"/>
                </a:solidFill>
                <a:latin typeface="Trebuchet MS"/>
                <a:cs typeface="Trebuchet MS"/>
              </a:rPr>
              <a:t>Design</a:t>
            </a:r>
            <a:r>
              <a:rPr lang="en-US" sz="1800" b="1" dirty="0">
                <a:solidFill>
                  <a:srgbClr val="FFFFFF"/>
                </a:solidFill>
                <a:latin typeface="Trebuchet MS"/>
                <a:cs typeface="Trebuchet MS"/>
              </a:rPr>
              <a:t> of Mechanical Parts</a:t>
            </a:r>
            <a:endParaRPr sz="1800" b="1" dirty="0">
              <a:latin typeface="Trebuchet MS"/>
              <a:cs typeface="Trebuchet MS"/>
            </a:endParaRPr>
          </a:p>
          <a:p>
            <a:pPr marL="12700" marR="5080">
              <a:lnSpc>
                <a:spcPct val="100000"/>
              </a:lnSpc>
              <a:spcBef>
                <a:spcPts val="1210"/>
              </a:spcBef>
            </a:pPr>
            <a:r>
              <a:rPr lang="en-US" sz="1400" dirty="0">
                <a:solidFill>
                  <a:srgbClr val="FFFFFF"/>
                </a:solidFill>
                <a:latin typeface="Trebuchet MS"/>
                <a:cs typeface="Trebuchet MS"/>
              </a:rPr>
              <a:t>Utilize SolidWorks for 3D modeling of suspension elements.</a:t>
            </a:r>
            <a:endParaRPr lang="en-US" sz="1400" dirty="0">
              <a:latin typeface="Trebuchet MS"/>
              <a:cs typeface="Trebuchet MS"/>
            </a:endParaRPr>
          </a:p>
        </p:txBody>
      </p:sp>
      <p:sp>
        <p:nvSpPr>
          <p:cNvPr id="10" name="object 10"/>
          <p:cNvSpPr txBox="1"/>
          <p:nvPr/>
        </p:nvSpPr>
        <p:spPr>
          <a:xfrm>
            <a:off x="3280574" y="2253145"/>
            <a:ext cx="1950085" cy="1859483"/>
          </a:xfrm>
          <a:prstGeom prst="rect">
            <a:avLst/>
          </a:prstGeom>
        </p:spPr>
        <p:txBody>
          <a:bodyPr vert="horz" wrap="square" lIns="0" tIns="12700" rIns="0" bIns="0" rtlCol="0">
            <a:spAutoFit/>
          </a:bodyPr>
          <a:lstStyle/>
          <a:p>
            <a:pPr marL="12700">
              <a:lnSpc>
                <a:spcPct val="100000"/>
              </a:lnSpc>
              <a:spcBef>
                <a:spcPts val="100"/>
              </a:spcBef>
            </a:pPr>
            <a:r>
              <a:rPr lang="en-US" sz="1800" b="1" dirty="0">
                <a:solidFill>
                  <a:srgbClr val="FFFFFF"/>
                </a:solidFill>
                <a:latin typeface="Trebuchet MS"/>
                <a:cs typeface="Trebuchet MS"/>
              </a:rPr>
              <a:t>4. </a:t>
            </a:r>
            <a:r>
              <a:rPr lang="en-US" sz="1800" b="1" dirty="0" err="1">
                <a:solidFill>
                  <a:srgbClr val="FFFFFF"/>
                </a:solidFill>
                <a:latin typeface="Trebuchet MS"/>
                <a:cs typeface="Trebuchet MS"/>
              </a:rPr>
              <a:t>Matlab</a:t>
            </a:r>
            <a:r>
              <a:rPr lang="en-US" sz="1800" b="1" dirty="0">
                <a:solidFill>
                  <a:srgbClr val="FFFFFF"/>
                </a:solidFill>
                <a:latin typeface="Trebuchet MS"/>
                <a:cs typeface="Trebuchet MS"/>
              </a:rPr>
              <a:t> </a:t>
            </a:r>
            <a:r>
              <a:rPr lang="en-US" sz="1800" b="1" dirty="0" err="1">
                <a:solidFill>
                  <a:srgbClr val="FFFFFF"/>
                </a:solidFill>
                <a:latin typeface="Trebuchet MS"/>
                <a:cs typeface="Trebuchet MS"/>
              </a:rPr>
              <a:t>Simscape</a:t>
            </a:r>
            <a:r>
              <a:rPr lang="en-US" sz="1800" b="1" dirty="0">
                <a:solidFill>
                  <a:srgbClr val="FFFFFF"/>
                </a:solidFill>
                <a:latin typeface="Trebuchet MS"/>
                <a:cs typeface="Trebuchet MS"/>
              </a:rPr>
              <a:t> Model and </a:t>
            </a:r>
            <a:r>
              <a:rPr sz="1800" b="1" dirty="0">
                <a:solidFill>
                  <a:srgbClr val="FFFFFF"/>
                </a:solidFill>
                <a:latin typeface="Trebuchet MS"/>
                <a:cs typeface="Trebuchet MS"/>
              </a:rPr>
              <a:t>Control</a:t>
            </a:r>
            <a:endParaRPr sz="1800" b="1" dirty="0">
              <a:latin typeface="Trebuchet MS"/>
              <a:cs typeface="Trebuchet MS"/>
            </a:endParaRPr>
          </a:p>
          <a:p>
            <a:pPr marL="12700" marR="5080">
              <a:lnSpc>
                <a:spcPct val="100000"/>
              </a:lnSpc>
              <a:spcBef>
                <a:spcPts val="1220"/>
              </a:spcBef>
            </a:pPr>
            <a:r>
              <a:rPr sz="1400" dirty="0">
                <a:solidFill>
                  <a:srgbClr val="FFFFFF"/>
                </a:solidFill>
                <a:latin typeface="Trebuchet MS"/>
                <a:cs typeface="Trebuchet MS"/>
              </a:rPr>
              <a:t>Utilize PID controllers for real-time adjustments of parameters.</a:t>
            </a:r>
            <a:endParaRPr sz="1400" dirty="0">
              <a:latin typeface="Trebuchet MS"/>
              <a:cs typeface="Trebuchet MS"/>
            </a:endParaRPr>
          </a:p>
        </p:txBody>
      </p:sp>
      <p:sp>
        <p:nvSpPr>
          <p:cNvPr id="11" name="object 11"/>
          <p:cNvSpPr txBox="1"/>
          <p:nvPr/>
        </p:nvSpPr>
        <p:spPr>
          <a:xfrm>
            <a:off x="250101" y="3812654"/>
            <a:ext cx="2610485" cy="1367041"/>
          </a:xfrm>
          <a:prstGeom prst="rect">
            <a:avLst/>
          </a:prstGeom>
        </p:spPr>
        <p:txBody>
          <a:bodyPr vert="horz" wrap="square" lIns="0" tIns="12700" rIns="0" bIns="0" rtlCol="0">
            <a:spAutoFit/>
          </a:bodyPr>
          <a:lstStyle/>
          <a:p>
            <a:pPr marL="12700">
              <a:lnSpc>
                <a:spcPct val="100000"/>
              </a:lnSpc>
              <a:spcBef>
                <a:spcPts val="100"/>
              </a:spcBef>
            </a:pPr>
            <a:r>
              <a:rPr lang="en-US" sz="1800" b="1" dirty="0">
                <a:solidFill>
                  <a:srgbClr val="FFFFFF"/>
                </a:solidFill>
                <a:latin typeface="Trebuchet MS"/>
                <a:cs typeface="Trebuchet MS"/>
              </a:rPr>
              <a:t>2. Assembly and Motion Study</a:t>
            </a:r>
            <a:endParaRPr sz="1800" b="1" dirty="0">
              <a:latin typeface="Trebuchet MS"/>
              <a:cs typeface="Trebuchet MS"/>
            </a:endParaRPr>
          </a:p>
          <a:p>
            <a:pPr marL="12700" marR="5080">
              <a:lnSpc>
                <a:spcPct val="100000"/>
              </a:lnSpc>
              <a:spcBef>
                <a:spcPts val="1205"/>
              </a:spcBef>
            </a:pPr>
            <a:r>
              <a:rPr sz="1400" dirty="0">
                <a:solidFill>
                  <a:srgbClr val="FFFFFF"/>
                </a:solidFill>
                <a:latin typeface="Trebuchet MS"/>
                <a:cs typeface="Trebuchet MS"/>
              </a:rPr>
              <a:t>Conduct motion studies to validate suspension performance during operation.</a:t>
            </a:r>
            <a:endParaRPr sz="1400" dirty="0">
              <a:latin typeface="Trebuchet MS"/>
              <a:cs typeface="Trebuchet MS"/>
            </a:endParaRPr>
          </a:p>
        </p:txBody>
      </p:sp>
      <p:sp>
        <p:nvSpPr>
          <p:cNvPr id="14" name="object 14"/>
          <p:cNvSpPr txBox="1"/>
          <p:nvPr/>
        </p:nvSpPr>
        <p:spPr>
          <a:xfrm>
            <a:off x="250101" y="5367400"/>
            <a:ext cx="2366645" cy="1090042"/>
          </a:xfrm>
          <a:prstGeom prst="rect">
            <a:avLst/>
          </a:prstGeom>
        </p:spPr>
        <p:txBody>
          <a:bodyPr vert="horz" wrap="square" lIns="0" tIns="12700" rIns="0" bIns="0" rtlCol="0">
            <a:spAutoFit/>
          </a:bodyPr>
          <a:lstStyle/>
          <a:p>
            <a:pPr marL="12700">
              <a:lnSpc>
                <a:spcPct val="100000"/>
              </a:lnSpc>
              <a:spcBef>
                <a:spcPts val="100"/>
              </a:spcBef>
            </a:pPr>
            <a:r>
              <a:rPr lang="en-US" sz="1800" b="1" dirty="0">
                <a:solidFill>
                  <a:srgbClr val="FFFFFF"/>
                </a:solidFill>
                <a:latin typeface="Trebuchet MS"/>
                <a:cs typeface="Trebuchet MS"/>
              </a:rPr>
              <a:t>3. </a:t>
            </a:r>
            <a:r>
              <a:rPr sz="1800" b="1" dirty="0">
                <a:solidFill>
                  <a:srgbClr val="FFFFFF"/>
                </a:solidFill>
                <a:latin typeface="Trebuchet MS"/>
                <a:cs typeface="Trebuchet MS"/>
              </a:rPr>
              <a:t>FEA Analysis</a:t>
            </a:r>
            <a:endParaRPr sz="1800" b="1" dirty="0">
              <a:latin typeface="Trebuchet MS"/>
              <a:cs typeface="Trebuchet MS"/>
            </a:endParaRPr>
          </a:p>
          <a:p>
            <a:pPr marL="12700" marR="5080">
              <a:lnSpc>
                <a:spcPct val="100000"/>
              </a:lnSpc>
              <a:spcBef>
                <a:spcPts val="1210"/>
              </a:spcBef>
            </a:pPr>
            <a:r>
              <a:rPr sz="1400" dirty="0">
                <a:solidFill>
                  <a:srgbClr val="FFFFFF"/>
                </a:solidFill>
                <a:latin typeface="Trebuchet MS"/>
                <a:cs typeface="Trebuchet MS"/>
              </a:rPr>
              <a:t>Perform Finite Element Analysis to ensure structural integrity under load.</a:t>
            </a:r>
            <a:endParaRPr sz="1400" dirty="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566822"/>
          </a:xfrm>
          <a:prstGeom prst="rect">
            <a:avLst/>
          </a:prstGeom>
        </p:spPr>
        <p:txBody>
          <a:bodyPr vert="horz" wrap="square" lIns="0" tIns="12700" rIns="0" bIns="0" rtlCol="0">
            <a:spAutoFit/>
          </a:bodyPr>
          <a:lstStyle/>
          <a:p>
            <a:pPr marL="12700">
              <a:lnSpc>
                <a:spcPct val="100000"/>
              </a:lnSpc>
              <a:spcBef>
                <a:spcPts val="100"/>
              </a:spcBef>
            </a:pPr>
            <a:r>
              <a:rPr sz="3600" dirty="0"/>
              <a:t>3D Modelling in SolidWorks</a:t>
            </a:r>
          </a:p>
        </p:txBody>
      </p:sp>
      <p:grpSp>
        <p:nvGrpSpPr>
          <p:cNvPr id="3" name="object 3"/>
          <p:cNvGrpSpPr/>
          <p:nvPr/>
        </p:nvGrpSpPr>
        <p:grpSpPr>
          <a:xfrm>
            <a:off x="-355" y="990358"/>
            <a:ext cx="9946829" cy="5867654"/>
            <a:chOff x="-355" y="990358"/>
            <a:chExt cx="9946829" cy="5867654"/>
          </a:xfrm>
        </p:grpSpPr>
        <p:sp>
          <p:nvSpPr>
            <p:cNvPr id="4" name="object 4"/>
            <p:cNvSpPr/>
            <p:nvPr/>
          </p:nvSpPr>
          <p:spPr>
            <a:xfrm>
              <a:off x="4820754" y="6188760"/>
              <a:ext cx="5125720" cy="262255"/>
            </a:xfrm>
            <a:custGeom>
              <a:avLst/>
              <a:gdLst/>
              <a:ahLst/>
              <a:cxnLst/>
              <a:rect l="l" t="t" r="r" b="b"/>
              <a:pathLst>
                <a:path w="5125720" h="262254">
                  <a:moveTo>
                    <a:pt x="5125681" y="0"/>
                  </a:moveTo>
                  <a:lnTo>
                    <a:pt x="0" y="0"/>
                  </a:lnTo>
                  <a:lnTo>
                    <a:pt x="0" y="262077"/>
                  </a:lnTo>
                  <a:lnTo>
                    <a:pt x="2562847" y="262077"/>
                  </a:lnTo>
                  <a:lnTo>
                    <a:pt x="5125681" y="262077"/>
                  </a:lnTo>
                  <a:lnTo>
                    <a:pt x="5125681" y="0"/>
                  </a:lnTo>
                  <a:close/>
                </a:path>
              </a:pathLst>
            </a:custGeom>
            <a:solidFill>
              <a:srgbClr val="453E31">
                <a:alpha val="92999"/>
              </a:srgbClr>
            </a:solidFill>
          </p:spPr>
          <p:txBody>
            <a:bodyPr wrap="square" lIns="0" tIns="0" rIns="0" bIns="0" rtlCol="0"/>
            <a:lstStyle/>
            <a:p>
              <a:endParaRPr/>
            </a:p>
          </p:txBody>
        </p:sp>
        <p:sp>
          <p:nvSpPr>
            <p:cNvPr id="6" name="object 6"/>
            <p:cNvSpPr/>
            <p:nvPr/>
          </p:nvSpPr>
          <p:spPr>
            <a:xfrm>
              <a:off x="7963204" y="1713242"/>
              <a:ext cx="0" cy="5144770"/>
            </a:xfrm>
            <a:custGeom>
              <a:avLst/>
              <a:gdLst/>
              <a:ahLst/>
              <a:cxnLst/>
              <a:rect l="l" t="t" r="r" b="b"/>
              <a:pathLst>
                <a:path h="5144770">
                  <a:moveTo>
                    <a:pt x="0" y="0"/>
                  </a:moveTo>
                  <a:lnTo>
                    <a:pt x="0" y="5144757"/>
                  </a:lnTo>
                </a:path>
              </a:pathLst>
            </a:custGeom>
            <a:ln w="12599">
              <a:solidFill>
                <a:srgbClr val="FFFFFF"/>
              </a:solidFill>
            </a:ln>
          </p:spPr>
          <p:txBody>
            <a:bodyPr wrap="square" lIns="0" tIns="0" rIns="0" bIns="0" rtlCol="0"/>
            <a:lstStyle/>
            <a:p>
              <a:endParaRPr/>
            </a:p>
          </p:txBody>
        </p:sp>
        <p:sp>
          <p:nvSpPr>
            <p:cNvPr id="7" name="object 7"/>
            <p:cNvSpPr/>
            <p:nvPr/>
          </p:nvSpPr>
          <p:spPr>
            <a:xfrm>
              <a:off x="-355" y="990358"/>
              <a:ext cx="1882775" cy="702310"/>
            </a:xfrm>
            <a:custGeom>
              <a:avLst/>
              <a:gdLst/>
              <a:ahLst/>
              <a:cxnLst/>
              <a:rect l="l" t="t" r="r" b="b"/>
              <a:pathLst>
                <a:path w="1882775" h="702310">
                  <a:moveTo>
                    <a:pt x="1882432" y="0"/>
                  </a:moveTo>
                  <a:lnTo>
                    <a:pt x="0" y="0"/>
                  </a:lnTo>
                  <a:lnTo>
                    <a:pt x="0" y="702005"/>
                  </a:lnTo>
                  <a:lnTo>
                    <a:pt x="941400" y="702005"/>
                  </a:lnTo>
                  <a:lnTo>
                    <a:pt x="1882432" y="702005"/>
                  </a:lnTo>
                  <a:lnTo>
                    <a:pt x="1882432" y="0"/>
                  </a:lnTo>
                  <a:close/>
                </a:path>
              </a:pathLst>
            </a:custGeom>
            <a:solidFill>
              <a:srgbClr val="453E31">
                <a:alpha val="92999"/>
              </a:srgbClr>
            </a:solidFill>
          </p:spPr>
          <p:txBody>
            <a:bodyPr wrap="square" lIns="0" tIns="0" rIns="0" bIns="0" rtlCol="0"/>
            <a:lstStyle/>
            <a:p>
              <a:endParaRPr/>
            </a:p>
          </p:txBody>
        </p:sp>
        <p:sp>
          <p:nvSpPr>
            <p:cNvPr id="8" name="object 8"/>
            <p:cNvSpPr/>
            <p:nvPr/>
          </p:nvSpPr>
          <p:spPr>
            <a:xfrm>
              <a:off x="0" y="1180439"/>
              <a:ext cx="2516505" cy="0"/>
            </a:xfrm>
            <a:custGeom>
              <a:avLst/>
              <a:gdLst/>
              <a:ahLst/>
              <a:cxnLst/>
              <a:rect l="l" t="t" r="r" b="b"/>
              <a:pathLst>
                <a:path w="2516505">
                  <a:moveTo>
                    <a:pt x="0" y="0"/>
                  </a:moveTo>
                  <a:lnTo>
                    <a:pt x="2516403" y="0"/>
                  </a:lnTo>
                </a:path>
              </a:pathLst>
            </a:custGeom>
            <a:ln w="12599">
              <a:solidFill>
                <a:srgbClr val="FFFFFF"/>
              </a:solidFill>
            </a:ln>
          </p:spPr>
          <p:txBody>
            <a:bodyPr wrap="square" lIns="0" tIns="0" rIns="0" bIns="0" rtlCol="0"/>
            <a:lstStyle/>
            <a:p>
              <a:endParaRPr/>
            </a:p>
          </p:txBody>
        </p:sp>
        <p:sp>
          <p:nvSpPr>
            <p:cNvPr id="9" name="object 9"/>
            <p:cNvSpPr/>
            <p:nvPr/>
          </p:nvSpPr>
          <p:spPr>
            <a:xfrm>
              <a:off x="7760881" y="1536839"/>
              <a:ext cx="403225" cy="403225"/>
            </a:xfrm>
            <a:custGeom>
              <a:avLst/>
              <a:gdLst/>
              <a:ahLst/>
              <a:cxnLst/>
              <a:rect l="l" t="t" r="r" b="b"/>
              <a:pathLst>
                <a:path w="403225" h="403225">
                  <a:moveTo>
                    <a:pt x="201599" y="0"/>
                  </a:moveTo>
                  <a:lnTo>
                    <a:pt x="160921" y="4317"/>
                  </a:lnTo>
                  <a:lnTo>
                    <a:pt x="122034" y="16560"/>
                  </a:lnTo>
                  <a:lnTo>
                    <a:pt x="86398" y="36360"/>
                  </a:lnTo>
                  <a:lnTo>
                    <a:pt x="55435" y="63004"/>
                  </a:lnTo>
                  <a:lnTo>
                    <a:pt x="30594" y="95034"/>
                  </a:lnTo>
                  <a:lnTo>
                    <a:pt x="9359" y="141477"/>
                  </a:lnTo>
                  <a:lnTo>
                    <a:pt x="1511" y="180365"/>
                  </a:lnTo>
                  <a:lnTo>
                    <a:pt x="1435" y="181076"/>
                  </a:lnTo>
                  <a:lnTo>
                    <a:pt x="772" y="190804"/>
                  </a:lnTo>
                  <a:lnTo>
                    <a:pt x="723" y="191515"/>
                  </a:lnTo>
                  <a:lnTo>
                    <a:pt x="368" y="201244"/>
                  </a:lnTo>
                  <a:lnTo>
                    <a:pt x="355" y="201599"/>
                  </a:lnTo>
                  <a:lnTo>
                    <a:pt x="0" y="201599"/>
                  </a:lnTo>
                  <a:lnTo>
                    <a:pt x="343" y="211683"/>
                  </a:lnTo>
                  <a:lnTo>
                    <a:pt x="6746" y="253441"/>
                  </a:lnTo>
                  <a:lnTo>
                    <a:pt x="6832" y="253796"/>
                  </a:lnTo>
                  <a:lnTo>
                    <a:pt x="21958" y="293039"/>
                  </a:lnTo>
                  <a:lnTo>
                    <a:pt x="44996" y="328320"/>
                  </a:lnTo>
                  <a:lnTo>
                    <a:pt x="74879" y="357835"/>
                  </a:lnTo>
                  <a:lnTo>
                    <a:pt x="110159" y="380885"/>
                  </a:lnTo>
                  <a:lnTo>
                    <a:pt x="149402" y="395998"/>
                  </a:lnTo>
                  <a:lnTo>
                    <a:pt x="191160" y="402475"/>
                  </a:lnTo>
                  <a:lnTo>
                    <a:pt x="201599" y="402843"/>
                  </a:lnTo>
                  <a:lnTo>
                    <a:pt x="212039" y="402475"/>
                  </a:lnTo>
                  <a:lnTo>
                    <a:pt x="253796" y="395998"/>
                  </a:lnTo>
                  <a:lnTo>
                    <a:pt x="293039" y="380885"/>
                  </a:lnTo>
                  <a:lnTo>
                    <a:pt x="328320" y="357835"/>
                  </a:lnTo>
                  <a:lnTo>
                    <a:pt x="357835" y="327964"/>
                  </a:lnTo>
                  <a:lnTo>
                    <a:pt x="380873" y="292684"/>
                  </a:lnTo>
                  <a:lnTo>
                    <a:pt x="395897" y="253796"/>
                  </a:lnTo>
                  <a:lnTo>
                    <a:pt x="395998" y="253441"/>
                  </a:lnTo>
                  <a:lnTo>
                    <a:pt x="398427" y="243357"/>
                  </a:lnTo>
                  <a:lnTo>
                    <a:pt x="398513" y="243001"/>
                  </a:lnTo>
                  <a:lnTo>
                    <a:pt x="400316" y="232917"/>
                  </a:lnTo>
                  <a:lnTo>
                    <a:pt x="401716" y="222478"/>
                  </a:lnTo>
                  <a:lnTo>
                    <a:pt x="401764" y="222122"/>
                  </a:lnTo>
                  <a:lnTo>
                    <a:pt x="402451" y="212039"/>
                  </a:lnTo>
                  <a:lnTo>
                    <a:pt x="402831" y="201599"/>
                  </a:lnTo>
                  <a:lnTo>
                    <a:pt x="402844" y="201244"/>
                  </a:lnTo>
                  <a:lnTo>
                    <a:pt x="402500" y="191515"/>
                  </a:lnTo>
                  <a:lnTo>
                    <a:pt x="395998" y="149034"/>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a:p>
          </p:txBody>
        </p:sp>
        <p:sp>
          <p:nvSpPr>
            <p:cNvPr id="10" name="object 10"/>
            <p:cNvSpPr/>
            <p:nvPr/>
          </p:nvSpPr>
          <p:spPr>
            <a:xfrm>
              <a:off x="7760881" y="1536839"/>
              <a:ext cx="403225" cy="403225"/>
            </a:xfrm>
            <a:custGeom>
              <a:avLst/>
              <a:gdLst/>
              <a:ahLst/>
              <a:cxnLst/>
              <a:rect l="l" t="t" r="r" b="b"/>
              <a:pathLst>
                <a:path w="403225" h="403225">
                  <a:moveTo>
                    <a:pt x="355" y="201599"/>
                  </a:moveTo>
                  <a:lnTo>
                    <a:pt x="723" y="191515"/>
                  </a:lnTo>
                  <a:lnTo>
                    <a:pt x="1435" y="181076"/>
                  </a:lnTo>
                  <a:lnTo>
                    <a:pt x="9359" y="141477"/>
                  </a:lnTo>
                  <a:lnTo>
                    <a:pt x="25565" y="104038"/>
                  </a:lnTo>
                  <a:lnTo>
                    <a:pt x="42481" y="78485"/>
                  </a:lnTo>
                  <a:lnTo>
                    <a:pt x="48602" y="70561"/>
                  </a:lnTo>
                  <a:lnTo>
                    <a:pt x="78117" y="42481"/>
                  </a:lnTo>
                  <a:lnTo>
                    <a:pt x="112674" y="20878"/>
                  </a:lnTo>
                  <a:lnTo>
                    <a:pt x="151193" y="6476"/>
                  </a:lnTo>
                  <a:lnTo>
                    <a:pt x="191516" y="355"/>
                  </a:lnTo>
                  <a:lnTo>
                    <a:pt x="201599" y="0"/>
                  </a:lnTo>
                  <a:lnTo>
                    <a:pt x="243357" y="4317"/>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3"/>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11" name="object 11"/>
          <p:cNvSpPr txBox="1"/>
          <p:nvPr/>
        </p:nvSpPr>
        <p:spPr>
          <a:xfrm>
            <a:off x="7914500" y="1624215"/>
            <a:ext cx="98425" cy="239395"/>
          </a:xfrm>
          <a:prstGeom prst="rect">
            <a:avLst/>
          </a:prstGeom>
        </p:spPr>
        <p:txBody>
          <a:bodyPr vert="horz" wrap="square" lIns="0" tIns="12700" rIns="0" bIns="0" rtlCol="0">
            <a:spAutoFit/>
          </a:bodyPr>
          <a:lstStyle/>
          <a:p>
            <a:pPr marL="12700">
              <a:lnSpc>
                <a:spcPct val="100000"/>
              </a:lnSpc>
              <a:spcBef>
                <a:spcPts val="100"/>
              </a:spcBef>
            </a:pPr>
            <a:r>
              <a:rPr sz="1400" spc="-120" dirty="0">
                <a:solidFill>
                  <a:srgbClr val="FFFFFF"/>
                </a:solidFill>
                <a:latin typeface="Trebuchet MS"/>
                <a:cs typeface="Trebuchet MS"/>
              </a:rPr>
              <a:t>1</a:t>
            </a:r>
            <a:endParaRPr sz="1400">
              <a:latin typeface="Trebuchet MS"/>
              <a:cs typeface="Trebuchet MS"/>
            </a:endParaRPr>
          </a:p>
        </p:txBody>
      </p:sp>
      <p:grpSp>
        <p:nvGrpSpPr>
          <p:cNvPr id="12" name="object 12"/>
          <p:cNvGrpSpPr/>
          <p:nvPr/>
        </p:nvGrpSpPr>
        <p:grpSpPr>
          <a:xfrm>
            <a:off x="7754531" y="1706892"/>
            <a:ext cx="1149985" cy="1550035"/>
            <a:chOff x="7754531" y="1706892"/>
            <a:chExt cx="1149985" cy="1550035"/>
          </a:xfrm>
        </p:grpSpPr>
        <p:sp>
          <p:nvSpPr>
            <p:cNvPr id="13" name="object 13"/>
            <p:cNvSpPr/>
            <p:nvPr/>
          </p:nvSpPr>
          <p:spPr>
            <a:xfrm>
              <a:off x="8441283" y="1713242"/>
              <a:ext cx="457200" cy="53975"/>
            </a:xfrm>
            <a:custGeom>
              <a:avLst/>
              <a:gdLst/>
              <a:ahLst/>
              <a:cxnLst/>
              <a:rect l="l" t="t" r="r" b="b"/>
              <a:pathLst>
                <a:path w="457200" h="53975">
                  <a:moveTo>
                    <a:pt x="228600" y="53632"/>
                  </a:moveTo>
                  <a:lnTo>
                    <a:pt x="0" y="53632"/>
                  </a:lnTo>
                  <a:lnTo>
                    <a:pt x="0" y="0"/>
                  </a:lnTo>
                  <a:lnTo>
                    <a:pt x="456831" y="0"/>
                  </a:lnTo>
                  <a:lnTo>
                    <a:pt x="456831" y="53632"/>
                  </a:lnTo>
                  <a:lnTo>
                    <a:pt x="228600" y="53632"/>
                  </a:lnTo>
                  <a:close/>
                </a:path>
              </a:pathLst>
            </a:custGeom>
            <a:ln w="12599">
              <a:solidFill>
                <a:srgbClr val="FFFFFF"/>
              </a:solidFill>
            </a:ln>
          </p:spPr>
          <p:txBody>
            <a:bodyPr wrap="square" lIns="0" tIns="0" rIns="0" bIns="0" rtlCol="0"/>
            <a:lstStyle/>
            <a:p>
              <a:endParaRPr/>
            </a:p>
          </p:txBody>
        </p:sp>
        <p:sp>
          <p:nvSpPr>
            <p:cNvPr id="14" name="object 14"/>
            <p:cNvSpPr/>
            <p:nvPr/>
          </p:nvSpPr>
          <p:spPr>
            <a:xfrm>
              <a:off x="7760881" y="2847238"/>
              <a:ext cx="403225" cy="403225"/>
            </a:xfrm>
            <a:custGeom>
              <a:avLst/>
              <a:gdLst/>
              <a:ahLst/>
              <a:cxnLst/>
              <a:rect l="l" t="t" r="r" b="b"/>
              <a:pathLst>
                <a:path w="403225" h="403225">
                  <a:moveTo>
                    <a:pt x="201599" y="0"/>
                  </a:moveTo>
                  <a:lnTo>
                    <a:pt x="160921" y="4317"/>
                  </a:lnTo>
                  <a:lnTo>
                    <a:pt x="122034" y="16560"/>
                  </a:lnTo>
                  <a:lnTo>
                    <a:pt x="86398" y="36360"/>
                  </a:lnTo>
                  <a:lnTo>
                    <a:pt x="55435" y="63004"/>
                  </a:lnTo>
                  <a:lnTo>
                    <a:pt x="30594" y="95046"/>
                  </a:lnTo>
                  <a:lnTo>
                    <a:pt x="9359" y="141477"/>
                  </a:lnTo>
                  <a:lnTo>
                    <a:pt x="1511" y="180365"/>
                  </a:lnTo>
                  <a:lnTo>
                    <a:pt x="1435" y="181076"/>
                  </a:lnTo>
                  <a:lnTo>
                    <a:pt x="772" y="190804"/>
                  </a:lnTo>
                  <a:lnTo>
                    <a:pt x="723" y="191515"/>
                  </a:lnTo>
                  <a:lnTo>
                    <a:pt x="368" y="201244"/>
                  </a:lnTo>
                  <a:lnTo>
                    <a:pt x="355" y="201599"/>
                  </a:lnTo>
                  <a:lnTo>
                    <a:pt x="0" y="201599"/>
                  </a:lnTo>
                  <a:lnTo>
                    <a:pt x="343" y="211683"/>
                  </a:lnTo>
                  <a:lnTo>
                    <a:pt x="6746" y="253441"/>
                  </a:lnTo>
                  <a:lnTo>
                    <a:pt x="21958" y="293039"/>
                  </a:lnTo>
                  <a:lnTo>
                    <a:pt x="44996" y="328320"/>
                  </a:lnTo>
                  <a:lnTo>
                    <a:pt x="74879" y="357847"/>
                  </a:lnTo>
                  <a:lnTo>
                    <a:pt x="110159" y="380885"/>
                  </a:lnTo>
                  <a:lnTo>
                    <a:pt x="149402" y="395998"/>
                  </a:lnTo>
                  <a:lnTo>
                    <a:pt x="191160" y="402475"/>
                  </a:lnTo>
                  <a:lnTo>
                    <a:pt x="201599" y="402843"/>
                  </a:lnTo>
                  <a:lnTo>
                    <a:pt x="212039" y="402475"/>
                  </a:lnTo>
                  <a:lnTo>
                    <a:pt x="253796" y="395998"/>
                  </a:lnTo>
                  <a:lnTo>
                    <a:pt x="293039" y="380885"/>
                  </a:lnTo>
                  <a:lnTo>
                    <a:pt x="328320" y="357847"/>
                  </a:lnTo>
                  <a:lnTo>
                    <a:pt x="357835" y="327964"/>
                  </a:lnTo>
                  <a:lnTo>
                    <a:pt x="380873" y="292684"/>
                  </a:lnTo>
                  <a:lnTo>
                    <a:pt x="395897" y="253796"/>
                  </a:lnTo>
                  <a:lnTo>
                    <a:pt x="395998" y="253441"/>
                  </a:lnTo>
                  <a:lnTo>
                    <a:pt x="398427" y="243357"/>
                  </a:lnTo>
                  <a:lnTo>
                    <a:pt x="398513" y="243001"/>
                  </a:lnTo>
                  <a:lnTo>
                    <a:pt x="400316" y="232917"/>
                  </a:lnTo>
                  <a:lnTo>
                    <a:pt x="401716" y="222478"/>
                  </a:lnTo>
                  <a:lnTo>
                    <a:pt x="401764" y="222123"/>
                  </a:lnTo>
                  <a:lnTo>
                    <a:pt x="402451" y="212039"/>
                  </a:lnTo>
                  <a:lnTo>
                    <a:pt x="402831" y="201599"/>
                  </a:lnTo>
                  <a:lnTo>
                    <a:pt x="402844" y="201244"/>
                  </a:lnTo>
                  <a:lnTo>
                    <a:pt x="402500" y="191515"/>
                  </a:lnTo>
                  <a:lnTo>
                    <a:pt x="395998" y="149047"/>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a:p>
          </p:txBody>
        </p:sp>
        <p:sp>
          <p:nvSpPr>
            <p:cNvPr id="15" name="object 15"/>
            <p:cNvSpPr/>
            <p:nvPr/>
          </p:nvSpPr>
          <p:spPr>
            <a:xfrm>
              <a:off x="7760881" y="2847238"/>
              <a:ext cx="403225" cy="403225"/>
            </a:xfrm>
            <a:custGeom>
              <a:avLst/>
              <a:gdLst/>
              <a:ahLst/>
              <a:cxnLst/>
              <a:rect l="l" t="t" r="r" b="b"/>
              <a:pathLst>
                <a:path w="403225" h="403225">
                  <a:moveTo>
                    <a:pt x="355" y="201599"/>
                  </a:moveTo>
                  <a:lnTo>
                    <a:pt x="723" y="191515"/>
                  </a:lnTo>
                  <a:lnTo>
                    <a:pt x="1435" y="181076"/>
                  </a:lnTo>
                  <a:lnTo>
                    <a:pt x="9359" y="141477"/>
                  </a:lnTo>
                  <a:lnTo>
                    <a:pt x="25565" y="104038"/>
                  </a:lnTo>
                  <a:lnTo>
                    <a:pt x="42481" y="78486"/>
                  </a:lnTo>
                  <a:lnTo>
                    <a:pt x="48602" y="70561"/>
                  </a:lnTo>
                  <a:lnTo>
                    <a:pt x="78117" y="42481"/>
                  </a:lnTo>
                  <a:lnTo>
                    <a:pt x="112674" y="20878"/>
                  </a:lnTo>
                  <a:lnTo>
                    <a:pt x="151193" y="6476"/>
                  </a:lnTo>
                  <a:lnTo>
                    <a:pt x="191516" y="355"/>
                  </a:lnTo>
                  <a:lnTo>
                    <a:pt x="201599" y="0"/>
                  </a:lnTo>
                  <a:lnTo>
                    <a:pt x="243357" y="4317"/>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3"/>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16" name="object 16"/>
          <p:cNvSpPr txBox="1"/>
          <p:nvPr/>
        </p:nvSpPr>
        <p:spPr>
          <a:xfrm>
            <a:off x="9213736" y="819422"/>
            <a:ext cx="2475230" cy="140551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Design Verification</a:t>
            </a:r>
            <a:endParaRPr sz="1800" dirty="0">
              <a:latin typeface="Trebuchet MS"/>
              <a:cs typeface="Trebuchet MS"/>
            </a:endParaRPr>
          </a:p>
          <a:p>
            <a:pPr marL="12700" marR="5080">
              <a:lnSpc>
                <a:spcPct val="100000"/>
              </a:lnSpc>
              <a:spcBef>
                <a:spcPts val="919"/>
              </a:spcBef>
            </a:pPr>
            <a:r>
              <a:rPr sz="1300" dirty="0">
                <a:solidFill>
                  <a:srgbClr val="FFFFFF"/>
                </a:solidFill>
                <a:latin typeface="Trebuchet MS"/>
                <a:cs typeface="Trebuchet MS"/>
              </a:rPr>
              <a:t>Conducting virtual simulations to ensure design integrity and performance before physical prototyping, minimizing costly errors.</a:t>
            </a:r>
            <a:endParaRPr sz="1300" dirty="0">
              <a:latin typeface="Trebuchet MS"/>
              <a:cs typeface="Trebuchet MS"/>
            </a:endParaRPr>
          </a:p>
        </p:txBody>
      </p:sp>
      <p:sp>
        <p:nvSpPr>
          <p:cNvPr id="17" name="object 17"/>
          <p:cNvSpPr txBox="1"/>
          <p:nvPr/>
        </p:nvSpPr>
        <p:spPr>
          <a:xfrm>
            <a:off x="7914500" y="2931020"/>
            <a:ext cx="98425" cy="239395"/>
          </a:xfrm>
          <a:prstGeom prst="rect">
            <a:avLst/>
          </a:prstGeom>
        </p:spPr>
        <p:txBody>
          <a:bodyPr vert="horz" wrap="square" lIns="0" tIns="12700" rIns="0" bIns="0" rtlCol="0">
            <a:spAutoFit/>
          </a:bodyPr>
          <a:lstStyle/>
          <a:p>
            <a:pPr marL="12700">
              <a:lnSpc>
                <a:spcPct val="100000"/>
              </a:lnSpc>
              <a:spcBef>
                <a:spcPts val="100"/>
              </a:spcBef>
            </a:pPr>
            <a:r>
              <a:rPr sz="1400" spc="-120" dirty="0">
                <a:solidFill>
                  <a:srgbClr val="FFFFFF"/>
                </a:solidFill>
                <a:latin typeface="Trebuchet MS"/>
                <a:cs typeface="Trebuchet MS"/>
              </a:rPr>
              <a:t>2</a:t>
            </a:r>
            <a:endParaRPr sz="1400">
              <a:latin typeface="Trebuchet MS"/>
              <a:cs typeface="Trebuchet MS"/>
            </a:endParaRPr>
          </a:p>
        </p:txBody>
      </p:sp>
      <p:grpSp>
        <p:nvGrpSpPr>
          <p:cNvPr id="18" name="object 18"/>
          <p:cNvGrpSpPr/>
          <p:nvPr/>
        </p:nvGrpSpPr>
        <p:grpSpPr>
          <a:xfrm>
            <a:off x="7754531" y="3017291"/>
            <a:ext cx="1149985" cy="1557020"/>
            <a:chOff x="7754531" y="3017291"/>
            <a:chExt cx="1149985" cy="1557020"/>
          </a:xfrm>
        </p:grpSpPr>
        <p:sp>
          <p:nvSpPr>
            <p:cNvPr id="19" name="object 19"/>
            <p:cNvSpPr/>
            <p:nvPr/>
          </p:nvSpPr>
          <p:spPr>
            <a:xfrm>
              <a:off x="8441283" y="3023641"/>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20" name="object 20"/>
            <p:cNvSpPr/>
            <p:nvPr/>
          </p:nvSpPr>
          <p:spPr>
            <a:xfrm>
              <a:off x="7760881" y="4164838"/>
              <a:ext cx="403225" cy="403225"/>
            </a:xfrm>
            <a:custGeom>
              <a:avLst/>
              <a:gdLst/>
              <a:ahLst/>
              <a:cxnLst/>
              <a:rect l="l" t="t" r="r" b="b"/>
              <a:pathLst>
                <a:path w="403225" h="403225">
                  <a:moveTo>
                    <a:pt x="201599" y="0"/>
                  </a:moveTo>
                  <a:lnTo>
                    <a:pt x="160921" y="4318"/>
                  </a:lnTo>
                  <a:lnTo>
                    <a:pt x="122034" y="16560"/>
                  </a:lnTo>
                  <a:lnTo>
                    <a:pt x="86398" y="36360"/>
                  </a:lnTo>
                  <a:lnTo>
                    <a:pt x="55435" y="63004"/>
                  </a:lnTo>
                  <a:lnTo>
                    <a:pt x="30594" y="95046"/>
                  </a:lnTo>
                  <a:lnTo>
                    <a:pt x="9359" y="141478"/>
                  </a:lnTo>
                  <a:lnTo>
                    <a:pt x="1511" y="180365"/>
                  </a:lnTo>
                  <a:lnTo>
                    <a:pt x="1435" y="181076"/>
                  </a:lnTo>
                  <a:lnTo>
                    <a:pt x="772" y="190804"/>
                  </a:lnTo>
                  <a:lnTo>
                    <a:pt x="723" y="191516"/>
                  </a:lnTo>
                  <a:lnTo>
                    <a:pt x="368" y="201244"/>
                  </a:lnTo>
                  <a:lnTo>
                    <a:pt x="355" y="201599"/>
                  </a:lnTo>
                  <a:lnTo>
                    <a:pt x="0" y="201599"/>
                  </a:lnTo>
                  <a:lnTo>
                    <a:pt x="343" y="211683"/>
                  </a:lnTo>
                  <a:lnTo>
                    <a:pt x="6746" y="253441"/>
                  </a:lnTo>
                  <a:lnTo>
                    <a:pt x="6832" y="253796"/>
                  </a:lnTo>
                  <a:lnTo>
                    <a:pt x="21958" y="293039"/>
                  </a:lnTo>
                  <a:lnTo>
                    <a:pt x="44996" y="328320"/>
                  </a:lnTo>
                  <a:lnTo>
                    <a:pt x="74879" y="357847"/>
                  </a:lnTo>
                  <a:lnTo>
                    <a:pt x="110159" y="380885"/>
                  </a:lnTo>
                  <a:lnTo>
                    <a:pt x="149402" y="395998"/>
                  </a:lnTo>
                  <a:lnTo>
                    <a:pt x="191160" y="402475"/>
                  </a:lnTo>
                  <a:lnTo>
                    <a:pt x="201599" y="402844"/>
                  </a:lnTo>
                  <a:lnTo>
                    <a:pt x="212039" y="402475"/>
                  </a:lnTo>
                  <a:lnTo>
                    <a:pt x="253796" y="395998"/>
                  </a:lnTo>
                  <a:lnTo>
                    <a:pt x="293039" y="380885"/>
                  </a:lnTo>
                  <a:lnTo>
                    <a:pt x="328320" y="357847"/>
                  </a:lnTo>
                  <a:lnTo>
                    <a:pt x="357835" y="327964"/>
                  </a:lnTo>
                  <a:lnTo>
                    <a:pt x="380873" y="292684"/>
                  </a:lnTo>
                  <a:lnTo>
                    <a:pt x="395897" y="253796"/>
                  </a:lnTo>
                  <a:lnTo>
                    <a:pt x="395998" y="253441"/>
                  </a:lnTo>
                  <a:lnTo>
                    <a:pt x="398427" y="243357"/>
                  </a:lnTo>
                  <a:lnTo>
                    <a:pt x="398513" y="243001"/>
                  </a:lnTo>
                  <a:lnTo>
                    <a:pt x="400316" y="232918"/>
                  </a:lnTo>
                  <a:lnTo>
                    <a:pt x="401716" y="222478"/>
                  </a:lnTo>
                  <a:lnTo>
                    <a:pt x="401764" y="222123"/>
                  </a:lnTo>
                  <a:lnTo>
                    <a:pt x="402451" y="212039"/>
                  </a:lnTo>
                  <a:lnTo>
                    <a:pt x="402831" y="201599"/>
                  </a:lnTo>
                  <a:lnTo>
                    <a:pt x="402844" y="201244"/>
                  </a:lnTo>
                  <a:lnTo>
                    <a:pt x="402500" y="191516"/>
                  </a:lnTo>
                  <a:lnTo>
                    <a:pt x="395998" y="149047"/>
                  </a:lnTo>
                  <a:lnTo>
                    <a:pt x="380873" y="109804"/>
                  </a:lnTo>
                  <a:lnTo>
                    <a:pt x="357835" y="74523"/>
                  </a:lnTo>
                  <a:lnTo>
                    <a:pt x="327964" y="44996"/>
                  </a:lnTo>
                  <a:lnTo>
                    <a:pt x="293039" y="21958"/>
                  </a:lnTo>
                  <a:lnTo>
                    <a:pt x="253796" y="6845"/>
                  </a:lnTo>
                  <a:lnTo>
                    <a:pt x="212039" y="368"/>
                  </a:lnTo>
                  <a:lnTo>
                    <a:pt x="201599" y="0"/>
                  </a:lnTo>
                  <a:close/>
                </a:path>
              </a:pathLst>
            </a:custGeom>
            <a:solidFill>
              <a:srgbClr val="222021"/>
            </a:solidFill>
          </p:spPr>
          <p:txBody>
            <a:bodyPr wrap="square" lIns="0" tIns="0" rIns="0" bIns="0" rtlCol="0"/>
            <a:lstStyle/>
            <a:p>
              <a:endParaRPr/>
            </a:p>
          </p:txBody>
        </p:sp>
        <p:sp>
          <p:nvSpPr>
            <p:cNvPr id="21" name="object 21"/>
            <p:cNvSpPr/>
            <p:nvPr/>
          </p:nvSpPr>
          <p:spPr>
            <a:xfrm>
              <a:off x="7760881" y="4164838"/>
              <a:ext cx="403225" cy="403225"/>
            </a:xfrm>
            <a:custGeom>
              <a:avLst/>
              <a:gdLst/>
              <a:ahLst/>
              <a:cxnLst/>
              <a:rect l="l" t="t" r="r" b="b"/>
              <a:pathLst>
                <a:path w="403225" h="403225">
                  <a:moveTo>
                    <a:pt x="355" y="201599"/>
                  </a:moveTo>
                  <a:lnTo>
                    <a:pt x="723" y="191516"/>
                  </a:lnTo>
                  <a:lnTo>
                    <a:pt x="1435" y="181076"/>
                  </a:lnTo>
                  <a:lnTo>
                    <a:pt x="9359" y="141478"/>
                  </a:lnTo>
                  <a:lnTo>
                    <a:pt x="25565" y="104038"/>
                  </a:lnTo>
                  <a:lnTo>
                    <a:pt x="42481" y="78486"/>
                  </a:lnTo>
                  <a:lnTo>
                    <a:pt x="48602" y="70561"/>
                  </a:lnTo>
                  <a:lnTo>
                    <a:pt x="78117" y="42481"/>
                  </a:lnTo>
                  <a:lnTo>
                    <a:pt x="112674" y="20878"/>
                  </a:lnTo>
                  <a:lnTo>
                    <a:pt x="151193" y="6476"/>
                  </a:lnTo>
                  <a:lnTo>
                    <a:pt x="191516" y="368"/>
                  </a:lnTo>
                  <a:lnTo>
                    <a:pt x="201599" y="0"/>
                  </a:lnTo>
                  <a:lnTo>
                    <a:pt x="243357" y="4318"/>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4"/>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22" name="object 22"/>
          <p:cNvSpPr txBox="1"/>
          <p:nvPr/>
        </p:nvSpPr>
        <p:spPr>
          <a:xfrm>
            <a:off x="9175660" y="2221716"/>
            <a:ext cx="2603500" cy="1560042"/>
          </a:xfrm>
          <a:prstGeom prst="rect">
            <a:avLst/>
          </a:prstGeom>
        </p:spPr>
        <p:txBody>
          <a:bodyPr vert="horz" wrap="square" lIns="0" tIns="165735" rIns="0" bIns="0" rtlCol="0">
            <a:spAutoFit/>
          </a:bodyPr>
          <a:lstStyle/>
          <a:p>
            <a:pPr marL="12700">
              <a:lnSpc>
                <a:spcPct val="100000"/>
              </a:lnSpc>
              <a:spcBef>
                <a:spcPts val="1305"/>
              </a:spcBef>
            </a:pPr>
            <a:r>
              <a:rPr sz="1800" dirty="0">
                <a:solidFill>
                  <a:srgbClr val="FFFFFF"/>
                </a:solidFill>
                <a:latin typeface="Trebuchet MS"/>
                <a:cs typeface="Trebuchet MS"/>
              </a:rPr>
              <a:t>Component Interactions</a:t>
            </a:r>
            <a:endParaRPr sz="1800" dirty="0">
              <a:latin typeface="Trebuchet MS"/>
              <a:cs typeface="Trebuchet MS"/>
            </a:endParaRPr>
          </a:p>
          <a:p>
            <a:pPr marL="12700" marR="5080">
              <a:lnSpc>
                <a:spcPct val="100000"/>
              </a:lnSpc>
              <a:spcBef>
                <a:spcPts val="869"/>
              </a:spcBef>
            </a:pPr>
            <a:r>
              <a:rPr sz="1300" dirty="0">
                <a:solidFill>
                  <a:srgbClr val="FFFFFF"/>
                </a:solidFill>
                <a:latin typeface="Trebuchet MS"/>
                <a:cs typeface="Trebuchet MS"/>
              </a:rPr>
              <a:t>Analyzing the dynamics between different suspension components, improving overall assembly efficiency and reducing design conflicts.</a:t>
            </a:r>
            <a:endParaRPr sz="1300" dirty="0">
              <a:latin typeface="Trebuchet MS"/>
              <a:cs typeface="Trebuchet MS"/>
            </a:endParaRPr>
          </a:p>
        </p:txBody>
      </p:sp>
      <p:sp>
        <p:nvSpPr>
          <p:cNvPr id="23" name="object 23"/>
          <p:cNvSpPr txBox="1"/>
          <p:nvPr/>
        </p:nvSpPr>
        <p:spPr>
          <a:xfrm>
            <a:off x="7914500" y="4248264"/>
            <a:ext cx="98425" cy="239395"/>
          </a:xfrm>
          <a:prstGeom prst="rect">
            <a:avLst/>
          </a:prstGeom>
        </p:spPr>
        <p:txBody>
          <a:bodyPr vert="horz" wrap="square" lIns="0" tIns="12700" rIns="0" bIns="0" rtlCol="0">
            <a:spAutoFit/>
          </a:bodyPr>
          <a:lstStyle/>
          <a:p>
            <a:pPr marL="12700">
              <a:lnSpc>
                <a:spcPct val="100000"/>
              </a:lnSpc>
              <a:spcBef>
                <a:spcPts val="100"/>
              </a:spcBef>
            </a:pPr>
            <a:r>
              <a:rPr sz="1400" spc="-120" dirty="0">
                <a:solidFill>
                  <a:srgbClr val="FFFFFF"/>
                </a:solidFill>
                <a:latin typeface="Trebuchet MS"/>
                <a:cs typeface="Trebuchet MS"/>
              </a:rPr>
              <a:t>3</a:t>
            </a:r>
            <a:endParaRPr sz="1400">
              <a:latin typeface="Trebuchet MS"/>
              <a:cs typeface="Trebuchet MS"/>
            </a:endParaRPr>
          </a:p>
        </p:txBody>
      </p:sp>
      <p:grpSp>
        <p:nvGrpSpPr>
          <p:cNvPr id="24" name="object 24"/>
          <p:cNvGrpSpPr/>
          <p:nvPr/>
        </p:nvGrpSpPr>
        <p:grpSpPr>
          <a:xfrm>
            <a:off x="7754531" y="4331284"/>
            <a:ext cx="1149985" cy="1557020"/>
            <a:chOff x="7754531" y="4331284"/>
            <a:chExt cx="1149985" cy="1557020"/>
          </a:xfrm>
        </p:grpSpPr>
        <p:sp>
          <p:nvSpPr>
            <p:cNvPr id="25" name="object 25"/>
            <p:cNvSpPr/>
            <p:nvPr/>
          </p:nvSpPr>
          <p:spPr>
            <a:xfrm>
              <a:off x="8441283" y="4337634"/>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26" name="object 26"/>
            <p:cNvSpPr/>
            <p:nvPr/>
          </p:nvSpPr>
          <p:spPr>
            <a:xfrm>
              <a:off x="7760881" y="5478843"/>
              <a:ext cx="403225" cy="403225"/>
            </a:xfrm>
            <a:custGeom>
              <a:avLst/>
              <a:gdLst/>
              <a:ahLst/>
              <a:cxnLst/>
              <a:rect l="l" t="t" r="r" b="b"/>
              <a:pathLst>
                <a:path w="403225" h="403225">
                  <a:moveTo>
                    <a:pt x="201599" y="0"/>
                  </a:moveTo>
                  <a:lnTo>
                    <a:pt x="160921" y="4318"/>
                  </a:lnTo>
                  <a:lnTo>
                    <a:pt x="122034" y="16560"/>
                  </a:lnTo>
                  <a:lnTo>
                    <a:pt x="86398" y="36360"/>
                  </a:lnTo>
                  <a:lnTo>
                    <a:pt x="55435" y="62992"/>
                  </a:lnTo>
                  <a:lnTo>
                    <a:pt x="30594" y="95034"/>
                  </a:lnTo>
                  <a:lnTo>
                    <a:pt x="9359" y="141478"/>
                  </a:lnTo>
                  <a:lnTo>
                    <a:pt x="1512" y="180352"/>
                  </a:lnTo>
                  <a:lnTo>
                    <a:pt x="1435" y="181076"/>
                  </a:lnTo>
                  <a:lnTo>
                    <a:pt x="773" y="190792"/>
                  </a:lnTo>
                  <a:lnTo>
                    <a:pt x="723" y="191516"/>
                  </a:lnTo>
                  <a:lnTo>
                    <a:pt x="369" y="201231"/>
                  </a:lnTo>
                  <a:lnTo>
                    <a:pt x="355" y="201599"/>
                  </a:lnTo>
                  <a:lnTo>
                    <a:pt x="0" y="201599"/>
                  </a:lnTo>
                  <a:lnTo>
                    <a:pt x="343" y="211670"/>
                  </a:lnTo>
                  <a:lnTo>
                    <a:pt x="6746" y="253441"/>
                  </a:lnTo>
                  <a:lnTo>
                    <a:pt x="21958" y="293039"/>
                  </a:lnTo>
                  <a:lnTo>
                    <a:pt x="44996" y="328320"/>
                  </a:lnTo>
                  <a:lnTo>
                    <a:pt x="74879" y="357835"/>
                  </a:lnTo>
                  <a:lnTo>
                    <a:pt x="110159" y="380873"/>
                  </a:lnTo>
                  <a:lnTo>
                    <a:pt x="149402" y="395998"/>
                  </a:lnTo>
                  <a:lnTo>
                    <a:pt x="191160" y="402475"/>
                  </a:lnTo>
                  <a:lnTo>
                    <a:pt x="201599" y="402831"/>
                  </a:lnTo>
                  <a:lnTo>
                    <a:pt x="212039" y="402475"/>
                  </a:lnTo>
                  <a:lnTo>
                    <a:pt x="253796" y="395998"/>
                  </a:lnTo>
                  <a:lnTo>
                    <a:pt x="293039" y="380873"/>
                  </a:lnTo>
                  <a:lnTo>
                    <a:pt x="328320" y="357835"/>
                  </a:lnTo>
                  <a:lnTo>
                    <a:pt x="357835" y="327952"/>
                  </a:lnTo>
                  <a:lnTo>
                    <a:pt x="380873" y="292671"/>
                  </a:lnTo>
                  <a:lnTo>
                    <a:pt x="395896" y="253796"/>
                  </a:lnTo>
                  <a:lnTo>
                    <a:pt x="398427" y="243357"/>
                  </a:lnTo>
                  <a:lnTo>
                    <a:pt x="398513" y="243001"/>
                  </a:lnTo>
                  <a:lnTo>
                    <a:pt x="402831" y="201599"/>
                  </a:lnTo>
                  <a:lnTo>
                    <a:pt x="402844" y="201231"/>
                  </a:lnTo>
                  <a:lnTo>
                    <a:pt x="402501" y="191516"/>
                  </a:lnTo>
                  <a:lnTo>
                    <a:pt x="402475" y="190792"/>
                  </a:lnTo>
                  <a:lnTo>
                    <a:pt x="395998" y="149034"/>
                  </a:lnTo>
                  <a:lnTo>
                    <a:pt x="380873" y="109791"/>
                  </a:lnTo>
                  <a:lnTo>
                    <a:pt x="357835" y="74510"/>
                  </a:lnTo>
                  <a:lnTo>
                    <a:pt x="327964" y="44996"/>
                  </a:lnTo>
                  <a:lnTo>
                    <a:pt x="293039" y="21958"/>
                  </a:lnTo>
                  <a:lnTo>
                    <a:pt x="253796" y="6832"/>
                  </a:lnTo>
                  <a:lnTo>
                    <a:pt x="212039" y="355"/>
                  </a:lnTo>
                  <a:lnTo>
                    <a:pt x="201599" y="0"/>
                  </a:lnTo>
                  <a:close/>
                </a:path>
              </a:pathLst>
            </a:custGeom>
            <a:solidFill>
              <a:srgbClr val="222021"/>
            </a:solidFill>
          </p:spPr>
          <p:txBody>
            <a:bodyPr wrap="square" lIns="0" tIns="0" rIns="0" bIns="0" rtlCol="0"/>
            <a:lstStyle/>
            <a:p>
              <a:endParaRPr/>
            </a:p>
          </p:txBody>
        </p:sp>
        <p:sp>
          <p:nvSpPr>
            <p:cNvPr id="27" name="object 27"/>
            <p:cNvSpPr/>
            <p:nvPr/>
          </p:nvSpPr>
          <p:spPr>
            <a:xfrm>
              <a:off x="7760881" y="5478843"/>
              <a:ext cx="403225" cy="403225"/>
            </a:xfrm>
            <a:custGeom>
              <a:avLst/>
              <a:gdLst/>
              <a:ahLst/>
              <a:cxnLst/>
              <a:rect l="l" t="t" r="r" b="b"/>
              <a:pathLst>
                <a:path w="403225" h="403225">
                  <a:moveTo>
                    <a:pt x="355" y="201599"/>
                  </a:moveTo>
                  <a:lnTo>
                    <a:pt x="723" y="191516"/>
                  </a:lnTo>
                  <a:lnTo>
                    <a:pt x="1435" y="181076"/>
                  </a:lnTo>
                  <a:lnTo>
                    <a:pt x="9359" y="141478"/>
                  </a:lnTo>
                  <a:lnTo>
                    <a:pt x="25565" y="104038"/>
                  </a:lnTo>
                  <a:lnTo>
                    <a:pt x="48602" y="70561"/>
                  </a:lnTo>
                  <a:lnTo>
                    <a:pt x="78117" y="42481"/>
                  </a:lnTo>
                  <a:lnTo>
                    <a:pt x="112674" y="20878"/>
                  </a:lnTo>
                  <a:lnTo>
                    <a:pt x="151193" y="6477"/>
                  </a:lnTo>
                  <a:lnTo>
                    <a:pt x="191516" y="355"/>
                  </a:lnTo>
                  <a:lnTo>
                    <a:pt x="201599" y="0"/>
                  </a:lnTo>
                  <a:lnTo>
                    <a:pt x="243357" y="4318"/>
                  </a:lnTo>
                  <a:lnTo>
                    <a:pt x="283324" y="17272"/>
                  </a:lnTo>
                  <a:lnTo>
                    <a:pt x="319684" y="38519"/>
                  </a:lnTo>
                  <a:lnTo>
                    <a:pt x="351002" y="66598"/>
                  </a:lnTo>
                  <a:lnTo>
                    <a:pt x="375843" y="100431"/>
                  </a:lnTo>
                  <a:lnTo>
                    <a:pt x="392760" y="138950"/>
                  </a:lnTo>
                  <a:lnTo>
                    <a:pt x="401764" y="180352"/>
                  </a:lnTo>
                  <a:lnTo>
                    <a:pt x="402844" y="201231"/>
                  </a:lnTo>
                  <a:lnTo>
                    <a:pt x="398513" y="243001"/>
                  </a:lnTo>
                  <a:lnTo>
                    <a:pt x="385559" y="283311"/>
                  </a:lnTo>
                  <a:lnTo>
                    <a:pt x="364324" y="319671"/>
                  </a:lnTo>
                  <a:lnTo>
                    <a:pt x="336245" y="351002"/>
                  </a:lnTo>
                  <a:lnTo>
                    <a:pt x="302399" y="375831"/>
                  </a:lnTo>
                  <a:lnTo>
                    <a:pt x="283324" y="385191"/>
                  </a:lnTo>
                  <a:lnTo>
                    <a:pt x="273596" y="389521"/>
                  </a:lnTo>
                  <a:lnTo>
                    <a:pt x="232918" y="400316"/>
                  </a:lnTo>
                  <a:lnTo>
                    <a:pt x="201599" y="402831"/>
                  </a:lnTo>
                  <a:lnTo>
                    <a:pt x="159842" y="398513"/>
                  </a:lnTo>
                  <a:lnTo>
                    <a:pt x="119519" y="385559"/>
                  </a:lnTo>
                  <a:lnTo>
                    <a:pt x="83159" y="364312"/>
                  </a:lnTo>
                  <a:lnTo>
                    <a:pt x="51841" y="336232"/>
                  </a:lnTo>
                  <a:lnTo>
                    <a:pt x="27000" y="302399"/>
                  </a:lnTo>
                  <a:lnTo>
                    <a:pt x="17640" y="283311"/>
                  </a:lnTo>
                  <a:lnTo>
                    <a:pt x="13322" y="273596"/>
                  </a:lnTo>
                  <a:lnTo>
                    <a:pt x="2514" y="23291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28" name="object 28"/>
          <p:cNvSpPr txBox="1"/>
          <p:nvPr/>
        </p:nvSpPr>
        <p:spPr>
          <a:xfrm>
            <a:off x="9175660" y="3831677"/>
            <a:ext cx="2585720" cy="140551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Motion Analysis</a:t>
            </a:r>
            <a:endParaRPr sz="1800" dirty="0">
              <a:latin typeface="Trebuchet MS"/>
              <a:cs typeface="Trebuchet MS"/>
            </a:endParaRPr>
          </a:p>
          <a:p>
            <a:pPr marL="12700" marR="5080">
              <a:lnSpc>
                <a:spcPct val="100000"/>
              </a:lnSpc>
              <a:spcBef>
                <a:spcPts val="930"/>
              </a:spcBef>
            </a:pPr>
            <a:r>
              <a:rPr sz="1300" dirty="0">
                <a:solidFill>
                  <a:srgbClr val="FFFFFF"/>
                </a:solidFill>
                <a:latin typeface="Trebuchet MS"/>
                <a:cs typeface="Trebuchet MS"/>
              </a:rPr>
              <a:t>Simulating movement behavior of the suspension system under various conditions to optimize component placement and functionality.</a:t>
            </a:r>
            <a:endParaRPr sz="1300" dirty="0">
              <a:latin typeface="Trebuchet MS"/>
              <a:cs typeface="Trebuchet MS"/>
            </a:endParaRPr>
          </a:p>
        </p:txBody>
      </p:sp>
      <p:sp>
        <p:nvSpPr>
          <p:cNvPr id="29" name="object 29"/>
          <p:cNvSpPr txBox="1"/>
          <p:nvPr/>
        </p:nvSpPr>
        <p:spPr>
          <a:xfrm>
            <a:off x="7914500" y="5562625"/>
            <a:ext cx="98425" cy="239395"/>
          </a:xfrm>
          <a:prstGeom prst="rect">
            <a:avLst/>
          </a:prstGeom>
        </p:spPr>
        <p:txBody>
          <a:bodyPr vert="horz" wrap="square" lIns="0" tIns="12700" rIns="0" bIns="0" rtlCol="0">
            <a:spAutoFit/>
          </a:bodyPr>
          <a:lstStyle/>
          <a:p>
            <a:pPr marL="12700">
              <a:lnSpc>
                <a:spcPct val="100000"/>
              </a:lnSpc>
              <a:spcBef>
                <a:spcPts val="100"/>
              </a:spcBef>
            </a:pPr>
            <a:r>
              <a:rPr sz="1400" spc="-120" dirty="0">
                <a:solidFill>
                  <a:srgbClr val="FFFFFF"/>
                </a:solidFill>
                <a:latin typeface="Trebuchet MS"/>
                <a:cs typeface="Trebuchet MS"/>
              </a:rPr>
              <a:t>4</a:t>
            </a:r>
            <a:endParaRPr sz="1400">
              <a:latin typeface="Trebuchet MS"/>
              <a:cs typeface="Trebuchet MS"/>
            </a:endParaRPr>
          </a:p>
        </p:txBody>
      </p:sp>
      <p:sp>
        <p:nvSpPr>
          <p:cNvPr id="30" name="object 30"/>
          <p:cNvSpPr/>
          <p:nvPr/>
        </p:nvSpPr>
        <p:spPr>
          <a:xfrm>
            <a:off x="8441283" y="5651639"/>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31" name="object 31"/>
          <p:cNvSpPr txBox="1"/>
          <p:nvPr/>
        </p:nvSpPr>
        <p:spPr>
          <a:xfrm>
            <a:off x="9213736" y="5138463"/>
            <a:ext cx="2691765" cy="1368323"/>
          </a:xfrm>
          <a:prstGeom prst="rect">
            <a:avLst/>
          </a:prstGeom>
        </p:spPr>
        <p:txBody>
          <a:bodyPr vert="horz" wrap="square" lIns="0" tIns="173990" rIns="0" bIns="0" rtlCol="0">
            <a:spAutoFit/>
          </a:bodyPr>
          <a:lstStyle/>
          <a:p>
            <a:pPr marL="12700">
              <a:lnSpc>
                <a:spcPct val="100000"/>
              </a:lnSpc>
              <a:spcBef>
                <a:spcPts val="1370"/>
              </a:spcBef>
            </a:pPr>
            <a:r>
              <a:rPr sz="1800" dirty="0">
                <a:solidFill>
                  <a:srgbClr val="FFFFFF"/>
                </a:solidFill>
                <a:latin typeface="Trebuchet MS"/>
                <a:cs typeface="Trebuchet MS"/>
              </a:rPr>
              <a:t>Rapid Prototyping</a:t>
            </a:r>
            <a:endParaRPr sz="1800" dirty="0">
              <a:latin typeface="Trebuchet MS"/>
              <a:cs typeface="Trebuchet MS"/>
            </a:endParaRPr>
          </a:p>
          <a:p>
            <a:pPr marL="12700" marR="5080">
              <a:lnSpc>
                <a:spcPct val="100000"/>
              </a:lnSpc>
              <a:spcBef>
                <a:spcPts val="919"/>
              </a:spcBef>
            </a:pPr>
            <a:r>
              <a:rPr sz="1300" dirty="0">
                <a:solidFill>
                  <a:srgbClr val="FFFFFF"/>
                </a:solidFill>
                <a:latin typeface="Trebuchet MS"/>
                <a:cs typeface="Trebuchet MS"/>
              </a:rPr>
              <a:t>Creating quick 3D prints or models for testing and validation, accelerating the development process of the suspension system.</a:t>
            </a:r>
            <a:endParaRPr sz="1300" dirty="0">
              <a:latin typeface="Trebuchet MS"/>
              <a:cs typeface="Trebuchet MS"/>
            </a:endParaRPr>
          </a:p>
        </p:txBody>
      </p:sp>
      <p:pic>
        <p:nvPicPr>
          <p:cNvPr id="34" name="Picture 33">
            <a:extLst>
              <a:ext uri="{FF2B5EF4-FFF2-40B4-BE49-F238E27FC236}">
                <a16:creationId xmlns:a16="http://schemas.microsoft.com/office/drawing/2014/main" id="{7110C149-229F-1D47-867A-5BD91AF524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041" y="1253269"/>
            <a:ext cx="4187254" cy="49552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C73B7-DF89-1E0C-18FF-3BE6235773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5CF69A8-FCEB-6FCB-D965-AC24F620F0A8}"/>
              </a:ext>
            </a:extLst>
          </p:cNvPr>
          <p:cNvSpPr txBox="1">
            <a:spLocks noGrp="1"/>
          </p:cNvSpPr>
          <p:nvPr>
            <p:ph type="title"/>
          </p:nvPr>
        </p:nvSpPr>
        <p:spPr>
          <a:xfrm>
            <a:off x="250101" y="203301"/>
            <a:ext cx="11698147" cy="566822"/>
          </a:xfrm>
          <a:prstGeom prst="rect">
            <a:avLst/>
          </a:prstGeom>
        </p:spPr>
        <p:txBody>
          <a:bodyPr vert="horz" wrap="square" lIns="0" tIns="12700" rIns="0" bIns="0" rtlCol="0">
            <a:spAutoFit/>
          </a:bodyPr>
          <a:lstStyle/>
          <a:p>
            <a:pPr marL="12700">
              <a:lnSpc>
                <a:spcPct val="100000"/>
              </a:lnSpc>
              <a:spcBef>
                <a:spcPts val="100"/>
              </a:spcBef>
            </a:pPr>
            <a:r>
              <a:rPr lang="en-US" sz="3600" dirty="0"/>
              <a:t>Design Approach:</a:t>
            </a:r>
            <a:endParaRPr sz="3600" dirty="0"/>
          </a:p>
        </p:txBody>
      </p:sp>
      <p:sp>
        <p:nvSpPr>
          <p:cNvPr id="4" name="object 4">
            <a:extLst>
              <a:ext uri="{FF2B5EF4-FFF2-40B4-BE49-F238E27FC236}">
                <a16:creationId xmlns:a16="http://schemas.microsoft.com/office/drawing/2014/main" id="{5E2E53BD-1E32-3E1E-5CF4-61AA491F2BB8}"/>
              </a:ext>
            </a:extLst>
          </p:cNvPr>
          <p:cNvSpPr/>
          <p:nvPr/>
        </p:nvSpPr>
        <p:spPr>
          <a:xfrm>
            <a:off x="355917" y="1492260"/>
            <a:ext cx="11480165" cy="5208905"/>
          </a:xfrm>
          <a:custGeom>
            <a:avLst/>
            <a:gdLst/>
            <a:ahLst/>
            <a:cxnLst/>
            <a:rect l="l" t="t" r="r" b="b"/>
            <a:pathLst>
              <a:path w="11480165" h="5208905">
                <a:moveTo>
                  <a:pt x="11480038" y="0"/>
                </a:moveTo>
                <a:lnTo>
                  <a:pt x="0" y="0"/>
                </a:lnTo>
                <a:lnTo>
                  <a:pt x="0" y="5208841"/>
                </a:lnTo>
                <a:lnTo>
                  <a:pt x="5740196" y="5208841"/>
                </a:lnTo>
                <a:lnTo>
                  <a:pt x="11480038" y="5208841"/>
                </a:lnTo>
                <a:lnTo>
                  <a:pt x="11480038" y="0"/>
                </a:lnTo>
                <a:close/>
              </a:path>
            </a:pathLst>
          </a:custGeom>
          <a:solidFill>
            <a:srgbClr val="453E31">
              <a:alpha val="92999"/>
            </a:srgbClr>
          </a:solidFill>
        </p:spPr>
        <p:txBody>
          <a:bodyPr wrap="square" lIns="0" tIns="0" rIns="0" bIns="0" rtlCol="0"/>
          <a:lstStyle/>
          <a:p>
            <a:endParaRPr dirty="0"/>
          </a:p>
        </p:txBody>
      </p:sp>
      <p:sp>
        <p:nvSpPr>
          <p:cNvPr id="38" name="TextBox 37">
            <a:extLst>
              <a:ext uri="{FF2B5EF4-FFF2-40B4-BE49-F238E27FC236}">
                <a16:creationId xmlns:a16="http://schemas.microsoft.com/office/drawing/2014/main" id="{14C0B965-8EF7-6D20-8C11-185CCDF00D1F}"/>
              </a:ext>
            </a:extLst>
          </p:cNvPr>
          <p:cNvSpPr txBox="1"/>
          <p:nvPr/>
        </p:nvSpPr>
        <p:spPr>
          <a:xfrm>
            <a:off x="609600" y="1600200"/>
            <a:ext cx="4876800" cy="2657459"/>
          </a:xfrm>
          <a:prstGeom prst="rect">
            <a:avLst/>
          </a:prstGeom>
          <a:noFill/>
        </p:spPr>
        <p:txBody>
          <a:bodyPr wrap="square" rtlCol="0">
            <a:spAutoFit/>
          </a:bodyPr>
          <a:lstStyle/>
          <a:p>
            <a:pPr marL="0" marR="0" algn="just">
              <a:lnSpc>
                <a:spcPct val="150000"/>
              </a:lnSpc>
              <a:spcBef>
                <a:spcPts val="600"/>
              </a:spcBef>
              <a:spcAft>
                <a:spcPts val="600"/>
              </a:spcAft>
            </a:pPr>
            <a:r>
              <a:rPr lang="en-US"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 this project, a bottom-up approach was employed for 3D modeling in SolidWorks to ensure a structured and efficient design process. This method involves creating individual components separately before assembling them into a complete system</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p:txBody>
      </p:sp>
      <p:pic>
        <p:nvPicPr>
          <p:cNvPr id="40" name="Picture 39">
            <a:extLst>
              <a:ext uri="{FF2B5EF4-FFF2-40B4-BE49-F238E27FC236}">
                <a16:creationId xmlns:a16="http://schemas.microsoft.com/office/drawing/2014/main" id="{C4588905-3C58-35B8-3B4F-F2408CBADFCF}"/>
              </a:ext>
            </a:extLst>
          </p:cNvPr>
          <p:cNvPicPr>
            <a:picLocks noChangeAspect="1"/>
          </p:cNvPicPr>
          <p:nvPr/>
        </p:nvPicPr>
        <p:blipFill>
          <a:blip r:embed="rId2"/>
          <a:stretch>
            <a:fillRect/>
          </a:stretch>
        </p:blipFill>
        <p:spPr>
          <a:xfrm>
            <a:off x="6477000" y="1754717"/>
            <a:ext cx="4962727" cy="3601498"/>
          </a:xfrm>
          <a:prstGeom prst="rect">
            <a:avLst/>
          </a:prstGeom>
        </p:spPr>
      </p:pic>
    </p:spTree>
    <p:extLst>
      <p:ext uri="{BB962C8B-B14F-4D97-AF65-F5344CB8AC3E}">
        <p14:creationId xmlns:p14="http://schemas.microsoft.com/office/powerpoint/2010/main" val="2313735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Predesign Considerations and Simplifications</a:t>
            </a:r>
          </a:p>
        </p:txBody>
      </p:sp>
      <p:grpSp>
        <p:nvGrpSpPr>
          <p:cNvPr id="3" name="object 3"/>
          <p:cNvGrpSpPr/>
          <p:nvPr/>
        </p:nvGrpSpPr>
        <p:grpSpPr>
          <a:xfrm>
            <a:off x="10472394" y="0"/>
            <a:ext cx="1346200" cy="831215"/>
            <a:chOff x="10472394" y="0"/>
            <a:chExt cx="1346200" cy="831215"/>
          </a:xfrm>
        </p:grpSpPr>
        <p:sp>
          <p:nvSpPr>
            <p:cNvPr id="4" name="object 4"/>
            <p:cNvSpPr/>
            <p:nvPr/>
          </p:nvSpPr>
          <p:spPr>
            <a:xfrm>
              <a:off x="11458435" y="0"/>
              <a:ext cx="360045" cy="831215"/>
            </a:xfrm>
            <a:custGeom>
              <a:avLst/>
              <a:gdLst/>
              <a:ahLst/>
              <a:cxnLst/>
              <a:rect l="l" t="t" r="r" b="b"/>
              <a:pathLst>
                <a:path w="360045" h="831215">
                  <a:moveTo>
                    <a:pt x="360006" y="0"/>
                  </a:moveTo>
                  <a:lnTo>
                    <a:pt x="0" y="0"/>
                  </a:lnTo>
                  <a:lnTo>
                    <a:pt x="0" y="830884"/>
                  </a:lnTo>
                  <a:lnTo>
                    <a:pt x="180009" y="830884"/>
                  </a:lnTo>
                  <a:lnTo>
                    <a:pt x="360006" y="830884"/>
                  </a:lnTo>
                  <a:lnTo>
                    <a:pt x="360006" y="0"/>
                  </a:lnTo>
                  <a:close/>
                </a:path>
              </a:pathLst>
            </a:custGeom>
            <a:solidFill>
              <a:srgbClr val="453E31">
                <a:alpha val="92999"/>
              </a:srgbClr>
            </a:solidFill>
          </p:spPr>
          <p:txBody>
            <a:bodyPr wrap="square" lIns="0" tIns="0" rIns="0" bIns="0" rtlCol="0"/>
            <a:lstStyle/>
            <a:p>
              <a:endParaRPr/>
            </a:p>
          </p:txBody>
        </p:sp>
        <p:sp>
          <p:nvSpPr>
            <p:cNvPr id="5" name="object 5"/>
            <p:cNvSpPr/>
            <p:nvPr/>
          </p:nvSpPr>
          <p:spPr>
            <a:xfrm>
              <a:off x="10472394" y="198361"/>
              <a:ext cx="1231265" cy="0"/>
            </a:xfrm>
            <a:custGeom>
              <a:avLst/>
              <a:gdLst/>
              <a:ahLst/>
              <a:cxnLst/>
              <a:rect l="l" t="t" r="r" b="b"/>
              <a:pathLst>
                <a:path w="1231265">
                  <a:moveTo>
                    <a:pt x="0" y="0"/>
                  </a:moveTo>
                  <a:lnTo>
                    <a:pt x="1230845" y="0"/>
                  </a:lnTo>
                </a:path>
              </a:pathLst>
            </a:custGeom>
            <a:ln w="12599">
              <a:solidFill>
                <a:srgbClr val="FFFFFF"/>
              </a:solidFill>
            </a:ln>
          </p:spPr>
          <p:txBody>
            <a:bodyPr wrap="square" lIns="0" tIns="0" rIns="0" bIns="0" rtlCol="0"/>
            <a:lstStyle/>
            <a:p>
              <a:endParaRPr/>
            </a:p>
          </p:txBody>
        </p:sp>
      </p:grpSp>
      <p:sp>
        <p:nvSpPr>
          <p:cNvPr id="15" name="TextBox 14">
            <a:extLst>
              <a:ext uri="{FF2B5EF4-FFF2-40B4-BE49-F238E27FC236}">
                <a16:creationId xmlns:a16="http://schemas.microsoft.com/office/drawing/2014/main" id="{5D85BF14-D4DE-C7CE-7807-3BB1BD6C53C1}"/>
              </a:ext>
            </a:extLst>
          </p:cNvPr>
          <p:cNvSpPr txBox="1"/>
          <p:nvPr/>
        </p:nvSpPr>
        <p:spPr>
          <a:xfrm>
            <a:off x="7134085" y="1981200"/>
            <a:ext cx="4343400" cy="4247317"/>
          </a:xfrm>
          <a:prstGeom prst="rect">
            <a:avLst/>
          </a:prstGeom>
          <a:noFill/>
        </p:spPr>
        <p:txBody>
          <a:bodyPr wrap="square" rtlCol="0">
            <a:spAutoFit/>
          </a:bodyPr>
          <a:lstStyle/>
          <a:p>
            <a:pPr algn="just"/>
            <a:br>
              <a:rPr lang="en-US" dirty="0">
                <a:solidFill>
                  <a:schemeClr val="bg1"/>
                </a:solidFill>
              </a:rPr>
            </a:br>
            <a:r>
              <a:rPr lang="en-US" dirty="0">
                <a:solidFill>
                  <a:schemeClr val="bg1"/>
                </a:solidFill>
              </a:rPr>
              <a:t>To streamline the 3D modeling and FEA process, the DC motor and lead screw were excluded due to </a:t>
            </a:r>
            <a:r>
              <a:rPr lang="en-US" b="1" dirty="0">
                <a:solidFill>
                  <a:schemeClr val="bg1"/>
                </a:solidFill>
              </a:rPr>
              <a:t>missing technical data</a:t>
            </a:r>
            <a:r>
              <a:rPr lang="en-US" dirty="0">
                <a:solidFill>
                  <a:schemeClr val="bg1"/>
                </a:solidFill>
              </a:rPr>
              <a:t> and to </a:t>
            </a:r>
            <a:r>
              <a:rPr lang="en-US" b="1" u="sng" dirty="0">
                <a:solidFill>
                  <a:schemeClr val="bg1"/>
                </a:solidFill>
              </a:rPr>
              <a:t>reduce simulation complexity</a:t>
            </a:r>
            <a:r>
              <a:rPr lang="en-US" dirty="0">
                <a:solidFill>
                  <a:schemeClr val="bg1"/>
                </a:solidFill>
              </a:rPr>
              <a:t>.</a:t>
            </a:r>
          </a:p>
          <a:p>
            <a:pPr algn="just"/>
            <a:endParaRPr lang="en-US" dirty="0">
              <a:solidFill>
                <a:schemeClr val="bg1"/>
              </a:solidFill>
            </a:endParaRPr>
          </a:p>
          <a:p>
            <a:pPr algn="just"/>
            <a:r>
              <a:rPr lang="en-US" dirty="0">
                <a:solidFill>
                  <a:schemeClr val="bg1"/>
                </a:solidFill>
              </a:rPr>
              <a:t> Since these components mainly affect </a:t>
            </a:r>
            <a:r>
              <a:rPr lang="en-US" b="1" u="sng" dirty="0">
                <a:solidFill>
                  <a:schemeClr val="bg1"/>
                </a:solidFill>
              </a:rPr>
              <a:t>actuation</a:t>
            </a:r>
            <a:r>
              <a:rPr lang="en-US" dirty="0">
                <a:solidFill>
                  <a:schemeClr val="bg1"/>
                </a:solidFill>
              </a:rPr>
              <a:t> rather than </a:t>
            </a:r>
            <a:r>
              <a:rPr lang="en-US" b="1" u="sng" dirty="0">
                <a:solidFill>
                  <a:schemeClr val="bg1"/>
                </a:solidFill>
              </a:rPr>
              <a:t>structure</a:t>
            </a:r>
            <a:r>
              <a:rPr lang="en-US" dirty="0">
                <a:solidFill>
                  <a:schemeClr val="bg1"/>
                </a:solidFill>
              </a:rPr>
              <a:t>, their omission allowed a clearer focus on </a:t>
            </a:r>
            <a:r>
              <a:rPr lang="en-US" b="1" u="sng" dirty="0">
                <a:solidFill>
                  <a:schemeClr val="bg1"/>
                </a:solidFill>
              </a:rPr>
              <a:t>mechanical stress and deformation</a:t>
            </a:r>
            <a:r>
              <a:rPr lang="en-US" dirty="0">
                <a:solidFill>
                  <a:schemeClr val="bg1"/>
                </a:solidFill>
              </a:rPr>
              <a:t>.</a:t>
            </a:r>
          </a:p>
          <a:p>
            <a:pPr algn="just"/>
            <a:endParaRPr lang="en-US" dirty="0">
              <a:solidFill>
                <a:schemeClr val="bg1"/>
              </a:solidFill>
            </a:endParaRPr>
          </a:p>
          <a:p>
            <a:pPr algn="just"/>
            <a:r>
              <a:rPr lang="en-US" dirty="0">
                <a:solidFill>
                  <a:schemeClr val="bg1"/>
                </a:solidFill>
              </a:rPr>
              <a:t> However, their dynamic behavior was still analyzed using MATLAB </a:t>
            </a:r>
            <a:r>
              <a:rPr lang="en-US" dirty="0" err="1">
                <a:solidFill>
                  <a:schemeClr val="bg1"/>
                </a:solidFill>
              </a:rPr>
              <a:t>Simscape</a:t>
            </a:r>
            <a:r>
              <a:rPr lang="en-US" dirty="0">
                <a:solidFill>
                  <a:schemeClr val="bg1"/>
                </a:solidFill>
              </a:rPr>
              <a:t> to ensure system-level evaluation.</a:t>
            </a:r>
          </a:p>
        </p:txBody>
      </p:sp>
      <p:pic>
        <p:nvPicPr>
          <p:cNvPr id="17" name="Picture 16" descr="A close up of a machine&#10;&#10;AI-generated content may be incorrect.">
            <a:extLst>
              <a:ext uri="{FF2B5EF4-FFF2-40B4-BE49-F238E27FC236}">
                <a16:creationId xmlns:a16="http://schemas.microsoft.com/office/drawing/2014/main" id="{46378E62-36E9-5C79-ED03-343B2488B8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209800"/>
            <a:ext cx="6231463" cy="3886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1758" y="0"/>
                </a:moveTo>
                <a:lnTo>
                  <a:pt x="0" y="0"/>
                </a:lnTo>
                <a:lnTo>
                  <a:pt x="0" y="6857644"/>
                </a:lnTo>
                <a:lnTo>
                  <a:pt x="12191758" y="6857644"/>
                </a:lnTo>
                <a:lnTo>
                  <a:pt x="12191758" y="0"/>
                </a:lnTo>
                <a:close/>
              </a:path>
            </a:pathLst>
          </a:custGeom>
          <a:solidFill>
            <a:srgbClr val="222021"/>
          </a:solidFill>
        </p:spPr>
        <p:txBody>
          <a:bodyPr wrap="square" lIns="0" tIns="0" rIns="0" bIns="0" rtlCol="0"/>
          <a:lstStyle/>
          <a:p>
            <a:endParaRPr/>
          </a:p>
        </p:txBody>
      </p:sp>
      <p:grpSp>
        <p:nvGrpSpPr>
          <p:cNvPr id="3" name="object 3"/>
          <p:cNvGrpSpPr/>
          <p:nvPr/>
        </p:nvGrpSpPr>
        <p:grpSpPr>
          <a:xfrm>
            <a:off x="133565" y="0"/>
            <a:ext cx="11684915" cy="5751715"/>
            <a:chOff x="133565" y="0"/>
            <a:chExt cx="11684915" cy="5751715"/>
          </a:xfrm>
        </p:grpSpPr>
        <p:sp>
          <p:nvSpPr>
            <p:cNvPr id="4" name="object 4"/>
            <p:cNvSpPr/>
            <p:nvPr/>
          </p:nvSpPr>
          <p:spPr>
            <a:xfrm>
              <a:off x="11458435" y="0"/>
              <a:ext cx="360045" cy="831215"/>
            </a:xfrm>
            <a:custGeom>
              <a:avLst/>
              <a:gdLst/>
              <a:ahLst/>
              <a:cxnLst/>
              <a:rect l="l" t="t" r="r" b="b"/>
              <a:pathLst>
                <a:path w="360045" h="831215">
                  <a:moveTo>
                    <a:pt x="360006" y="0"/>
                  </a:moveTo>
                  <a:lnTo>
                    <a:pt x="0" y="0"/>
                  </a:lnTo>
                  <a:lnTo>
                    <a:pt x="0" y="830884"/>
                  </a:lnTo>
                  <a:lnTo>
                    <a:pt x="180009" y="830884"/>
                  </a:lnTo>
                  <a:lnTo>
                    <a:pt x="360006" y="830884"/>
                  </a:lnTo>
                  <a:lnTo>
                    <a:pt x="360006" y="0"/>
                  </a:lnTo>
                  <a:close/>
                </a:path>
              </a:pathLst>
            </a:custGeom>
            <a:solidFill>
              <a:srgbClr val="453E31"/>
            </a:solidFill>
          </p:spPr>
          <p:txBody>
            <a:bodyPr wrap="square" lIns="0" tIns="0" rIns="0" bIns="0" rtlCol="0"/>
            <a:lstStyle/>
            <a:p>
              <a:endParaRPr/>
            </a:p>
          </p:txBody>
        </p:sp>
        <p:sp>
          <p:nvSpPr>
            <p:cNvPr id="6" name="object 6"/>
            <p:cNvSpPr/>
            <p:nvPr/>
          </p:nvSpPr>
          <p:spPr>
            <a:xfrm>
              <a:off x="133565" y="3124085"/>
              <a:ext cx="1414145" cy="2627630"/>
            </a:xfrm>
            <a:custGeom>
              <a:avLst/>
              <a:gdLst/>
              <a:ahLst/>
              <a:cxnLst/>
              <a:rect l="l" t="t" r="r" b="b"/>
              <a:pathLst>
                <a:path w="1414145" h="2627629">
                  <a:moveTo>
                    <a:pt x="1414068" y="0"/>
                  </a:moveTo>
                  <a:lnTo>
                    <a:pt x="0" y="0"/>
                  </a:lnTo>
                  <a:lnTo>
                    <a:pt x="0" y="2627630"/>
                  </a:lnTo>
                  <a:lnTo>
                    <a:pt x="707034" y="2627630"/>
                  </a:lnTo>
                  <a:lnTo>
                    <a:pt x="1414068" y="2627630"/>
                  </a:lnTo>
                  <a:lnTo>
                    <a:pt x="1414068" y="0"/>
                  </a:lnTo>
                  <a:close/>
                </a:path>
              </a:pathLst>
            </a:custGeom>
            <a:solidFill>
              <a:srgbClr val="453E31">
                <a:alpha val="92999"/>
              </a:srgbClr>
            </a:solidFill>
          </p:spPr>
          <p:txBody>
            <a:bodyPr wrap="square" lIns="0" tIns="0" rIns="0" bIns="0" rtlCol="0"/>
            <a:lstStyle/>
            <a:p>
              <a:endParaRPr/>
            </a:p>
          </p:txBody>
        </p:sp>
      </p:grpSp>
      <p:sp>
        <p:nvSpPr>
          <p:cNvPr id="7" name="object 7"/>
          <p:cNvSpPr txBox="1"/>
          <p:nvPr/>
        </p:nvSpPr>
        <p:spPr>
          <a:xfrm>
            <a:off x="261620" y="4130179"/>
            <a:ext cx="4157980" cy="566822"/>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FFFFFF"/>
                </a:solidFill>
                <a:latin typeface="Trebuchet MS"/>
                <a:cs typeface="Trebuchet MS"/>
              </a:rPr>
              <a:t>Component Design</a:t>
            </a:r>
            <a:endParaRPr sz="3600" b="1" dirty="0">
              <a:latin typeface="Trebuchet MS"/>
              <a:cs typeface="Trebuchet MS"/>
            </a:endParaRPr>
          </a:p>
        </p:txBody>
      </p:sp>
      <p:sp>
        <p:nvSpPr>
          <p:cNvPr id="8" name="object 8"/>
          <p:cNvSpPr/>
          <p:nvPr/>
        </p:nvSpPr>
        <p:spPr>
          <a:xfrm>
            <a:off x="872642" y="198361"/>
            <a:ext cx="10831195" cy="4753610"/>
          </a:xfrm>
          <a:custGeom>
            <a:avLst/>
            <a:gdLst/>
            <a:ahLst/>
            <a:cxnLst/>
            <a:rect l="l" t="t" r="r" b="b"/>
            <a:pathLst>
              <a:path w="10831195" h="4753610">
                <a:moveTo>
                  <a:pt x="9599752" y="0"/>
                </a:moveTo>
                <a:lnTo>
                  <a:pt x="10830598" y="0"/>
                </a:lnTo>
              </a:path>
              <a:path w="10831195" h="4753610">
                <a:moveTo>
                  <a:pt x="1400035" y="4753444"/>
                </a:moveTo>
                <a:lnTo>
                  <a:pt x="0" y="4753444"/>
                </a:lnTo>
              </a:path>
            </a:pathLst>
          </a:custGeom>
          <a:ln w="12599">
            <a:solidFill>
              <a:srgbClr val="FFFFFF"/>
            </a:solidFill>
          </a:ln>
        </p:spPr>
        <p:txBody>
          <a:bodyPr wrap="square" lIns="0" tIns="0" rIns="0" bIns="0" rtlCol="0"/>
          <a:lstStyle/>
          <a:p>
            <a:endParaRPr/>
          </a:p>
        </p:txBody>
      </p:sp>
      <p:graphicFrame>
        <p:nvGraphicFramePr>
          <p:cNvPr id="12" name="Diagram 11">
            <a:extLst>
              <a:ext uri="{FF2B5EF4-FFF2-40B4-BE49-F238E27FC236}">
                <a16:creationId xmlns:a16="http://schemas.microsoft.com/office/drawing/2014/main" id="{78ADB9F4-446F-4936-1A52-03A9C2936DF0}"/>
              </a:ext>
            </a:extLst>
          </p:cNvPr>
          <p:cNvGraphicFramePr/>
          <p:nvPr>
            <p:extLst>
              <p:ext uri="{D42A27DB-BD31-4B8C-83A1-F6EECF244321}">
                <p14:modId xmlns:p14="http://schemas.microsoft.com/office/powerpoint/2010/main" val="3898884801"/>
              </p:ext>
            </p:extLst>
          </p:nvPr>
        </p:nvGraphicFramePr>
        <p:xfrm>
          <a:off x="5050320" y="4217756"/>
          <a:ext cx="6273800" cy="23525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Picture 12">
            <a:extLst>
              <a:ext uri="{FF2B5EF4-FFF2-40B4-BE49-F238E27FC236}">
                <a16:creationId xmlns:a16="http://schemas.microsoft.com/office/drawing/2014/main" id="{3900EED2-E468-5E74-F859-AF9ABAB6260C}"/>
              </a:ext>
            </a:extLst>
          </p:cNvPr>
          <p:cNvPicPr>
            <a:picLocks noChangeAspect="1"/>
          </p:cNvPicPr>
          <p:nvPr/>
        </p:nvPicPr>
        <p:blipFill>
          <a:blip r:embed="rId7"/>
          <a:stretch>
            <a:fillRect/>
          </a:stretch>
        </p:blipFill>
        <p:spPr>
          <a:xfrm>
            <a:off x="2025474" y="454194"/>
            <a:ext cx="9059441" cy="342015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Upper and Lower Wishbone</a:t>
            </a:r>
          </a:p>
        </p:txBody>
      </p:sp>
      <p:sp>
        <p:nvSpPr>
          <p:cNvPr id="4" name="object 4"/>
          <p:cNvSpPr/>
          <p:nvPr/>
        </p:nvSpPr>
        <p:spPr>
          <a:xfrm>
            <a:off x="355917" y="1294345"/>
            <a:ext cx="11480165" cy="5208905"/>
          </a:xfrm>
          <a:custGeom>
            <a:avLst/>
            <a:gdLst/>
            <a:ahLst/>
            <a:cxnLst/>
            <a:rect l="l" t="t" r="r" b="b"/>
            <a:pathLst>
              <a:path w="11480165" h="5208905">
                <a:moveTo>
                  <a:pt x="11480038" y="0"/>
                </a:moveTo>
                <a:lnTo>
                  <a:pt x="0" y="0"/>
                </a:lnTo>
                <a:lnTo>
                  <a:pt x="0" y="5208841"/>
                </a:lnTo>
                <a:lnTo>
                  <a:pt x="5740196" y="5208841"/>
                </a:lnTo>
                <a:lnTo>
                  <a:pt x="11480038" y="5208841"/>
                </a:lnTo>
                <a:lnTo>
                  <a:pt x="11480038" y="0"/>
                </a:lnTo>
                <a:close/>
              </a:path>
            </a:pathLst>
          </a:custGeom>
          <a:solidFill>
            <a:srgbClr val="453E31">
              <a:alpha val="92999"/>
            </a:srgbClr>
          </a:solidFill>
        </p:spPr>
        <p:txBody>
          <a:bodyPr wrap="square" lIns="0" tIns="0" rIns="0" bIns="0" rtlCol="0"/>
          <a:lstStyle/>
          <a:p>
            <a:endParaRPr dirty="0"/>
          </a:p>
        </p:txBody>
      </p:sp>
      <p:sp>
        <p:nvSpPr>
          <p:cNvPr id="38" name="TextBox 37">
            <a:extLst>
              <a:ext uri="{FF2B5EF4-FFF2-40B4-BE49-F238E27FC236}">
                <a16:creationId xmlns:a16="http://schemas.microsoft.com/office/drawing/2014/main" id="{3D47AB5F-8040-4004-B88A-AE56E6474A1E}"/>
              </a:ext>
            </a:extLst>
          </p:cNvPr>
          <p:cNvSpPr txBox="1"/>
          <p:nvPr/>
        </p:nvSpPr>
        <p:spPr>
          <a:xfrm>
            <a:off x="609600" y="1590473"/>
            <a:ext cx="3962400" cy="3970318"/>
          </a:xfrm>
          <a:prstGeom prst="rect">
            <a:avLst/>
          </a:prstGeom>
          <a:noFill/>
        </p:spPr>
        <p:txBody>
          <a:bodyPr wrap="square" rtlCol="0">
            <a:spAutoFit/>
          </a:bodyPr>
          <a:lstStyle/>
          <a:p>
            <a:pPr>
              <a:buNone/>
            </a:pPr>
            <a:r>
              <a:rPr lang="en-US" sz="1400" dirty="0">
                <a:solidFill>
                  <a:schemeClr val="bg1"/>
                </a:solidFill>
              </a:rPr>
              <a:t>Wishbones, also known as control arms, are essential parts that guide the wheel’s movement and maintain the vehicle’s structural stability. Together, they serve several </a:t>
            </a:r>
            <a:r>
              <a:rPr lang="en-US" sz="1400" b="1" u="sng" dirty="0">
                <a:solidFill>
                  <a:schemeClr val="bg1"/>
                </a:solidFill>
              </a:rPr>
              <a:t>key functions</a:t>
            </a:r>
            <a:r>
              <a:rPr lang="en-US" sz="1400" dirty="0">
                <a:solidFill>
                  <a:schemeClr val="bg1"/>
                </a:solidFill>
              </a:rPr>
              <a:t>:</a:t>
            </a:r>
          </a:p>
          <a:p>
            <a:pPr>
              <a:buNone/>
            </a:pPr>
            <a:endParaRPr lang="en-US" sz="1400" dirty="0">
              <a:solidFill>
                <a:schemeClr val="bg1"/>
              </a:solidFill>
            </a:endParaRPr>
          </a:p>
          <a:p>
            <a:pPr>
              <a:buFont typeface="Arial" panose="020B0604020202020204" pitchFamily="34" charset="0"/>
              <a:buChar char="•"/>
            </a:pPr>
            <a:r>
              <a:rPr lang="en-US" sz="1400" dirty="0">
                <a:solidFill>
                  <a:schemeClr val="bg1"/>
                </a:solidFill>
              </a:rPr>
              <a:t> Control the </a:t>
            </a:r>
            <a:r>
              <a:rPr lang="en-US" sz="1400" b="1" u="sng" dirty="0">
                <a:solidFill>
                  <a:schemeClr val="bg1"/>
                </a:solidFill>
              </a:rPr>
              <a:t>vertical motion</a:t>
            </a:r>
            <a:r>
              <a:rPr lang="en-US" sz="1400" dirty="0">
                <a:solidFill>
                  <a:schemeClr val="bg1"/>
                </a:solidFill>
              </a:rPr>
              <a:t> of the wheel while allowing for smooth suspension travel</a:t>
            </a:r>
          </a:p>
          <a:p>
            <a:endParaRPr lang="en-US" sz="1400" dirty="0">
              <a:solidFill>
                <a:schemeClr val="bg1"/>
              </a:solidFill>
            </a:endParaRPr>
          </a:p>
          <a:p>
            <a:pPr>
              <a:buFont typeface="Arial" panose="020B0604020202020204" pitchFamily="34" charset="0"/>
              <a:buChar char="•"/>
            </a:pPr>
            <a:r>
              <a:rPr lang="en-US" sz="1400" dirty="0">
                <a:solidFill>
                  <a:schemeClr val="bg1"/>
                </a:solidFill>
              </a:rPr>
              <a:t> Keep the wheel properly </a:t>
            </a:r>
            <a:r>
              <a:rPr lang="en-US" sz="1400" b="1" u="sng" dirty="0">
                <a:solidFill>
                  <a:schemeClr val="bg1"/>
                </a:solidFill>
              </a:rPr>
              <a:t>aligned</a:t>
            </a:r>
            <a:r>
              <a:rPr lang="en-US" sz="1400" dirty="0">
                <a:solidFill>
                  <a:schemeClr val="bg1"/>
                </a:solidFill>
              </a:rPr>
              <a:t> and</a:t>
            </a:r>
            <a:r>
              <a:rPr lang="en-US" sz="1400" u="sng" dirty="0">
                <a:solidFill>
                  <a:schemeClr val="bg1"/>
                </a:solidFill>
              </a:rPr>
              <a:t> </a:t>
            </a:r>
            <a:r>
              <a:rPr lang="en-US" sz="1400" b="1" u="sng" dirty="0">
                <a:solidFill>
                  <a:schemeClr val="bg1"/>
                </a:solidFill>
              </a:rPr>
              <a:t>minimize camber change</a:t>
            </a:r>
            <a:r>
              <a:rPr lang="en-US" sz="1400" dirty="0">
                <a:solidFill>
                  <a:schemeClr val="bg1"/>
                </a:solidFill>
              </a:rPr>
              <a:t> during motion</a:t>
            </a:r>
          </a:p>
          <a:p>
            <a:pPr>
              <a:buFont typeface="Arial" panose="020B0604020202020204" pitchFamily="34" charset="0"/>
              <a:buChar char="•"/>
            </a:pPr>
            <a:endParaRPr lang="en-US" sz="1400" dirty="0">
              <a:solidFill>
                <a:schemeClr val="bg1"/>
              </a:solidFill>
            </a:endParaRPr>
          </a:p>
          <a:p>
            <a:pPr>
              <a:buFont typeface="Arial" panose="020B0604020202020204" pitchFamily="34" charset="0"/>
              <a:buChar char="•"/>
            </a:pPr>
            <a:r>
              <a:rPr lang="en-US" sz="1400" dirty="0">
                <a:solidFill>
                  <a:schemeClr val="bg1"/>
                </a:solidFill>
              </a:rPr>
              <a:t> Provide a </a:t>
            </a:r>
            <a:r>
              <a:rPr lang="en-US" sz="1400" b="1" u="sng" dirty="0">
                <a:solidFill>
                  <a:schemeClr val="bg1"/>
                </a:solidFill>
              </a:rPr>
              <a:t>strong and stable link </a:t>
            </a:r>
            <a:r>
              <a:rPr lang="en-US" sz="1400" dirty="0">
                <a:solidFill>
                  <a:schemeClr val="bg1"/>
                </a:solidFill>
              </a:rPr>
              <a:t>between the chassis and wheel assembly through pivot points</a:t>
            </a:r>
          </a:p>
          <a:p>
            <a:pPr>
              <a:buFont typeface="Arial" panose="020B0604020202020204" pitchFamily="34" charset="0"/>
              <a:buChar char="•"/>
            </a:pPr>
            <a:endParaRPr lang="en-US" sz="1400" dirty="0">
              <a:solidFill>
                <a:schemeClr val="bg1"/>
              </a:solidFill>
            </a:endParaRPr>
          </a:p>
          <a:p>
            <a:r>
              <a:rPr lang="en-US" sz="1400" dirty="0">
                <a:solidFill>
                  <a:schemeClr val="bg1"/>
                </a:solidFill>
              </a:rPr>
              <a:t>These elements play a vital role in ride comfort, handling, and safety</a:t>
            </a:r>
          </a:p>
        </p:txBody>
      </p:sp>
      <p:pic>
        <p:nvPicPr>
          <p:cNvPr id="39" name="Picture 38">
            <a:extLst>
              <a:ext uri="{FF2B5EF4-FFF2-40B4-BE49-F238E27FC236}">
                <a16:creationId xmlns:a16="http://schemas.microsoft.com/office/drawing/2014/main" id="{32ADFAF8-F26A-7835-17C6-1AD179FDE073}"/>
              </a:ext>
            </a:extLst>
          </p:cNvPr>
          <p:cNvPicPr>
            <a:picLocks noChangeAspect="1"/>
          </p:cNvPicPr>
          <p:nvPr/>
        </p:nvPicPr>
        <p:blipFill>
          <a:blip r:embed="rId3"/>
          <a:stretch>
            <a:fillRect/>
          </a:stretch>
        </p:blipFill>
        <p:spPr>
          <a:xfrm>
            <a:off x="4736267" y="3865459"/>
            <a:ext cx="3645568" cy="2459141"/>
          </a:xfrm>
          <a:prstGeom prst="rect">
            <a:avLst/>
          </a:prstGeom>
        </p:spPr>
      </p:pic>
      <p:pic>
        <p:nvPicPr>
          <p:cNvPr id="40" name="Picture 39">
            <a:extLst>
              <a:ext uri="{FF2B5EF4-FFF2-40B4-BE49-F238E27FC236}">
                <a16:creationId xmlns:a16="http://schemas.microsoft.com/office/drawing/2014/main" id="{CA71086B-A813-132E-6910-B43B7198B4CF}"/>
              </a:ext>
            </a:extLst>
          </p:cNvPr>
          <p:cNvPicPr>
            <a:picLocks noChangeAspect="1"/>
          </p:cNvPicPr>
          <p:nvPr/>
        </p:nvPicPr>
        <p:blipFill>
          <a:blip r:embed="rId4"/>
          <a:stretch>
            <a:fillRect/>
          </a:stretch>
        </p:blipFill>
        <p:spPr>
          <a:xfrm>
            <a:off x="8001000" y="1676400"/>
            <a:ext cx="3640114" cy="2514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Upright (Knuckle)</a:t>
            </a:r>
          </a:p>
        </p:txBody>
      </p:sp>
      <p:sp>
        <p:nvSpPr>
          <p:cNvPr id="4" name="object 4"/>
          <p:cNvSpPr/>
          <p:nvPr/>
        </p:nvSpPr>
        <p:spPr>
          <a:xfrm>
            <a:off x="460463" y="1219200"/>
            <a:ext cx="11480165" cy="5208905"/>
          </a:xfrm>
          <a:custGeom>
            <a:avLst/>
            <a:gdLst/>
            <a:ahLst/>
            <a:cxnLst/>
            <a:rect l="l" t="t" r="r" b="b"/>
            <a:pathLst>
              <a:path w="11480165" h="5208905">
                <a:moveTo>
                  <a:pt x="11480038" y="0"/>
                </a:moveTo>
                <a:lnTo>
                  <a:pt x="0" y="0"/>
                </a:lnTo>
                <a:lnTo>
                  <a:pt x="0" y="5208841"/>
                </a:lnTo>
                <a:lnTo>
                  <a:pt x="5740196" y="5208841"/>
                </a:lnTo>
                <a:lnTo>
                  <a:pt x="11480038" y="5208841"/>
                </a:lnTo>
                <a:lnTo>
                  <a:pt x="11480038" y="0"/>
                </a:lnTo>
                <a:close/>
              </a:path>
            </a:pathLst>
          </a:custGeom>
          <a:solidFill>
            <a:srgbClr val="453E31">
              <a:alpha val="92999"/>
            </a:srgbClr>
          </a:solidFill>
        </p:spPr>
        <p:txBody>
          <a:bodyPr wrap="square" lIns="0" tIns="0" rIns="0" bIns="0" rtlCol="0"/>
          <a:lstStyle/>
          <a:p>
            <a:endParaRPr dirty="0"/>
          </a:p>
        </p:txBody>
      </p:sp>
      <p:sp>
        <p:nvSpPr>
          <p:cNvPr id="30" name="TextBox 29">
            <a:extLst>
              <a:ext uri="{FF2B5EF4-FFF2-40B4-BE49-F238E27FC236}">
                <a16:creationId xmlns:a16="http://schemas.microsoft.com/office/drawing/2014/main" id="{72F84E8B-D11F-F739-3E79-C740A00CB679}"/>
              </a:ext>
            </a:extLst>
          </p:cNvPr>
          <p:cNvSpPr txBox="1"/>
          <p:nvPr/>
        </p:nvSpPr>
        <p:spPr>
          <a:xfrm>
            <a:off x="762000" y="1447800"/>
            <a:ext cx="4343400" cy="4524315"/>
          </a:xfrm>
          <a:prstGeom prst="rect">
            <a:avLst/>
          </a:prstGeom>
          <a:noFill/>
        </p:spPr>
        <p:txBody>
          <a:bodyPr wrap="square" rtlCol="0">
            <a:spAutoFit/>
          </a:bodyPr>
          <a:lstStyle/>
          <a:p>
            <a:pPr>
              <a:buNone/>
            </a:pPr>
            <a:r>
              <a:rPr lang="en-US" b="1" dirty="0">
                <a:solidFill>
                  <a:schemeClr val="bg1"/>
                </a:solidFill>
              </a:rPr>
              <a:t>Upright (Steering Knuckle) Overview</a:t>
            </a:r>
            <a:br>
              <a:rPr lang="en-US" dirty="0">
                <a:solidFill>
                  <a:schemeClr val="bg1"/>
                </a:solidFill>
              </a:rPr>
            </a:br>
            <a:r>
              <a:rPr lang="en-US" dirty="0">
                <a:solidFill>
                  <a:schemeClr val="bg1"/>
                </a:solidFill>
              </a:rPr>
              <a:t>The upright, or knuckle, is a key structural component that connects the upper and lower wishbones to the wheel assembly. It acts as the central mounting point for suspension and steering elements.</a:t>
            </a:r>
          </a:p>
          <a:p>
            <a:pPr>
              <a:buNone/>
            </a:pPr>
            <a:endParaRPr lang="en-US" dirty="0">
              <a:solidFill>
                <a:schemeClr val="bg1"/>
              </a:solidFill>
            </a:endParaRPr>
          </a:p>
          <a:p>
            <a:pPr>
              <a:buNone/>
            </a:pPr>
            <a:r>
              <a:rPr lang="en-US" b="1" dirty="0">
                <a:solidFill>
                  <a:schemeClr val="bg1"/>
                </a:solidFill>
              </a:rPr>
              <a:t>Key Functions:</a:t>
            </a:r>
            <a:endParaRPr lang="en-US" dirty="0">
              <a:solidFill>
                <a:schemeClr val="bg1"/>
              </a:solidFill>
            </a:endParaRPr>
          </a:p>
          <a:p>
            <a:pPr>
              <a:buFont typeface="Arial" panose="020B0604020202020204" pitchFamily="34" charset="0"/>
              <a:buChar char="•"/>
            </a:pPr>
            <a:r>
              <a:rPr lang="en-US" dirty="0">
                <a:solidFill>
                  <a:schemeClr val="bg1"/>
                </a:solidFill>
              </a:rPr>
              <a:t>Links the wheel hub to the suspension system</a:t>
            </a:r>
          </a:p>
          <a:p>
            <a:pPr>
              <a:buFont typeface="Arial" panose="020B0604020202020204" pitchFamily="34" charset="0"/>
              <a:buChar char="•"/>
            </a:pPr>
            <a:r>
              <a:rPr lang="en-US" dirty="0">
                <a:solidFill>
                  <a:schemeClr val="bg1"/>
                </a:solidFill>
              </a:rPr>
              <a:t>Supports steering movement while keeping the wheel properly aligned</a:t>
            </a:r>
          </a:p>
          <a:p>
            <a:pPr>
              <a:buFont typeface="Arial" panose="020B0604020202020204" pitchFamily="34" charset="0"/>
              <a:buChar char="•"/>
            </a:pPr>
            <a:r>
              <a:rPr lang="en-US" dirty="0">
                <a:solidFill>
                  <a:schemeClr val="bg1"/>
                </a:solidFill>
              </a:rPr>
              <a:t>Transfers forces between suspension, brakes, and steering components</a:t>
            </a:r>
          </a:p>
          <a:p>
            <a:endParaRPr lang="en-US" dirty="0">
              <a:solidFill>
                <a:schemeClr val="bg1"/>
              </a:solidFill>
            </a:endParaRPr>
          </a:p>
        </p:txBody>
      </p:sp>
      <p:pic>
        <p:nvPicPr>
          <p:cNvPr id="31" name="Picture 30">
            <a:extLst>
              <a:ext uri="{FF2B5EF4-FFF2-40B4-BE49-F238E27FC236}">
                <a16:creationId xmlns:a16="http://schemas.microsoft.com/office/drawing/2014/main" id="{769542AA-7C33-42C8-6E44-D9A6D1A641E3}"/>
              </a:ext>
            </a:extLst>
          </p:cNvPr>
          <p:cNvPicPr>
            <a:picLocks noChangeAspect="1"/>
          </p:cNvPicPr>
          <p:nvPr/>
        </p:nvPicPr>
        <p:blipFill>
          <a:blip r:embed="rId2"/>
          <a:stretch>
            <a:fillRect/>
          </a:stretch>
        </p:blipFill>
        <p:spPr>
          <a:xfrm>
            <a:off x="7239000" y="1447800"/>
            <a:ext cx="2998419" cy="42957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Spring and Damper</a:t>
            </a:r>
          </a:p>
        </p:txBody>
      </p:sp>
      <p:sp>
        <p:nvSpPr>
          <p:cNvPr id="4" name="object 4"/>
          <p:cNvSpPr/>
          <p:nvPr/>
        </p:nvSpPr>
        <p:spPr>
          <a:xfrm>
            <a:off x="356400" y="1281595"/>
            <a:ext cx="11480165" cy="5208905"/>
          </a:xfrm>
          <a:custGeom>
            <a:avLst/>
            <a:gdLst/>
            <a:ahLst/>
            <a:cxnLst/>
            <a:rect l="l" t="t" r="r" b="b"/>
            <a:pathLst>
              <a:path w="11480165" h="5208905">
                <a:moveTo>
                  <a:pt x="11480038" y="0"/>
                </a:moveTo>
                <a:lnTo>
                  <a:pt x="0" y="0"/>
                </a:lnTo>
                <a:lnTo>
                  <a:pt x="0" y="5208841"/>
                </a:lnTo>
                <a:lnTo>
                  <a:pt x="5740196" y="5208841"/>
                </a:lnTo>
                <a:lnTo>
                  <a:pt x="11480038" y="5208841"/>
                </a:lnTo>
                <a:lnTo>
                  <a:pt x="11480038" y="0"/>
                </a:lnTo>
                <a:close/>
              </a:path>
            </a:pathLst>
          </a:custGeom>
          <a:solidFill>
            <a:srgbClr val="453E31">
              <a:alpha val="92999"/>
            </a:srgbClr>
          </a:solidFill>
        </p:spPr>
        <p:txBody>
          <a:bodyPr wrap="square" lIns="0" tIns="0" rIns="0" bIns="0" rtlCol="0"/>
          <a:lstStyle/>
          <a:p>
            <a:endParaRPr/>
          </a:p>
        </p:txBody>
      </p:sp>
      <p:sp>
        <p:nvSpPr>
          <p:cNvPr id="38" name="TextBox 37">
            <a:extLst>
              <a:ext uri="{FF2B5EF4-FFF2-40B4-BE49-F238E27FC236}">
                <a16:creationId xmlns:a16="http://schemas.microsoft.com/office/drawing/2014/main" id="{D22C85C0-7A0E-45A2-E48C-AEBB8AD752BF}"/>
              </a:ext>
            </a:extLst>
          </p:cNvPr>
          <p:cNvSpPr txBox="1"/>
          <p:nvPr/>
        </p:nvSpPr>
        <p:spPr>
          <a:xfrm>
            <a:off x="609600" y="1600200"/>
            <a:ext cx="3962400" cy="4524315"/>
          </a:xfrm>
          <a:prstGeom prst="rect">
            <a:avLst/>
          </a:prstGeom>
          <a:noFill/>
        </p:spPr>
        <p:txBody>
          <a:bodyPr wrap="square" rtlCol="0">
            <a:spAutoFit/>
          </a:bodyPr>
          <a:lstStyle/>
          <a:p>
            <a:pPr>
              <a:buNone/>
            </a:pPr>
            <a:r>
              <a:rPr lang="en-US" dirty="0">
                <a:solidFill>
                  <a:schemeClr val="bg1"/>
                </a:solidFill>
              </a:rPr>
              <a:t>The spring and damper assembly is vital for absorbing shocks and maintaining vehicle stability. The spring supports the vehicle’s weight and absorbs bumps, while the damper (shock absorber) controls motion by dissipating energy.</a:t>
            </a:r>
          </a:p>
          <a:p>
            <a:pPr>
              <a:buNone/>
            </a:pPr>
            <a:endParaRPr lang="en-US" dirty="0">
              <a:solidFill>
                <a:schemeClr val="bg1"/>
              </a:solidFill>
            </a:endParaRPr>
          </a:p>
          <a:p>
            <a:pPr>
              <a:buNone/>
            </a:pPr>
            <a:r>
              <a:rPr lang="en-US" b="1" dirty="0">
                <a:solidFill>
                  <a:schemeClr val="bg1"/>
                </a:solidFill>
              </a:rPr>
              <a:t>Key Functions:</a:t>
            </a:r>
            <a:endParaRPr lang="en-US" dirty="0">
              <a:solidFill>
                <a:schemeClr val="bg1"/>
              </a:solidFill>
            </a:endParaRPr>
          </a:p>
          <a:p>
            <a:pPr>
              <a:buFont typeface="Arial" panose="020B0604020202020204" pitchFamily="34" charset="0"/>
              <a:buChar char="•"/>
            </a:pPr>
            <a:r>
              <a:rPr lang="en-US" dirty="0">
                <a:solidFill>
                  <a:schemeClr val="bg1"/>
                </a:solidFill>
              </a:rPr>
              <a:t>Absorbs road impacts to reduce shocks and vibrations</a:t>
            </a:r>
          </a:p>
          <a:p>
            <a:pPr>
              <a:buFont typeface="Arial" panose="020B0604020202020204" pitchFamily="34" charset="0"/>
              <a:buChar char="•"/>
            </a:pPr>
            <a:r>
              <a:rPr lang="en-US" dirty="0">
                <a:solidFill>
                  <a:schemeClr val="bg1"/>
                </a:solidFill>
              </a:rPr>
              <a:t>Controls suspension movement for better handling and stability</a:t>
            </a:r>
          </a:p>
          <a:p>
            <a:pPr>
              <a:buFont typeface="Arial" panose="020B0604020202020204" pitchFamily="34" charset="0"/>
              <a:buChar char="•"/>
            </a:pPr>
            <a:r>
              <a:rPr lang="en-US" dirty="0">
                <a:solidFill>
                  <a:schemeClr val="bg1"/>
                </a:solidFill>
              </a:rPr>
              <a:t>Improves ride comfort by minimizing bounce and oscillation</a:t>
            </a:r>
          </a:p>
          <a:p>
            <a:endParaRPr lang="en-US" dirty="0">
              <a:solidFill>
                <a:schemeClr val="bg1"/>
              </a:solidFill>
            </a:endParaRPr>
          </a:p>
        </p:txBody>
      </p:sp>
      <p:pic>
        <p:nvPicPr>
          <p:cNvPr id="39" name="Picture 38">
            <a:extLst>
              <a:ext uri="{FF2B5EF4-FFF2-40B4-BE49-F238E27FC236}">
                <a16:creationId xmlns:a16="http://schemas.microsoft.com/office/drawing/2014/main" id="{98999448-E7F6-6871-34A3-182D7C238447}"/>
              </a:ext>
            </a:extLst>
          </p:cNvPr>
          <p:cNvPicPr>
            <a:picLocks noChangeAspect="1"/>
          </p:cNvPicPr>
          <p:nvPr/>
        </p:nvPicPr>
        <p:blipFill>
          <a:blip r:embed="rId2"/>
          <a:stretch>
            <a:fillRect/>
          </a:stretch>
        </p:blipFill>
        <p:spPr>
          <a:xfrm>
            <a:off x="5985146" y="1640094"/>
            <a:ext cx="4438273" cy="418221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270" y="0"/>
            <a:ext cx="12193270" cy="6858000"/>
          </a:xfrm>
          <a:custGeom>
            <a:avLst/>
            <a:gdLst/>
            <a:ahLst/>
            <a:cxnLst/>
            <a:rect l="l" t="t" r="r" b="b"/>
            <a:pathLst>
              <a:path w="12193270" h="6858000">
                <a:moveTo>
                  <a:pt x="12193193" y="0"/>
                </a:moveTo>
                <a:lnTo>
                  <a:pt x="0" y="0"/>
                </a:lnTo>
                <a:lnTo>
                  <a:pt x="0" y="6857631"/>
                </a:lnTo>
                <a:lnTo>
                  <a:pt x="6096596" y="6857631"/>
                </a:lnTo>
                <a:lnTo>
                  <a:pt x="12193193" y="6857631"/>
                </a:lnTo>
                <a:lnTo>
                  <a:pt x="12193193" y="0"/>
                </a:lnTo>
                <a:close/>
              </a:path>
            </a:pathLst>
          </a:custGeom>
          <a:solidFill>
            <a:srgbClr val="453E31">
              <a:alpha val="92999"/>
            </a:srgbClr>
          </a:solidFill>
        </p:spPr>
        <p:txBody>
          <a:bodyPr wrap="square" lIns="0" tIns="0" rIns="0" bIns="0" rtlCol="0"/>
          <a:lstStyle/>
          <a:p>
            <a:endParaRPr dirty="0"/>
          </a:p>
        </p:txBody>
      </p:sp>
      <p:sp>
        <p:nvSpPr>
          <p:cNvPr id="5" name="object 5"/>
          <p:cNvSpPr txBox="1">
            <a:spLocks noGrp="1"/>
          </p:cNvSpPr>
          <p:nvPr>
            <p:ph type="title"/>
          </p:nvPr>
        </p:nvSpPr>
        <p:spPr>
          <a:xfrm>
            <a:off x="250101" y="203301"/>
            <a:ext cx="11698147" cy="701435"/>
          </a:xfrm>
          <a:prstGeom prst="rect">
            <a:avLst/>
          </a:prstGeom>
        </p:spPr>
        <p:txBody>
          <a:bodyPr vert="horz" wrap="square" lIns="0" tIns="85051" rIns="0" bIns="0" rtlCol="0">
            <a:spAutoFit/>
          </a:bodyPr>
          <a:lstStyle/>
          <a:p>
            <a:pPr marL="8890">
              <a:lnSpc>
                <a:spcPct val="100000"/>
              </a:lnSpc>
              <a:spcBef>
                <a:spcPts val="100"/>
              </a:spcBef>
            </a:pPr>
            <a:r>
              <a:rPr dirty="0"/>
              <a:t>Whole Parts Assembly</a:t>
            </a:r>
          </a:p>
        </p:txBody>
      </p:sp>
      <p:sp>
        <p:nvSpPr>
          <p:cNvPr id="24" name="TextBox 23">
            <a:extLst>
              <a:ext uri="{FF2B5EF4-FFF2-40B4-BE49-F238E27FC236}">
                <a16:creationId xmlns:a16="http://schemas.microsoft.com/office/drawing/2014/main" id="{0A3F9A1B-E212-8149-9003-D28A2FC56299}"/>
              </a:ext>
            </a:extLst>
          </p:cNvPr>
          <p:cNvSpPr txBox="1"/>
          <p:nvPr/>
        </p:nvSpPr>
        <p:spPr>
          <a:xfrm>
            <a:off x="303530" y="1295400"/>
            <a:ext cx="3963670" cy="3693319"/>
          </a:xfrm>
          <a:prstGeom prst="rect">
            <a:avLst/>
          </a:prstGeom>
          <a:noFill/>
        </p:spPr>
        <p:txBody>
          <a:bodyPr wrap="square" rtlCol="0">
            <a:spAutoFit/>
          </a:bodyPr>
          <a:lstStyle/>
          <a:p>
            <a:pPr>
              <a:buNone/>
            </a:pPr>
            <a:r>
              <a:rPr lang="en-US" dirty="0">
                <a:solidFill>
                  <a:schemeClr val="bg1"/>
                </a:solidFill>
              </a:rPr>
              <a:t>The suspension system was assembled in SolidWorks by combining individually modeled parts using precise mates and constraints to simulate real motion and interaction.</a:t>
            </a:r>
          </a:p>
          <a:p>
            <a:pPr>
              <a:buNone/>
            </a:pPr>
            <a:endParaRPr lang="en-US" dirty="0">
              <a:solidFill>
                <a:schemeClr val="bg1"/>
              </a:solidFill>
            </a:endParaRPr>
          </a:p>
          <a:p>
            <a:r>
              <a:rPr lang="en-US" dirty="0">
                <a:solidFill>
                  <a:schemeClr val="bg1"/>
                </a:solidFill>
              </a:rPr>
              <a:t>A bottom-up design approach was used, modeling each part separately before integration. Care was taken to ensure correct alignment, movement, and structural consistency.</a:t>
            </a:r>
          </a:p>
          <a:p>
            <a:endParaRPr lang="en-US" dirty="0">
              <a:solidFill>
                <a:schemeClr val="bg1"/>
              </a:solidFill>
            </a:endParaRPr>
          </a:p>
        </p:txBody>
      </p:sp>
      <p:pic>
        <p:nvPicPr>
          <p:cNvPr id="25" name="Picture 24">
            <a:extLst>
              <a:ext uri="{FF2B5EF4-FFF2-40B4-BE49-F238E27FC236}">
                <a16:creationId xmlns:a16="http://schemas.microsoft.com/office/drawing/2014/main" id="{8FF26D24-D2CD-37B8-42B6-7D79667D00E2}"/>
              </a:ext>
            </a:extLst>
          </p:cNvPr>
          <p:cNvPicPr>
            <a:picLocks noChangeAspect="1"/>
          </p:cNvPicPr>
          <p:nvPr/>
        </p:nvPicPr>
        <p:blipFill>
          <a:blip r:embed="rId2"/>
          <a:stretch>
            <a:fillRect/>
          </a:stretch>
        </p:blipFill>
        <p:spPr>
          <a:xfrm>
            <a:off x="6103620" y="1321471"/>
            <a:ext cx="4965417" cy="42150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1160" y="-355"/>
            <a:ext cx="1213485" cy="1382395"/>
          </a:xfrm>
          <a:custGeom>
            <a:avLst/>
            <a:gdLst/>
            <a:ahLst/>
            <a:cxnLst/>
            <a:rect l="l" t="t" r="r" b="b"/>
            <a:pathLst>
              <a:path w="1213485" h="1382395">
                <a:moveTo>
                  <a:pt x="1213205" y="0"/>
                </a:moveTo>
                <a:lnTo>
                  <a:pt x="0" y="0"/>
                </a:lnTo>
                <a:lnTo>
                  <a:pt x="0" y="1382039"/>
                </a:lnTo>
                <a:lnTo>
                  <a:pt x="606602" y="1382039"/>
                </a:lnTo>
                <a:lnTo>
                  <a:pt x="1213205" y="1382039"/>
                </a:lnTo>
                <a:lnTo>
                  <a:pt x="1213205" y="0"/>
                </a:lnTo>
                <a:close/>
              </a:path>
            </a:pathLst>
          </a:custGeom>
          <a:solidFill>
            <a:srgbClr val="453E31">
              <a:alpha val="92999"/>
            </a:srgbClr>
          </a:solidFill>
        </p:spPr>
        <p:txBody>
          <a:bodyPr wrap="square" lIns="0" tIns="0" rIns="0" bIns="0" rtlCol="0"/>
          <a:lstStyle/>
          <a:p>
            <a:endParaRPr/>
          </a:p>
        </p:txBody>
      </p:sp>
      <p:sp>
        <p:nvSpPr>
          <p:cNvPr id="3" name="object 3"/>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Motion Study of the Suspension System</a:t>
            </a:r>
          </a:p>
        </p:txBody>
      </p:sp>
      <p:grpSp>
        <p:nvGrpSpPr>
          <p:cNvPr id="4" name="object 4"/>
          <p:cNvGrpSpPr/>
          <p:nvPr/>
        </p:nvGrpSpPr>
        <p:grpSpPr>
          <a:xfrm>
            <a:off x="0" y="1113840"/>
            <a:ext cx="12193270" cy="5045507"/>
            <a:chOff x="0" y="1113840"/>
            <a:chExt cx="12193270" cy="5045507"/>
          </a:xfrm>
        </p:grpSpPr>
        <p:sp>
          <p:nvSpPr>
            <p:cNvPr id="5" name="object 5"/>
            <p:cNvSpPr/>
            <p:nvPr/>
          </p:nvSpPr>
          <p:spPr>
            <a:xfrm>
              <a:off x="1305001" y="1113840"/>
              <a:ext cx="1400175" cy="0"/>
            </a:xfrm>
            <a:custGeom>
              <a:avLst/>
              <a:gdLst/>
              <a:ahLst/>
              <a:cxnLst/>
              <a:rect l="l" t="t" r="r" b="b"/>
              <a:pathLst>
                <a:path w="1400175">
                  <a:moveTo>
                    <a:pt x="1400035" y="0"/>
                  </a:moveTo>
                  <a:lnTo>
                    <a:pt x="0" y="0"/>
                  </a:lnTo>
                </a:path>
              </a:pathLst>
            </a:custGeom>
            <a:ln w="12599">
              <a:solidFill>
                <a:srgbClr val="FFFFFF"/>
              </a:solidFill>
            </a:ln>
          </p:spPr>
          <p:txBody>
            <a:bodyPr wrap="square" lIns="0" tIns="0" rIns="0" bIns="0" rtlCol="0"/>
            <a:lstStyle/>
            <a:p>
              <a:endParaRPr/>
            </a:p>
          </p:txBody>
        </p:sp>
        <p:sp>
          <p:nvSpPr>
            <p:cNvPr id="7" name="object 7"/>
            <p:cNvSpPr/>
            <p:nvPr/>
          </p:nvSpPr>
          <p:spPr>
            <a:xfrm>
              <a:off x="0" y="2408402"/>
              <a:ext cx="12193270" cy="3750945"/>
            </a:xfrm>
            <a:custGeom>
              <a:avLst/>
              <a:gdLst/>
              <a:ahLst/>
              <a:cxnLst/>
              <a:rect l="l" t="t" r="r" b="b"/>
              <a:pathLst>
                <a:path w="12193270" h="3750945">
                  <a:moveTo>
                    <a:pt x="12193193" y="0"/>
                  </a:moveTo>
                  <a:lnTo>
                    <a:pt x="0" y="0"/>
                  </a:lnTo>
                  <a:lnTo>
                    <a:pt x="0" y="3750475"/>
                  </a:lnTo>
                  <a:lnTo>
                    <a:pt x="6096596" y="3750475"/>
                  </a:lnTo>
                  <a:lnTo>
                    <a:pt x="12193193" y="3750475"/>
                  </a:lnTo>
                  <a:lnTo>
                    <a:pt x="12193193" y="0"/>
                  </a:lnTo>
                  <a:close/>
                </a:path>
              </a:pathLst>
            </a:custGeom>
            <a:solidFill>
              <a:srgbClr val="453E31">
                <a:alpha val="92999"/>
              </a:srgbClr>
            </a:solidFill>
          </p:spPr>
          <p:txBody>
            <a:bodyPr wrap="square" lIns="0" tIns="0" rIns="0" bIns="0" rtlCol="0"/>
            <a:lstStyle/>
            <a:p>
              <a:endParaRPr dirty="0"/>
            </a:p>
          </p:txBody>
        </p:sp>
      </p:grpSp>
      <p:pic>
        <p:nvPicPr>
          <p:cNvPr id="62" name="DWBsus2">
            <a:hlinkClick r:id="" action="ppaction://media"/>
            <a:extLst>
              <a:ext uri="{FF2B5EF4-FFF2-40B4-BE49-F238E27FC236}">
                <a16:creationId xmlns:a16="http://schemas.microsoft.com/office/drawing/2014/main" id="{41EB93A4-33EB-EFB9-AE78-33784C1160B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791200" y="2188374"/>
            <a:ext cx="5588000" cy="4191000"/>
          </a:xfrm>
          <a:prstGeom prst="rect">
            <a:avLst/>
          </a:prstGeom>
        </p:spPr>
      </p:pic>
      <p:sp>
        <p:nvSpPr>
          <p:cNvPr id="63" name="TextBox 62">
            <a:extLst>
              <a:ext uri="{FF2B5EF4-FFF2-40B4-BE49-F238E27FC236}">
                <a16:creationId xmlns:a16="http://schemas.microsoft.com/office/drawing/2014/main" id="{A5795278-0FC5-321D-5735-FDA13BB8D78C}"/>
              </a:ext>
            </a:extLst>
          </p:cNvPr>
          <p:cNvSpPr txBox="1"/>
          <p:nvPr/>
        </p:nvSpPr>
        <p:spPr>
          <a:xfrm>
            <a:off x="304800" y="1600936"/>
            <a:ext cx="5257800" cy="4801314"/>
          </a:xfrm>
          <a:prstGeom prst="rect">
            <a:avLst/>
          </a:prstGeom>
          <a:noFill/>
        </p:spPr>
        <p:txBody>
          <a:bodyPr wrap="square" rtlCol="0">
            <a:spAutoFit/>
          </a:bodyPr>
          <a:lstStyle/>
          <a:p>
            <a:pPr>
              <a:buNone/>
            </a:pPr>
            <a:r>
              <a:rPr lang="en-US" b="1" dirty="0">
                <a:solidFill>
                  <a:schemeClr val="bg1"/>
                </a:solidFill>
              </a:rPr>
              <a:t>Motion Study in SolidWorks</a:t>
            </a:r>
            <a:br>
              <a:rPr lang="en-US" dirty="0">
                <a:solidFill>
                  <a:schemeClr val="bg1"/>
                </a:solidFill>
              </a:rPr>
            </a:br>
            <a:r>
              <a:rPr lang="en-US" dirty="0">
                <a:solidFill>
                  <a:schemeClr val="bg1"/>
                </a:solidFill>
              </a:rPr>
              <a:t>To evaluate the dynamic behavior of the suspension, a motion study was performed in SolidWorks</a:t>
            </a:r>
          </a:p>
          <a:p>
            <a:pPr>
              <a:buNone/>
            </a:pPr>
            <a:r>
              <a:rPr lang="en-US" dirty="0">
                <a:solidFill>
                  <a:schemeClr val="bg1"/>
                </a:solidFill>
              </a:rPr>
              <a:t>.</a:t>
            </a:r>
          </a:p>
          <a:p>
            <a:pPr>
              <a:buNone/>
            </a:pPr>
            <a:r>
              <a:rPr lang="en-US" b="1" dirty="0">
                <a:solidFill>
                  <a:schemeClr val="bg1"/>
                </a:solidFill>
              </a:rPr>
              <a:t>Key Focus:</a:t>
            </a:r>
            <a:endParaRPr lang="en-US" dirty="0">
              <a:solidFill>
                <a:schemeClr val="bg1"/>
              </a:solidFill>
            </a:endParaRPr>
          </a:p>
          <a:p>
            <a:pPr>
              <a:buFont typeface="Arial" panose="020B0604020202020204" pitchFamily="34" charset="0"/>
              <a:buChar char="•"/>
            </a:pPr>
            <a:r>
              <a:rPr lang="en-US" dirty="0">
                <a:solidFill>
                  <a:schemeClr val="bg1"/>
                </a:solidFill>
              </a:rPr>
              <a:t>Spring length left partially undefined to allow dynamic adjustment</a:t>
            </a:r>
          </a:p>
          <a:p>
            <a:pPr>
              <a:buFont typeface="Arial" panose="020B0604020202020204" pitchFamily="34" charset="0"/>
              <a:buChar char="•"/>
            </a:pPr>
            <a:r>
              <a:rPr lang="en-US" dirty="0">
                <a:solidFill>
                  <a:schemeClr val="bg1"/>
                </a:solidFill>
              </a:rPr>
              <a:t>Mate constraints applied between spring ends and damper seats</a:t>
            </a:r>
          </a:p>
          <a:p>
            <a:pPr>
              <a:buFont typeface="Arial" panose="020B0604020202020204" pitchFamily="34" charset="0"/>
              <a:buChar char="•"/>
            </a:pPr>
            <a:endParaRPr lang="en-US" dirty="0">
              <a:solidFill>
                <a:schemeClr val="bg1"/>
              </a:solidFill>
            </a:endParaRPr>
          </a:p>
          <a:p>
            <a:r>
              <a:rPr lang="en-US" dirty="0">
                <a:solidFill>
                  <a:schemeClr val="bg1"/>
                </a:solidFill>
              </a:rPr>
              <a:t>This approach allowed SolidWorks to recalculate the spring’s length automatically, giving a realistic view of compression and rebound. The study also validated the system’s movement, ensuring smooth operation without collisions or unrealistic behavior.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100" fill="hold"/>
                                        <p:tgtEl>
                                          <p:spTgt spid="6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2"/>
                </p:tgtEl>
              </p:cMediaNode>
            </p:video>
            <p:seq concurrent="1" nextAc="seek">
              <p:cTn id="8" restart="whenNotActive" fill="hold" evtFilter="cancelBubble" nodeType="interactiveSeq">
                <p:stCondLst>
                  <p:cond evt="onClick" delay="0">
                    <p:tgtEl>
                      <p:spTgt spid="6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2"/>
                                        </p:tgtEl>
                                      </p:cBhvr>
                                    </p:cmd>
                                  </p:childTnLst>
                                </p:cTn>
                              </p:par>
                            </p:childTnLst>
                          </p:cTn>
                        </p:par>
                      </p:childTnLst>
                    </p:cTn>
                  </p:par>
                </p:childTnLst>
              </p:cTn>
              <p:nextCondLst>
                <p:cond evt="onClick" delay="0">
                  <p:tgtEl>
                    <p:spTgt spid="6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Finite Element Analysis (FEA) in SolidWorks</a:t>
            </a:r>
          </a:p>
        </p:txBody>
      </p:sp>
      <p:grpSp>
        <p:nvGrpSpPr>
          <p:cNvPr id="3" name="object 3"/>
          <p:cNvGrpSpPr/>
          <p:nvPr/>
        </p:nvGrpSpPr>
        <p:grpSpPr>
          <a:xfrm>
            <a:off x="-355" y="990358"/>
            <a:ext cx="9946829" cy="5867654"/>
            <a:chOff x="-355" y="990358"/>
            <a:chExt cx="9946829" cy="5867654"/>
          </a:xfrm>
        </p:grpSpPr>
        <p:sp>
          <p:nvSpPr>
            <p:cNvPr id="4" name="object 4"/>
            <p:cNvSpPr/>
            <p:nvPr/>
          </p:nvSpPr>
          <p:spPr>
            <a:xfrm>
              <a:off x="4820754" y="6188760"/>
              <a:ext cx="5125720" cy="262255"/>
            </a:xfrm>
            <a:custGeom>
              <a:avLst/>
              <a:gdLst/>
              <a:ahLst/>
              <a:cxnLst/>
              <a:rect l="l" t="t" r="r" b="b"/>
              <a:pathLst>
                <a:path w="5125720" h="262254">
                  <a:moveTo>
                    <a:pt x="5125681" y="0"/>
                  </a:moveTo>
                  <a:lnTo>
                    <a:pt x="0" y="0"/>
                  </a:lnTo>
                  <a:lnTo>
                    <a:pt x="0" y="262077"/>
                  </a:lnTo>
                  <a:lnTo>
                    <a:pt x="2562847" y="262077"/>
                  </a:lnTo>
                  <a:lnTo>
                    <a:pt x="5125681" y="262077"/>
                  </a:lnTo>
                  <a:lnTo>
                    <a:pt x="5125681" y="0"/>
                  </a:lnTo>
                  <a:close/>
                </a:path>
              </a:pathLst>
            </a:custGeom>
            <a:solidFill>
              <a:srgbClr val="453E31">
                <a:alpha val="92999"/>
              </a:srgbClr>
            </a:solidFill>
          </p:spPr>
          <p:txBody>
            <a:bodyPr wrap="square" lIns="0" tIns="0" rIns="0" bIns="0" rtlCol="0"/>
            <a:lstStyle/>
            <a:p>
              <a:endParaRPr/>
            </a:p>
          </p:txBody>
        </p:sp>
        <p:sp>
          <p:nvSpPr>
            <p:cNvPr id="6" name="object 6"/>
            <p:cNvSpPr/>
            <p:nvPr/>
          </p:nvSpPr>
          <p:spPr>
            <a:xfrm>
              <a:off x="7963204" y="1713242"/>
              <a:ext cx="0" cy="5144770"/>
            </a:xfrm>
            <a:custGeom>
              <a:avLst/>
              <a:gdLst/>
              <a:ahLst/>
              <a:cxnLst/>
              <a:rect l="l" t="t" r="r" b="b"/>
              <a:pathLst>
                <a:path h="5144770">
                  <a:moveTo>
                    <a:pt x="0" y="0"/>
                  </a:moveTo>
                  <a:lnTo>
                    <a:pt x="0" y="5144757"/>
                  </a:lnTo>
                </a:path>
              </a:pathLst>
            </a:custGeom>
            <a:ln w="12599">
              <a:solidFill>
                <a:srgbClr val="FFFFFF"/>
              </a:solidFill>
            </a:ln>
          </p:spPr>
          <p:txBody>
            <a:bodyPr wrap="square" lIns="0" tIns="0" rIns="0" bIns="0" rtlCol="0"/>
            <a:lstStyle/>
            <a:p>
              <a:endParaRPr/>
            </a:p>
          </p:txBody>
        </p:sp>
        <p:sp>
          <p:nvSpPr>
            <p:cNvPr id="7" name="object 7"/>
            <p:cNvSpPr/>
            <p:nvPr/>
          </p:nvSpPr>
          <p:spPr>
            <a:xfrm>
              <a:off x="-355" y="990358"/>
              <a:ext cx="1882775" cy="702310"/>
            </a:xfrm>
            <a:custGeom>
              <a:avLst/>
              <a:gdLst/>
              <a:ahLst/>
              <a:cxnLst/>
              <a:rect l="l" t="t" r="r" b="b"/>
              <a:pathLst>
                <a:path w="1882775" h="702310">
                  <a:moveTo>
                    <a:pt x="1882432" y="0"/>
                  </a:moveTo>
                  <a:lnTo>
                    <a:pt x="0" y="0"/>
                  </a:lnTo>
                  <a:lnTo>
                    <a:pt x="0" y="702005"/>
                  </a:lnTo>
                  <a:lnTo>
                    <a:pt x="941400" y="702005"/>
                  </a:lnTo>
                  <a:lnTo>
                    <a:pt x="1882432" y="702005"/>
                  </a:lnTo>
                  <a:lnTo>
                    <a:pt x="1882432" y="0"/>
                  </a:lnTo>
                  <a:close/>
                </a:path>
              </a:pathLst>
            </a:custGeom>
            <a:solidFill>
              <a:srgbClr val="453E31">
                <a:alpha val="92999"/>
              </a:srgbClr>
            </a:solidFill>
          </p:spPr>
          <p:txBody>
            <a:bodyPr wrap="square" lIns="0" tIns="0" rIns="0" bIns="0" rtlCol="0"/>
            <a:lstStyle/>
            <a:p>
              <a:endParaRPr/>
            </a:p>
          </p:txBody>
        </p:sp>
        <p:sp>
          <p:nvSpPr>
            <p:cNvPr id="8" name="object 8"/>
            <p:cNvSpPr/>
            <p:nvPr/>
          </p:nvSpPr>
          <p:spPr>
            <a:xfrm>
              <a:off x="0" y="1180439"/>
              <a:ext cx="2516505" cy="0"/>
            </a:xfrm>
            <a:custGeom>
              <a:avLst/>
              <a:gdLst/>
              <a:ahLst/>
              <a:cxnLst/>
              <a:rect l="l" t="t" r="r" b="b"/>
              <a:pathLst>
                <a:path w="2516505">
                  <a:moveTo>
                    <a:pt x="0" y="0"/>
                  </a:moveTo>
                  <a:lnTo>
                    <a:pt x="2516403" y="0"/>
                  </a:lnTo>
                </a:path>
              </a:pathLst>
            </a:custGeom>
            <a:ln w="12599">
              <a:solidFill>
                <a:srgbClr val="FFFFFF"/>
              </a:solidFill>
            </a:ln>
          </p:spPr>
          <p:txBody>
            <a:bodyPr wrap="square" lIns="0" tIns="0" rIns="0" bIns="0" rtlCol="0"/>
            <a:lstStyle/>
            <a:p>
              <a:endParaRPr/>
            </a:p>
          </p:txBody>
        </p:sp>
        <p:sp>
          <p:nvSpPr>
            <p:cNvPr id="9" name="object 9"/>
            <p:cNvSpPr/>
            <p:nvPr/>
          </p:nvSpPr>
          <p:spPr>
            <a:xfrm>
              <a:off x="7760881" y="1540433"/>
              <a:ext cx="403225" cy="403225"/>
            </a:xfrm>
            <a:custGeom>
              <a:avLst/>
              <a:gdLst/>
              <a:ahLst/>
              <a:cxnLst/>
              <a:rect l="l" t="t" r="r" b="b"/>
              <a:pathLst>
                <a:path w="403225" h="403225">
                  <a:moveTo>
                    <a:pt x="201599" y="0"/>
                  </a:moveTo>
                  <a:lnTo>
                    <a:pt x="160921" y="4330"/>
                  </a:lnTo>
                  <a:lnTo>
                    <a:pt x="122034" y="16560"/>
                  </a:lnTo>
                  <a:lnTo>
                    <a:pt x="86398" y="36360"/>
                  </a:lnTo>
                  <a:lnTo>
                    <a:pt x="55435" y="63004"/>
                  </a:lnTo>
                  <a:lnTo>
                    <a:pt x="30594" y="95046"/>
                  </a:lnTo>
                  <a:lnTo>
                    <a:pt x="9359" y="141490"/>
                  </a:lnTo>
                  <a:lnTo>
                    <a:pt x="1512" y="180365"/>
                  </a:lnTo>
                  <a:lnTo>
                    <a:pt x="1435" y="181089"/>
                  </a:lnTo>
                  <a:lnTo>
                    <a:pt x="773" y="190804"/>
                  </a:lnTo>
                  <a:lnTo>
                    <a:pt x="723" y="191528"/>
                  </a:lnTo>
                  <a:lnTo>
                    <a:pt x="369" y="201244"/>
                  </a:lnTo>
                  <a:lnTo>
                    <a:pt x="355" y="201612"/>
                  </a:lnTo>
                  <a:lnTo>
                    <a:pt x="0" y="201612"/>
                  </a:lnTo>
                  <a:lnTo>
                    <a:pt x="343" y="211683"/>
                  </a:lnTo>
                  <a:lnTo>
                    <a:pt x="6743" y="253441"/>
                  </a:lnTo>
                  <a:lnTo>
                    <a:pt x="6832" y="253809"/>
                  </a:lnTo>
                  <a:lnTo>
                    <a:pt x="21958" y="293052"/>
                  </a:lnTo>
                  <a:lnTo>
                    <a:pt x="44996" y="328320"/>
                  </a:lnTo>
                  <a:lnTo>
                    <a:pt x="74879" y="357847"/>
                  </a:lnTo>
                  <a:lnTo>
                    <a:pt x="110159" y="380885"/>
                  </a:lnTo>
                  <a:lnTo>
                    <a:pt x="149402" y="396011"/>
                  </a:lnTo>
                  <a:lnTo>
                    <a:pt x="191160" y="402488"/>
                  </a:lnTo>
                  <a:lnTo>
                    <a:pt x="201599" y="402844"/>
                  </a:lnTo>
                  <a:lnTo>
                    <a:pt x="212039" y="402488"/>
                  </a:lnTo>
                  <a:lnTo>
                    <a:pt x="253796" y="396011"/>
                  </a:lnTo>
                  <a:lnTo>
                    <a:pt x="293039" y="380885"/>
                  </a:lnTo>
                  <a:lnTo>
                    <a:pt x="328320" y="357847"/>
                  </a:lnTo>
                  <a:lnTo>
                    <a:pt x="357835" y="327964"/>
                  </a:lnTo>
                  <a:lnTo>
                    <a:pt x="380873" y="292684"/>
                  </a:lnTo>
                  <a:lnTo>
                    <a:pt x="395893" y="253809"/>
                  </a:lnTo>
                  <a:lnTo>
                    <a:pt x="402450" y="212051"/>
                  </a:lnTo>
                  <a:lnTo>
                    <a:pt x="402844" y="201244"/>
                  </a:lnTo>
                  <a:lnTo>
                    <a:pt x="402501" y="191528"/>
                  </a:lnTo>
                  <a:lnTo>
                    <a:pt x="402475" y="190804"/>
                  </a:lnTo>
                  <a:lnTo>
                    <a:pt x="395998" y="149047"/>
                  </a:lnTo>
                  <a:lnTo>
                    <a:pt x="380873" y="109804"/>
                  </a:lnTo>
                  <a:lnTo>
                    <a:pt x="357835" y="74523"/>
                  </a:lnTo>
                  <a:lnTo>
                    <a:pt x="327964" y="45008"/>
                  </a:lnTo>
                  <a:lnTo>
                    <a:pt x="293039" y="21971"/>
                  </a:lnTo>
                  <a:lnTo>
                    <a:pt x="253796" y="6845"/>
                  </a:lnTo>
                  <a:lnTo>
                    <a:pt x="212039" y="368"/>
                  </a:lnTo>
                  <a:lnTo>
                    <a:pt x="201599" y="0"/>
                  </a:lnTo>
                  <a:close/>
                </a:path>
              </a:pathLst>
            </a:custGeom>
            <a:solidFill>
              <a:srgbClr val="222021"/>
            </a:solidFill>
          </p:spPr>
          <p:txBody>
            <a:bodyPr wrap="square" lIns="0" tIns="0" rIns="0" bIns="0" rtlCol="0"/>
            <a:lstStyle/>
            <a:p>
              <a:endParaRPr/>
            </a:p>
          </p:txBody>
        </p:sp>
        <p:sp>
          <p:nvSpPr>
            <p:cNvPr id="10" name="object 10"/>
            <p:cNvSpPr/>
            <p:nvPr/>
          </p:nvSpPr>
          <p:spPr>
            <a:xfrm>
              <a:off x="7760881" y="1540433"/>
              <a:ext cx="403225" cy="403225"/>
            </a:xfrm>
            <a:custGeom>
              <a:avLst/>
              <a:gdLst/>
              <a:ahLst/>
              <a:cxnLst/>
              <a:rect l="l" t="t" r="r" b="b"/>
              <a:pathLst>
                <a:path w="403225" h="403225">
                  <a:moveTo>
                    <a:pt x="355" y="201612"/>
                  </a:moveTo>
                  <a:lnTo>
                    <a:pt x="723" y="191528"/>
                  </a:lnTo>
                  <a:lnTo>
                    <a:pt x="1435" y="181089"/>
                  </a:lnTo>
                  <a:lnTo>
                    <a:pt x="9359" y="141490"/>
                  </a:lnTo>
                  <a:lnTo>
                    <a:pt x="25565" y="104051"/>
                  </a:lnTo>
                  <a:lnTo>
                    <a:pt x="48602" y="70561"/>
                  </a:lnTo>
                  <a:lnTo>
                    <a:pt x="78117" y="42481"/>
                  </a:lnTo>
                  <a:lnTo>
                    <a:pt x="112674" y="20891"/>
                  </a:lnTo>
                  <a:lnTo>
                    <a:pt x="151193" y="6489"/>
                  </a:lnTo>
                  <a:lnTo>
                    <a:pt x="191516" y="368"/>
                  </a:lnTo>
                  <a:lnTo>
                    <a:pt x="201599" y="0"/>
                  </a:lnTo>
                  <a:lnTo>
                    <a:pt x="243357" y="4330"/>
                  </a:lnTo>
                  <a:lnTo>
                    <a:pt x="283324" y="17284"/>
                  </a:lnTo>
                  <a:lnTo>
                    <a:pt x="319684" y="38531"/>
                  </a:lnTo>
                  <a:lnTo>
                    <a:pt x="351002" y="66611"/>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4"/>
                  </a:lnTo>
                  <a:lnTo>
                    <a:pt x="159842" y="398525"/>
                  </a:lnTo>
                  <a:lnTo>
                    <a:pt x="119519" y="385572"/>
                  </a:lnTo>
                  <a:lnTo>
                    <a:pt x="83159" y="364324"/>
                  </a:lnTo>
                  <a:lnTo>
                    <a:pt x="51841" y="336245"/>
                  </a:lnTo>
                  <a:lnTo>
                    <a:pt x="27000" y="302412"/>
                  </a:lnTo>
                  <a:lnTo>
                    <a:pt x="17640" y="283324"/>
                  </a:lnTo>
                  <a:lnTo>
                    <a:pt x="13322" y="273608"/>
                  </a:lnTo>
                  <a:lnTo>
                    <a:pt x="2514" y="232930"/>
                  </a:lnTo>
                  <a:lnTo>
                    <a:pt x="0" y="201612"/>
                  </a:lnTo>
                  <a:lnTo>
                    <a:pt x="355" y="201612"/>
                  </a:lnTo>
                  <a:close/>
                </a:path>
              </a:pathLst>
            </a:custGeom>
            <a:ln w="12599">
              <a:solidFill>
                <a:srgbClr val="FFFFFF"/>
              </a:solidFill>
            </a:ln>
          </p:spPr>
          <p:txBody>
            <a:bodyPr wrap="square" lIns="0" tIns="0" rIns="0" bIns="0" rtlCol="0"/>
            <a:lstStyle/>
            <a:p>
              <a:endParaRPr/>
            </a:p>
          </p:txBody>
        </p:sp>
      </p:grpSp>
      <p:sp>
        <p:nvSpPr>
          <p:cNvPr id="11" name="object 11"/>
          <p:cNvSpPr txBox="1"/>
          <p:nvPr/>
        </p:nvSpPr>
        <p:spPr>
          <a:xfrm>
            <a:off x="7914500" y="1624215"/>
            <a:ext cx="9842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1</a:t>
            </a:r>
            <a:endParaRPr sz="1400">
              <a:latin typeface="Trebuchet MS"/>
              <a:cs typeface="Trebuchet MS"/>
            </a:endParaRPr>
          </a:p>
        </p:txBody>
      </p:sp>
      <p:grpSp>
        <p:nvGrpSpPr>
          <p:cNvPr id="12" name="object 12"/>
          <p:cNvGrpSpPr/>
          <p:nvPr/>
        </p:nvGrpSpPr>
        <p:grpSpPr>
          <a:xfrm>
            <a:off x="7754531" y="1706892"/>
            <a:ext cx="1149985" cy="2212340"/>
            <a:chOff x="7754531" y="1706892"/>
            <a:chExt cx="1149985" cy="2212340"/>
          </a:xfrm>
        </p:grpSpPr>
        <p:sp>
          <p:nvSpPr>
            <p:cNvPr id="13" name="object 13"/>
            <p:cNvSpPr/>
            <p:nvPr/>
          </p:nvSpPr>
          <p:spPr>
            <a:xfrm>
              <a:off x="8441283" y="1713242"/>
              <a:ext cx="457200" cy="53975"/>
            </a:xfrm>
            <a:custGeom>
              <a:avLst/>
              <a:gdLst/>
              <a:ahLst/>
              <a:cxnLst/>
              <a:rect l="l" t="t" r="r" b="b"/>
              <a:pathLst>
                <a:path w="457200" h="53975">
                  <a:moveTo>
                    <a:pt x="228600" y="53632"/>
                  </a:moveTo>
                  <a:lnTo>
                    <a:pt x="0" y="53632"/>
                  </a:lnTo>
                  <a:lnTo>
                    <a:pt x="0" y="0"/>
                  </a:lnTo>
                  <a:lnTo>
                    <a:pt x="456831" y="0"/>
                  </a:lnTo>
                  <a:lnTo>
                    <a:pt x="456831" y="53632"/>
                  </a:lnTo>
                  <a:lnTo>
                    <a:pt x="228600" y="53632"/>
                  </a:lnTo>
                  <a:close/>
                </a:path>
              </a:pathLst>
            </a:custGeom>
            <a:ln w="12599">
              <a:solidFill>
                <a:srgbClr val="FFFFFF"/>
              </a:solidFill>
            </a:ln>
          </p:spPr>
          <p:txBody>
            <a:bodyPr wrap="square" lIns="0" tIns="0" rIns="0" bIns="0" rtlCol="0"/>
            <a:lstStyle/>
            <a:p>
              <a:endParaRPr/>
            </a:p>
          </p:txBody>
        </p:sp>
        <p:sp>
          <p:nvSpPr>
            <p:cNvPr id="14" name="object 14"/>
            <p:cNvSpPr/>
            <p:nvPr/>
          </p:nvSpPr>
          <p:spPr>
            <a:xfrm>
              <a:off x="7760881" y="3510000"/>
              <a:ext cx="403225" cy="403225"/>
            </a:xfrm>
            <a:custGeom>
              <a:avLst/>
              <a:gdLst/>
              <a:ahLst/>
              <a:cxnLst/>
              <a:rect l="l" t="t" r="r" b="b"/>
              <a:pathLst>
                <a:path w="403225" h="403225">
                  <a:moveTo>
                    <a:pt x="201599" y="0"/>
                  </a:moveTo>
                  <a:lnTo>
                    <a:pt x="160921" y="4318"/>
                  </a:lnTo>
                  <a:lnTo>
                    <a:pt x="122034" y="16560"/>
                  </a:lnTo>
                  <a:lnTo>
                    <a:pt x="86398" y="36360"/>
                  </a:lnTo>
                  <a:lnTo>
                    <a:pt x="55435" y="63004"/>
                  </a:lnTo>
                  <a:lnTo>
                    <a:pt x="30594" y="95034"/>
                  </a:lnTo>
                  <a:lnTo>
                    <a:pt x="9359" y="141478"/>
                  </a:lnTo>
                  <a:lnTo>
                    <a:pt x="1511" y="180365"/>
                  </a:lnTo>
                  <a:lnTo>
                    <a:pt x="1435" y="181076"/>
                  </a:lnTo>
                  <a:lnTo>
                    <a:pt x="772" y="190804"/>
                  </a:lnTo>
                  <a:lnTo>
                    <a:pt x="723" y="191516"/>
                  </a:lnTo>
                  <a:lnTo>
                    <a:pt x="368" y="201244"/>
                  </a:lnTo>
                  <a:lnTo>
                    <a:pt x="355" y="201599"/>
                  </a:lnTo>
                  <a:lnTo>
                    <a:pt x="0" y="201599"/>
                  </a:lnTo>
                  <a:lnTo>
                    <a:pt x="343" y="211683"/>
                  </a:lnTo>
                  <a:lnTo>
                    <a:pt x="6746" y="253441"/>
                  </a:lnTo>
                  <a:lnTo>
                    <a:pt x="21958" y="293039"/>
                  </a:lnTo>
                  <a:lnTo>
                    <a:pt x="44996" y="328320"/>
                  </a:lnTo>
                  <a:lnTo>
                    <a:pt x="74879" y="357835"/>
                  </a:lnTo>
                  <a:lnTo>
                    <a:pt x="110159" y="380885"/>
                  </a:lnTo>
                  <a:lnTo>
                    <a:pt x="149402" y="395998"/>
                  </a:lnTo>
                  <a:lnTo>
                    <a:pt x="191160" y="402475"/>
                  </a:lnTo>
                  <a:lnTo>
                    <a:pt x="201599" y="402844"/>
                  </a:lnTo>
                  <a:lnTo>
                    <a:pt x="212039" y="402475"/>
                  </a:lnTo>
                  <a:lnTo>
                    <a:pt x="253796" y="395998"/>
                  </a:lnTo>
                  <a:lnTo>
                    <a:pt x="293039" y="380885"/>
                  </a:lnTo>
                  <a:lnTo>
                    <a:pt x="328320" y="357835"/>
                  </a:lnTo>
                  <a:lnTo>
                    <a:pt x="357835" y="327964"/>
                  </a:lnTo>
                  <a:lnTo>
                    <a:pt x="380873" y="292684"/>
                  </a:lnTo>
                  <a:lnTo>
                    <a:pt x="395897" y="253796"/>
                  </a:lnTo>
                  <a:lnTo>
                    <a:pt x="395998" y="253441"/>
                  </a:lnTo>
                  <a:lnTo>
                    <a:pt x="398427" y="243357"/>
                  </a:lnTo>
                  <a:lnTo>
                    <a:pt x="398513" y="243001"/>
                  </a:lnTo>
                  <a:lnTo>
                    <a:pt x="400316" y="232918"/>
                  </a:lnTo>
                  <a:lnTo>
                    <a:pt x="401716" y="222478"/>
                  </a:lnTo>
                  <a:lnTo>
                    <a:pt x="401764" y="222123"/>
                  </a:lnTo>
                  <a:lnTo>
                    <a:pt x="402451" y="212039"/>
                  </a:lnTo>
                  <a:lnTo>
                    <a:pt x="402831" y="201599"/>
                  </a:lnTo>
                  <a:lnTo>
                    <a:pt x="402844" y="201244"/>
                  </a:lnTo>
                  <a:lnTo>
                    <a:pt x="402500" y="191516"/>
                  </a:lnTo>
                  <a:lnTo>
                    <a:pt x="395998" y="149034"/>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a:p>
          </p:txBody>
        </p:sp>
        <p:sp>
          <p:nvSpPr>
            <p:cNvPr id="15" name="object 15"/>
            <p:cNvSpPr/>
            <p:nvPr/>
          </p:nvSpPr>
          <p:spPr>
            <a:xfrm>
              <a:off x="7760881" y="3510000"/>
              <a:ext cx="403225" cy="403225"/>
            </a:xfrm>
            <a:custGeom>
              <a:avLst/>
              <a:gdLst/>
              <a:ahLst/>
              <a:cxnLst/>
              <a:rect l="l" t="t" r="r" b="b"/>
              <a:pathLst>
                <a:path w="403225" h="403225">
                  <a:moveTo>
                    <a:pt x="355" y="201599"/>
                  </a:moveTo>
                  <a:lnTo>
                    <a:pt x="723" y="191516"/>
                  </a:lnTo>
                  <a:lnTo>
                    <a:pt x="1435" y="181076"/>
                  </a:lnTo>
                  <a:lnTo>
                    <a:pt x="9359" y="141478"/>
                  </a:lnTo>
                  <a:lnTo>
                    <a:pt x="25565" y="104038"/>
                  </a:lnTo>
                  <a:lnTo>
                    <a:pt x="48602" y="70561"/>
                  </a:lnTo>
                  <a:lnTo>
                    <a:pt x="78117" y="42481"/>
                  </a:lnTo>
                  <a:lnTo>
                    <a:pt x="112674" y="20878"/>
                  </a:lnTo>
                  <a:lnTo>
                    <a:pt x="151193" y="6476"/>
                  </a:lnTo>
                  <a:lnTo>
                    <a:pt x="191516" y="355"/>
                  </a:lnTo>
                  <a:lnTo>
                    <a:pt x="201599" y="0"/>
                  </a:lnTo>
                  <a:lnTo>
                    <a:pt x="243357" y="4318"/>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4"/>
                  </a:lnTo>
                  <a:lnTo>
                    <a:pt x="159842" y="398513"/>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16" name="object 16"/>
          <p:cNvSpPr txBox="1"/>
          <p:nvPr/>
        </p:nvSpPr>
        <p:spPr>
          <a:xfrm>
            <a:off x="9200870" y="812775"/>
            <a:ext cx="2691130" cy="1851148"/>
          </a:xfrm>
          <a:prstGeom prst="rect">
            <a:avLst/>
          </a:prstGeom>
        </p:spPr>
        <p:txBody>
          <a:bodyPr vert="horz" wrap="square" lIns="0" tIns="164465" rIns="0" bIns="0" rtlCol="0">
            <a:spAutoFit/>
          </a:bodyPr>
          <a:lstStyle/>
          <a:p>
            <a:pPr marL="12700">
              <a:lnSpc>
                <a:spcPct val="100000"/>
              </a:lnSpc>
              <a:spcBef>
                <a:spcPts val="1295"/>
              </a:spcBef>
            </a:pPr>
            <a:r>
              <a:rPr sz="1800" dirty="0">
                <a:solidFill>
                  <a:srgbClr val="FFFFFF"/>
                </a:solidFill>
                <a:latin typeface="Trebuchet MS"/>
                <a:cs typeface="Trebuchet MS"/>
              </a:rPr>
              <a:t>Stress Analysis</a:t>
            </a:r>
            <a:endParaRPr sz="1800" dirty="0">
              <a:latin typeface="Trebuchet MS"/>
              <a:cs typeface="Trebuchet MS"/>
            </a:endParaRPr>
          </a:p>
          <a:p>
            <a:pPr marL="12700" marR="5080">
              <a:lnSpc>
                <a:spcPct val="100000"/>
              </a:lnSpc>
              <a:spcBef>
                <a:spcPts val="930"/>
              </a:spcBef>
            </a:pPr>
            <a:r>
              <a:rPr sz="1400" dirty="0">
                <a:solidFill>
                  <a:srgbClr val="FFFFFF"/>
                </a:solidFill>
                <a:latin typeface="Trebuchet MS"/>
                <a:cs typeface="Trebuchet MS"/>
              </a:rPr>
              <a:t>Evaluate the stress distribution in suspension components under various loading conditions to ensure structural integrity and predict failure points before physical prototyping.</a:t>
            </a:r>
            <a:endParaRPr sz="1400" dirty="0">
              <a:latin typeface="Trebuchet MS"/>
              <a:cs typeface="Trebuchet MS"/>
            </a:endParaRPr>
          </a:p>
        </p:txBody>
      </p:sp>
      <p:sp>
        <p:nvSpPr>
          <p:cNvPr id="17" name="object 17"/>
          <p:cNvSpPr txBox="1"/>
          <p:nvPr/>
        </p:nvSpPr>
        <p:spPr>
          <a:xfrm>
            <a:off x="7914500" y="3592703"/>
            <a:ext cx="9842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2</a:t>
            </a:r>
            <a:endParaRPr sz="1400">
              <a:latin typeface="Trebuchet MS"/>
              <a:cs typeface="Trebuchet MS"/>
            </a:endParaRPr>
          </a:p>
        </p:txBody>
      </p:sp>
      <p:grpSp>
        <p:nvGrpSpPr>
          <p:cNvPr id="18" name="object 18"/>
          <p:cNvGrpSpPr/>
          <p:nvPr/>
        </p:nvGrpSpPr>
        <p:grpSpPr>
          <a:xfrm>
            <a:off x="7754531" y="3676446"/>
            <a:ext cx="1149985" cy="2200910"/>
            <a:chOff x="7754531" y="3676446"/>
            <a:chExt cx="1149985" cy="2200910"/>
          </a:xfrm>
        </p:grpSpPr>
        <p:sp>
          <p:nvSpPr>
            <p:cNvPr id="19" name="object 19"/>
            <p:cNvSpPr/>
            <p:nvPr/>
          </p:nvSpPr>
          <p:spPr>
            <a:xfrm>
              <a:off x="8441283" y="3682796"/>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20" name="object 20"/>
            <p:cNvSpPr/>
            <p:nvPr/>
          </p:nvSpPr>
          <p:spPr>
            <a:xfrm>
              <a:off x="7760881" y="5467680"/>
              <a:ext cx="403225" cy="403225"/>
            </a:xfrm>
            <a:custGeom>
              <a:avLst/>
              <a:gdLst/>
              <a:ahLst/>
              <a:cxnLst/>
              <a:rect l="l" t="t" r="r" b="b"/>
              <a:pathLst>
                <a:path w="403225" h="403225">
                  <a:moveTo>
                    <a:pt x="201599" y="0"/>
                  </a:moveTo>
                  <a:lnTo>
                    <a:pt x="160921" y="4317"/>
                  </a:lnTo>
                  <a:lnTo>
                    <a:pt x="122034" y="16560"/>
                  </a:lnTo>
                  <a:lnTo>
                    <a:pt x="86398" y="36360"/>
                  </a:lnTo>
                  <a:lnTo>
                    <a:pt x="55435" y="63004"/>
                  </a:lnTo>
                  <a:lnTo>
                    <a:pt x="30594" y="95034"/>
                  </a:lnTo>
                  <a:lnTo>
                    <a:pt x="9359" y="141477"/>
                  </a:lnTo>
                  <a:lnTo>
                    <a:pt x="1511" y="180365"/>
                  </a:lnTo>
                  <a:lnTo>
                    <a:pt x="1435" y="181076"/>
                  </a:lnTo>
                  <a:lnTo>
                    <a:pt x="772" y="190804"/>
                  </a:lnTo>
                  <a:lnTo>
                    <a:pt x="723" y="191515"/>
                  </a:lnTo>
                  <a:lnTo>
                    <a:pt x="368" y="201244"/>
                  </a:lnTo>
                  <a:lnTo>
                    <a:pt x="355" y="201599"/>
                  </a:lnTo>
                  <a:lnTo>
                    <a:pt x="0" y="201599"/>
                  </a:lnTo>
                  <a:lnTo>
                    <a:pt x="343" y="211683"/>
                  </a:lnTo>
                  <a:lnTo>
                    <a:pt x="6746" y="253441"/>
                  </a:lnTo>
                  <a:lnTo>
                    <a:pt x="21958" y="293039"/>
                  </a:lnTo>
                  <a:lnTo>
                    <a:pt x="44996" y="328320"/>
                  </a:lnTo>
                  <a:lnTo>
                    <a:pt x="74879" y="357835"/>
                  </a:lnTo>
                  <a:lnTo>
                    <a:pt x="110159" y="380885"/>
                  </a:lnTo>
                  <a:lnTo>
                    <a:pt x="149402" y="395998"/>
                  </a:lnTo>
                  <a:lnTo>
                    <a:pt x="191160" y="402475"/>
                  </a:lnTo>
                  <a:lnTo>
                    <a:pt x="201599" y="402843"/>
                  </a:lnTo>
                  <a:lnTo>
                    <a:pt x="212039" y="402475"/>
                  </a:lnTo>
                  <a:lnTo>
                    <a:pt x="253796" y="395998"/>
                  </a:lnTo>
                  <a:lnTo>
                    <a:pt x="293039" y="380885"/>
                  </a:lnTo>
                  <a:lnTo>
                    <a:pt x="328320" y="357835"/>
                  </a:lnTo>
                  <a:lnTo>
                    <a:pt x="357835" y="327964"/>
                  </a:lnTo>
                  <a:lnTo>
                    <a:pt x="380873" y="292684"/>
                  </a:lnTo>
                  <a:lnTo>
                    <a:pt x="395897" y="253796"/>
                  </a:lnTo>
                  <a:lnTo>
                    <a:pt x="395998" y="253441"/>
                  </a:lnTo>
                  <a:lnTo>
                    <a:pt x="398427" y="243357"/>
                  </a:lnTo>
                  <a:lnTo>
                    <a:pt x="398513" y="243001"/>
                  </a:lnTo>
                  <a:lnTo>
                    <a:pt x="400316" y="232917"/>
                  </a:lnTo>
                  <a:lnTo>
                    <a:pt x="401716" y="222478"/>
                  </a:lnTo>
                  <a:lnTo>
                    <a:pt x="401764" y="222122"/>
                  </a:lnTo>
                  <a:lnTo>
                    <a:pt x="402451" y="212039"/>
                  </a:lnTo>
                  <a:lnTo>
                    <a:pt x="402831" y="201599"/>
                  </a:lnTo>
                  <a:lnTo>
                    <a:pt x="402844" y="201244"/>
                  </a:lnTo>
                  <a:lnTo>
                    <a:pt x="402500" y="191515"/>
                  </a:lnTo>
                  <a:lnTo>
                    <a:pt x="395998" y="149034"/>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a:p>
          </p:txBody>
        </p:sp>
        <p:sp>
          <p:nvSpPr>
            <p:cNvPr id="21" name="object 21"/>
            <p:cNvSpPr/>
            <p:nvPr/>
          </p:nvSpPr>
          <p:spPr>
            <a:xfrm>
              <a:off x="7760881" y="5467680"/>
              <a:ext cx="403225" cy="403225"/>
            </a:xfrm>
            <a:custGeom>
              <a:avLst/>
              <a:gdLst/>
              <a:ahLst/>
              <a:cxnLst/>
              <a:rect l="l" t="t" r="r" b="b"/>
              <a:pathLst>
                <a:path w="403225" h="403225">
                  <a:moveTo>
                    <a:pt x="355" y="201599"/>
                  </a:moveTo>
                  <a:lnTo>
                    <a:pt x="723" y="191515"/>
                  </a:lnTo>
                  <a:lnTo>
                    <a:pt x="1435" y="181076"/>
                  </a:lnTo>
                  <a:lnTo>
                    <a:pt x="9359" y="141477"/>
                  </a:lnTo>
                  <a:lnTo>
                    <a:pt x="25565" y="104038"/>
                  </a:lnTo>
                  <a:lnTo>
                    <a:pt x="42481" y="78485"/>
                  </a:lnTo>
                  <a:lnTo>
                    <a:pt x="48602" y="70561"/>
                  </a:lnTo>
                  <a:lnTo>
                    <a:pt x="78117" y="42481"/>
                  </a:lnTo>
                  <a:lnTo>
                    <a:pt x="112674" y="20878"/>
                  </a:lnTo>
                  <a:lnTo>
                    <a:pt x="151193" y="6476"/>
                  </a:lnTo>
                  <a:lnTo>
                    <a:pt x="191516" y="355"/>
                  </a:lnTo>
                  <a:lnTo>
                    <a:pt x="201599" y="0"/>
                  </a:lnTo>
                  <a:lnTo>
                    <a:pt x="243357" y="4317"/>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3"/>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22" name="object 22"/>
          <p:cNvSpPr txBox="1"/>
          <p:nvPr/>
        </p:nvSpPr>
        <p:spPr>
          <a:xfrm>
            <a:off x="9227630" y="2811838"/>
            <a:ext cx="2724785" cy="1849865"/>
          </a:xfrm>
          <a:prstGeom prst="rect">
            <a:avLst/>
          </a:prstGeom>
        </p:spPr>
        <p:txBody>
          <a:bodyPr vert="horz" wrap="square" lIns="0" tIns="163195" rIns="0" bIns="0" rtlCol="0">
            <a:spAutoFit/>
          </a:bodyPr>
          <a:lstStyle/>
          <a:p>
            <a:pPr marL="12700">
              <a:lnSpc>
                <a:spcPct val="100000"/>
              </a:lnSpc>
              <a:spcBef>
                <a:spcPts val="1285"/>
              </a:spcBef>
            </a:pPr>
            <a:r>
              <a:rPr sz="1800" dirty="0">
                <a:solidFill>
                  <a:srgbClr val="FFFFFF"/>
                </a:solidFill>
                <a:latin typeface="Trebuchet MS"/>
                <a:cs typeface="Trebuchet MS"/>
              </a:rPr>
              <a:t>Design Optimization</a:t>
            </a:r>
            <a:endParaRPr sz="1800" dirty="0">
              <a:latin typeface="Trebuchet MS"/>
              <a:cs typeface="Trebuchet MS"/>
            </a:endParaRPr>
          </a:p>
          <a:p>
            <a:pPr marL="12700" marR="5080">
              <a:lnSpc>
                <a:spcPct val="100000"/>
              </a:lnSpc>
              <a:spcBef>
                <a:spcPts val="919"/>
              </a:spcBef>
            </a:pPr>
            <a:r>
              <a:rPr sz="1400" dirty="0">
                <a:solidFill>
                  <a:srgbClr val="FFFFFF"/>
                </a:solidFill>
                <a:latin typeface="Trebuchet MS"/>
                <a:cs typeface="Trebuchet MS"/>
              </a:rPr>
              <a:t>Use FEA results to refine component designs, minimizing weight while maintaining strength and performance, leading to improved efficiency and reduced material costs.</a:t>
            </a:r>
            <a:endParaRPr sz="1400" dirty="0">
              <a:latin typeface="Trebuchet MS"/>
              <a:cs typeface="Trebuchet MS"/>
            </a:endParaRPr>
          </a:p>
        </p:txBody>
      </p:sp>
      <p:sp>
        <p:nvSpPr>
          <p:cNvPr id="23" name="object 23"/>
          <p:cNvSpPr txBox="1"/>
          <p:nvPr/>
        </p:nvSpPr>
        <p:spPr>
          <a:xfrm>
            <a:off x="7914500" y="5551106"/>
            <a:ext cx="9842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3</a:t>
            </a:r>
            <a:endParaRPr sz="1400">
              <a:latin typeface="Trebuchet MS"/>
              <a:cs typeface="Trebuchet MS"/>
            </a:endParaRPr>
          </a:p>
        </p:txBody>
      </p:sp>
      <p:sp>
        <p:nvSpPr>
          <p:cNvPr id="24" name="object 24"/>
          <p:cNvSpPr/>
          <p:nvPr/>
        </p:nvSpPr>
        <p:spPr>
          <a:xfrm>
            <a:off x="8441283" y="5640476"/>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25" name="object 25"/>
          <p:cNvSpPr txBox="1"/>
          <p:nvPr/>
        </p:nvSpPr>
        <p:spPr>
          <a:xfrm>
            <a:off x="9253308" y="4714902"/>
            <a:ext cx="2694940" cy="1851148"/>
          </a:xfrm>
          <a:prstGeom prst="rect">
            <a:avLst/>
          </a:prstGeom>
        </p:spPr>
        <p:txBody>
          <a:bodyPr vert="horz" wrap="square" lIns="0" tIns="164465" rIns="0" bIns="0" rtlCol="0">
            <a:spAutoFit/>
          </a:bodyPr>
          <a:lstStyle/>
          <a:p>
            <a:pPr marL="12700">
              <a:lnSpc>
                <a:spcPct val="100000"/>
              </a:lnSpc>
              <a:spcBef>
                <a:spcPts val="1295"/>
              </a:spcBef>
            </a:pPr>
            <a:r>
              <a:rPr sz="1800" dirty="0">
                <a:solidFill>
                  <a:srgbClr val="FFFFFF"/>
                </a:solidFill>
                <a:latin typeface="Trebuchet MS"/>
                <a:cs typeface="Trebuchet MS"/>
              </a:rPr>
              <a:t>Safety Validation</a:t>
            </a:r>
            <a:endParaRPr sz="1800" dirty="0">
              <a:latin typeface="Trebuchet MS"/>
              <a:cs typeface="Trebuchet MS"/>
            </a:endParaRPr>
          </a:p>
          <a:p>
            <a:pPr marL="12700" marR="5080">
              <a:lnSpc>
                <a:spcPct val="99800"/>
              </a:lnSpc>
              <a:spcBef>
                <a:spcPts val="930"/>
              </a:spcBef>
            </a:pPr>
            <a:r>
              <a:rPr sz="1400" dirty="0">
                <a:solidFill>
                  <a:srgbClr val="FFFFFF"/>
                </a:solidFill>
                <a:latin typeface="Trebuchet MS"/>
                <a:cs typeface="Trebuchet MS"/>
              </a:rPr>
              <a:t>Perform safety factor assessments through FEA to confirm that suspension parts can withstand real-world operational stresses and enhance overall vehicle safety.</a:t>
            </a:r>
            <a:endParaRPr sz="1400" dirty="0">
              <a:latin typeface="Trebuchet MS"/>
              <a:cs typeface="Trebuchet MS"/>
            </a:endParaRPr>
          </a:p>
        </p:txBody>
      </p:sp>
      <p:pic>
        <p:nvPicPr>
          <p:cNvPr id="28" name="Picture 27">
            <a:extLst>
              <a:ext uri="{FF2B5EF4-FFF2-40B4-BE49-F238E27FC236}">
                <a16:creationId xmlns:a16="http://schemas.microsoft.com/office/drawing/2014/main" id="{E4A217B6-A0AE-D52B-8A1C-D3EB5BF56416}"/>
              </a:ext>
            </a:extLst>
          </p:cNvPr>
          <p:cNvPicPr>
            <a:picLocks noChangeAspect="1"/>
          </p:cNvPicPr>
          <p:nvPr/>
        </p:nvPicPr>
        <p:blipFill>
          <a:blip r:embed="rId2"/>
          <a:stretch>
            <a:fillRect/>
          </a:stretch>
        </p:blipFill>
        <p:spPr>
          <a:xfrm>
            <a:off x="1144665" y="1370521"/>
            <a:ext cx="5582055" cy="513740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1194" y="-355"/>
            <a:ext cx="11322571" cy="5821692"/>
            <a:chOff x="871194" y="-355"/>
            <a:chExt cx="11322571" cy="5821692"/>
          </a:xfrm>
        </p:grpSpPr>
        <p:sp>
          <p:nvSpPr>
            <p:cNvPr id="3" name="object 3"/>
            <p:cNvSpPr/>
            <p:nvPr/>
          </p:nvSpPr>
          <p:spPr>
            <a:xfrm>
              <a:off x="11138395" y="-355"/>
              <a:ext cx="1055370" cy="2790190"/>
            </a:xfrm>
            <a:custGeom>
              <a:avLst/>
              <a:gdLst/>
              <a:ahLst/>
              <a:cxnLst/>
              <a:rect l="l" t="t" r="r" b="b"/>
              <a:pathLst>
                <a:path w="1055370" h="2790190">
                  <a:moveTo>
                    <a:pt x="1054798" y="0"/>
                  </a:moveTo>
                  <a:lnTo>
                    <a:pt x="0" y="0"/>
                  </a:lnTo>
                  <a:lnTo>
                    <a:pt x="0" y="2789631"/>
                  </a:lnTo>
                  <a:lnTo>
                    <a:pt x="527405" y="2789631"/>
                  </a:lnTo>
                  <a:lnTo>
                    <a:pt x="1054798" y="2789631"/>
                  </a:lnTo>
                  <a:lnTo>
                    <a:pt x="1054798" y="0"/>
                  </a:lnTo>
                  <a:close/>
                </a:path>
              </a:pathLst>
            </a:custGeom>
            <a:solidFill>
              <a:srgbClr val="453E31">
                <a:alpha val="92999"/>
              </a:srgbClr>
            </a:solidFill>
          </p:spPr>
          <p:txBody>
            <a:bodyPr wrap="square" lIns="0" tIns="0" rIns="0" bIns="0" rtlCol="0"/>
            <a:lstStyle/>
            <a:p>
              <a:endParaRPr/>
            </a:p>
          </p:txBody>
        </p:sp>
        <p:sp>
          <p:nvSpPr>
            <p:cNvPr id="5" name="object 5"/>
            <p:cNvSpPr/>
            <p:nvPr/>
          </p:nvSpPr>
          <p:spPr>
            <a:xfrm>
              <a:off x="871194" y="1860842"/>
              <a:ext cx="10238105" cy="3960495"/>
            </a:xfrm>
            <a:custGeom>
              <a:avLst/>
              <a:gdLst/>
              <a:ahLst/>
              <a:cxnLst/>
              <a:rect l="l" t="t" r="r" b="b"/>
              <a:pathLst>
                <a:path w="10238105" h="3960495">
                  <a:moveTo>
                    <a:pt x="10238041" y="0"/>
                  </a:moveTo>
                  <a:lnTo>
                    <a:pt x="0" y="0"/>
                  </a:lnTo>
                  <a:lnTo>
                    <a:pt x="0" y="3959999"/>
                  </a:lnTo>
                  <a:lnTo>
                    <a:pt x="5119204" y="3959999"/>
                  </a:lnTo>
                  <a:lnTo>
                    <a:pt x="10238041" y="3959999"/>
                  </a:lnTo>
                  <a:lnTo>
                    <a:pt x="10238041" y="0"/>
                  </a:lnTo>
                  <a:close/>
                </a:path>
              </a:pathLst>
            </a:custGeom>
            <a:solidFill>
              <a:srgbClr val="453E31">
                <a:alpha val="92999"/>
              </a:srgbClr>
            </a:solidFill>
          </p:spPr>
          <p:txBody>
            <a:bodyPr wrap="square" lIns="0" tIns="0" rIns="0" bIns="0" rtlCol="0"/>
            <a:lstStyle/>
            <a:p>
              <a:endParaRPr/>
            </a:p>
          </p:txBody>
        </p:sp>
        <p:sp>
          <p:nvSpPr>
            <p:cNvPr id="6" name="object 6"/>
            <p:cNvSpPr/>
            <p:nvPr/>
          </p:nvSpPr>
          <p:spPr>
            <a:xfrm>
              <a:off x="1115275" y="3844798"/>
              <a:ext cx="9748520" cy="0"/>
            </a:xfrm>
            <a:custGeom>
              <a:avLst/>
              <a:gdLst/>
              <a:ahLst/>
              <a:cxnLst/>
              <a:rect l="l" t="t" r="r" b="b"/>
              <a:pathLst>
                <a:path w="9748520">
                  <a:moveTo>
                    <a:pt x="0" y="0"/>
                  </a:moveTo>
                  <a:lnTo>
                    <a:pt x="9748443" y="0"/>
                  </a:lnTo>
                </a:path>
              </a:pathLst>
            </a:custGeom>
            <a:ln w="12599">
              <a:solidFill>
                <a:srgbClr val="FFFFFF"/>
              </a:solidFill>
            </a:ln>
          </p:spPr>
          <p:txBody>
            <a:bodyPr wrap="square" lIns="0" tIns="0" rIns="0" bIns="0" rtlCol="0"/>
            <a:lstStyle/>
            <a:p>
              <a:endParaRPr/>
            </a:p>
          </p:txBody>
        </p:sp>
        <p:sp>
          <p:nvSpPr>
            <p:cNvPr id="7" name="object 7"/>
            <p:cNvSpPr/>
            <p:nvPr/>
          </p:nvSpPr>
          <p:spPr>
            <a:xfrm>
              <a:off x="1917725" y="3642474"/>
              <a:ext cx="403225" cy="403225"/>
            </a:xfrm>
            <a:custGeom>
              <a:avLst/>
              <a:gdLst/>
              <a:ahLst/>
              <a:cxnLst/>
              <a:rect l="l" t="t" r="r" b="b"/>
              <a:pathLst>
                <a:path w="403225" h="403225">
                  <a:moveTo>
                    <a:pt x="201599" y="0"/>
                  </a:moveTo>
                  <a:lnTo>
                    <a:pt x="160908" y="4330"/>
                  </a:lnTo>
                  <a:lnTo>
                    <a:pt x="122034" y="16560"/>
                  </a:lnTo>
                  <a:lnTo>
                    <a:pt x="86398" y="36360"/>
                  </a:lnTo>
                  <a:lnTo>
                    <a:pt x="55435" y="63004"/>
                  </a:lnTo>
                  <a:lnTo>
                    <a:pt x="30594" y="95046"/>
                  </a:lnTo>
                  <a:lnTo>
                    <a:pt x="9359" y="141490"/>
                  </a:lnTo>
                  <a:lnTo>
                    <a:pt x="1512" y="180365"/>
                  </a:lnTo>
                  <a:lnTo>
                    <a:pt x="1435" y="181089"/>
                  </a:lnTo>
                  <a:lnTo>
                    <a:pt x="761" y="190804"/>
                  </a:lnTo>
                  <a:lnTo>
                    <a:pt x="711" y="191528"/>
                  </a:lnTo>
                  <a:lnTo>
                    <a:pt x="368" y="201244"/>
                  </a:lnTo>
                  <a:lnTo>
                    <a:pt x="355" y="201599"/>
                  </a:lnTo>
                  <a:lnTo>
                    <a:pt x="0" y="201599"/>
                  </a:lnTo>
                  <a:lnTo>
                    <a:pt x="343" y="211683"/>
                  </a:lnTo>
                  <a:lnTo>
                    <a:pt x="1053" y="222123"/>
                  </a:lnTo>
                  <a:lnTo>
                    <a:pt x="1079" y="222491"/>
                  </a:lnTo>
                  <a:lnTo>
                    <a:pt x="2514" y="232930"/>
                  </a:lnTo>
                  <a:lnTo>
                    <a:pt x="4254" y="243001"/>
                  </a:lnTo>
                  <a:lnTo>
                    <a:pt x="4318" y="243370"/>
                  </a:lnTo>
                  <a:lnTo>
                    <a:pt x="21958" y="293039"/>
                  </a:lnTo>
                  <a:lnTo>
                    <a:pt x="44996" y="328320"/>
                  </a:lnTo>
                  <a:lnTo>
                    <a:pt x="74879" y="357847"/>
                  </a:lnTo>
                  <a:lnTo>
                    <a:pt x="110159" y="380885"/>
                  </a:lnTo>
                  <a:lnTo>
                    <a:pt x="149390" y="396011"/>
                  </a:lnTo>
                  <a:lnTo>
                    <a:pt x="191160" y="402488"/>
                  </a:lnTo>
                  <a:lnTo>
                    <a:pt x="201599" y="402844"/>
                  </a:lnTo>
                  <a:lnTo>
                    <a:pt x="212039" y="402488"/>
                  </a:lnTo>
                  <a:lnTo>
                    <a:pt x="253796" y="396011"/>
                  </a:lnTo>
                  <a:lnTo>
                    <a:pt x="293039" y="380885"/>
                  </a:lnTo>
                  <a:lnTo>
                    <a:pt x="328320" y="357847"/>
                  </a:lnTo>
                  <a:lnTo>
                    <a:pt x="357835" y="327964"/>
                  </a:lnTo>
                  <a:lnTo>
                    <a:pt x="380872" y="292684"/>
                  </a:lnTo>
                  <a:lnTo>
                    <a:pt x="395893" y="253809"/>
                  </a:lnTo>
                  <a:lnTo>
                    <a:pt x="395998" y="253441"/>
                  </a:lnTo>
                  <a:lnTo>
                    <a:pt x="398424" y="243370"/>
                  </a:lnTo>
                  <a:lnTo>
                    <a:pt x="398513" y="243001"/>
                  </a:lnTo>
                  <a:lnTo>
                    <a:pt x="400316" y="232930"/>
                  </a:lnTo>
                  <a:lnTo>
                    <a:pt x="401702" y="222491"/>
                  </a:lnTo>
                  <a:lnTo>
                    <a:pt x="401751" y="222123"/>
                  </a:lnTo>
                  <a:lnTo>
                    <a:pt x="402450" y="212051"/>
                  </a:lnTo>
                  <a:lnTo>
                    <a:pt x="402819" y="201599"/>
                  </a:lnTo>
                  <a:lnTo>
                    <a:pt x="402831" y="201244"/>
                  </a:lnTo>
                  <a:lnTo>
                    <a:pt x="402500" y="191528"/>
                  </a:lnTo>
                  <a:lnTo>
                    <a:pt x="395998" y="149047"/>
                  </a:lnTo>
                  <a:lnTo>
                    <a:pt x="380872" y="109804"/>
                  </a:lnTo>
                  <a:lnTo>
                    <a:pt x="357835" y="74523"/>
                  </a:lnTo>
                  <a:lnTo>
                    <a:pt x="327952" y="45008"/>
                  </a:lnTo>
                  <a:lnTo>
                    <a:pt x="293039" y="21971"/>
                  </a:lnTo>
                  <a:lnTo>
                    <a:pt x="253796" y="6845"/>
                  </a:lnTo>
                  <a:lnTo>
                    <a:pt x="212039" y="368"/>
                  </a:lnTo>
                  <a:lnTo>
                    <a:pt x="201599" y="0"/>
                  </a:lnTo>
                  <a:close/>
                </a:path>
              </a:pathLst>
            </a:custGeom>
            <a:solidFill>
              <a:srgbClr val="453E31"/>
            </a:solidFill>
          </p:spPr>
          <p:txBody>
            <a:bodyPr wrap="square" lIns="0" tIns="0" rIns="0" bIns="0" rtlCol="0"/>
            <a:lstStyle/>
            <a:p>
              <a:endParaRPr/>
            </a:p>
          </p:txBody>
        </p:sp>
        <p:sp>
          <p:nvSpPr>
            <p:cNvPr id="8" name="object 8"/>
            <p:cNvSpPr/>
            <p:nvPr/>
          </p:nvSpPr>
          <p:spPr>
            <a:xfrm>
              <a:off x="1917725" y="3642474"/>
              <a:ext cx="403225" cy="403225"/>
            </a:xfrm>
            <a:custGeom>
              <a:avLst/>
              <a:gdLst/>
              <a:ahLst/>
              <a:cxnLst/>
              <a:rect l="l" t="t" r="r" b="b"/>
              <a:pathLst>
                <a:path w="403225" h="403225">
                  <a:moveTo>
                    <a:pt x="355" y="201599"/>
                  </a:moveTo>
                  <a:lnTo>
                    <a:pt x="711" y="191528"/>
                  </a:lnTo>
                  <a:lnTo>
                    <a:pt x="1435" y="181089"/>
                  </a:lnTo>
                  <a:lnTo>
                    <a:pt x="9359" y="141490"/>
                  </a:lnTo>
                  <a:lnTo>
                    <a:pt x="25552" y="104051"/>
                  </a:lnTo>
                  <a:lnTo>
                    <a:pt x="48590" y="70561"/>
                  </a:lnTo>
                  <a:lnTo>
                    <a:pt x="78117" y="42481"/>
                  </a:lnTo>
                  <a:lnTo>
                    <a:pt x="112674" y="20891"/>
                  </a:lnTo>
                  <a:lnTo>
                    <a:pt x="151193" y="6489"/>
                  </a:lnTo>
                  <a:lnTo>
                    <a:pt x="191515" y="368"/>
                  </a:lnTo>
                  <a:lnTo>
                    <a:pt x="201599" y="0"/>
                  </a:lnTo>
                  <a:lnTo>
                    <a:pt x="243357" y="4330"/>
                  </a:lnTo>
                  <a:lnTo>
                    <a:pt x="283311" y="17284"/>
                  </a:lnTo>
                  <a:lnTo>
                    <a:pt x="319671" y="38531"/>
                  </a:lnTo>
                  <a:lnTo>
                    <a:pt x="350989" y="66611"/>
                  </a:lnTo>
                  <a:lnTo>
                    <a:pt x="375831" y="100444"/>
                  </a:lnTo>
                  <a:lnTo>
                    <a:pt x="392760" y="138963"/>
                  </a:lnTo>
                  <a:lnTo>
                    <a:pt x="401751" y="180365"/>
                  </a:lnTo>
                  <a:lnTo>
                    <a:pt x="402831" y="201244"/>
                  </a:lnTo>
                  <a:lnTo>
                    <a:pt x="398513" y="243001"/>
                  </a:lnTo>
                  <a:lnTo>
                    <a:pt x="385559" y="283324"/>
                  </a:lnTo>
                  <a:lnTo>
                    <a:pt x="364312" y="319684"/>
                  </a:lnTo>
                  <a:lnTo>
                    <a:pt x="336232" y="351002"/>
                  </a:lnTo>
                  <a:lnTo>
                    <a:pt x="302399" y="375843"/>
                  </a:lnTo>
                  <a:lnTo>
                    <a:pt x="283311" y="385203"/>
                  </a:lnTo>
                  <a:lnTo>
                    <a:pt x="273596" y="389521"/>
                  </a:lnTo>
                  <a:lnTo>
                    <a:pt x="232918" y="400329"/>
                  </a:lnTo>
                  <a:lnTo>
                    <a:pt x="201599" y="402844"/>
                  </a:lnTo>
                  <a:lnTo>
                    <a:pt x="159829" y="398526"/>
                  </a:lnTo>
                  <a:lnTo>
                    <a:pt x="119519" y="385572"/>
                  </a:lnTo>
                  <a:lnTo>
                    <a:pt x="83159" y="364324"/>
                  </a:lnTo>
                  <a:lnTo>
                    <a:pt x="51828" y="336245"/>
                  </a:lnTo>
                  <a:lnTo>
                    <a:pt x="27000" y="302399"/>
                  </a:lnTo>
                  <a:lnTo>
                    <a:pt x="17640" y="283324"/>
                  </a:lnTo>
                  <a:lnTo>
                    <a:pt x="13309" y="273608"/>
                  </a:lnTo>
                  <a:lnTo>
                    <a:pt x="2514" y="232930"/>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9" name="object 9"/>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5030470">
              <a:lnSpc>
                <a:spcPct val="100000"/>
              </a:lnSpc>
              <a:spcBef>
                <a:spcPts val="100"/>
              </a:spcBef>
            </a:pPr>
            <a:r>
              <a:rPr dirty="0"/>
              <a:t>FEA Setup</a:t>
            </a:r>
          </a:p>
        </p:txBody>
      </p:sp>
      <p:sp>
        <p:nvSpPr>
          <p:cNvPr id="10" name="object 10"/>
          <p:cNvSpPr/>
          <p:nvPr/>
        </p:nvSpPr>
        <p:spPr>
          <a:xfrm>
            <a:off x="0" y="6530403"/>
            <a:ext cx="1702435" cy="0"/>
          </a:xfrm>
          <a:custGeom>
            <a:avLst/>
            <a:gdLst/>
            <a:ahLst/>
            <a:cxnLst/>
            <a:rect l="l" t="t" r="r" b="b"/>
            <a:pathLst>
              <a:path w="1702435">
                <a:moveTo>
                  <a:pt x="0" y="0"/>
                </a:moveTo>
                <a:lnTo>
                  <a:pt x="1702435" y="0"/>
                </a:lnTo>
              </a:path>
            </a:pathLst>
          </a:custGeom>
          <a:ln w="12599">
            <a:solidFill>
              <a:srgbClr val="FFFFFF"/>
            </a:solidFill>
          </a:ln>
        </p:spPr>
        <p:txBody>
          <a:bodyPr wrap="square" lIns="0" tIns="0" rIns="0" bIns="0" rtlCol="0"/>
          <a:lstStyle/>
          <a:p>
            <a:endParaRPr/>
          </a:p>
        </p:txBody>
      </p:sp>
      <p:sp>
        <p:nvSpPr>
          <p:cNvPr id="11" name="object 11"/>
          <p:cNvSpPr txBox="1"/>
          <p:nvPr/>
        </p:nvSpPr>
        <p:spPr>
          <a:xfrm>
            <a:off x="2049932" y="3731018"/>
            <a:ext cx="17145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1</a:t>
            </a:r>
            <a:endParaRPr sz="1400" dirty="0">
              <a:latin typeface="Trebuchet MS"/>
              <a:cs typeface="Trebuchet MS"/>
            </a:endParaRPr>
          </a:p>
        </p:txBody>
      </p:sp>
      <p:sp>
        <p:nvSpPr>
          <p:cNvPr id="12" name="object 12"/>
          <p:cNvSpPr txBox="1"/>
          <p:nvPr/>
        </p:nvSpPr>
        <p:spPr>
          <a:xfrm>
            <a:off x="1209141" y="2180425"/>
            <a:ext cx="1817370" cy="1292662"/>
          </a:xfrm>
          <a:prstGeom prst="rect">
            <a:avLst/>
          </a:prstGeom>
        </p:spPr>
        <p:txBody>
          <a:bodyPr vert="horz" wrap="square" lIns="0" tIns="12700" rIns="0" bIns="0" rtlCol="0">
            <a:spAutoFit/>
          </a:bodyPr>
          <a:lstStyle/>
          <a:p>
            <a:pPr marL="2540" algn="ctr">
              <a:lnSpc>
                <a:spcPct val="100000"/>
              </a:lnSpc>
              <a:spcBef>
                <a:spcPts val="100"/>
              </a:spcBef>
            </a:pPr>
            <a:r>
              <a:rPr lang="en-US" sz="1800" dirty="0">
                <a:solidFill>
                  <a:srgbClr val="FFFFFF"/>
                </a:solidFill>
                <a:latin typeface="Trebuchet MS"/>
                <a:cs typeface="Trebuchet MS"/>
              </a:rPr>
              <a:t>Materials</a:t>
            </a:r>
            <a:endParaRPr sz="1800" dirty="0">
              <a:latin typeface="Trebuchet MS"/>
              <a:cs typeface="Trebuchet MS"/>
            </a:endParaRPr>
          </a:p>
          <a:p>
            <a:pPr marL="12700" marR="5080" algn="ctr">
              <a:lnSpc>
                <a:spcPct val="100000"/>
              </a:lnSpc>
              <a:spcBef>
                <a:spcPts val="1070"/>
              </a:spcBef>
            </a:pPr>
            <a:r>
              <a:rPr sz="1400" dirty="0">
                <a:solidFill>
                  <a:srgbClr val="FFFFFF"/>
                </a:solidFill>
                <a:latin typeface="Trebuchet MS"/>
                <a:cs typeface="Trebuchet MS"/>
              </a:rPr>
              <a:t>Specify materials based on their application properties.</a:t>
            </a:r>
            <a:endParaRPr sz="1400" dirty="0">
              <a:latin typeface="Trebuchet MS"/>
              <a:cs typeface="Trebuchet MS"/>
            </a:endParaRPr>
          </a:p>
        </p:txBody>
      </p:sp>
      <p:grpSp>
        <p:nvGrpSpPr>
          <p:cNvPr id="13" name="object 13"/>
          <p:cNvGrpSpPr/>
          <p:nvPr/>
        </p:nvGrpSpPr>
        <p:grpSpPr>
          <a:xfrm>
            <a:off x="3848887" y="3636124"/>
            <a:ext cx="415925" cy="415925"/>
            <a:chOff x="3848887" y="3636124"/>
            <a:chExt cx="415925" cy="415925"/>
          </a:xfrm>
        </p:grpSpPr>
        <p:sp>
          <p:nvSpPr>
            <p:cNvPr id="14" name="object 14"/>
            <p:cNvSpPr/>
            <p:nvPr/>
          </p:nvSpPr>
          <p:spPr>
            <a:xfrm>
              <a:off x="3855237" y="3642474"/>
              <a:ext cx="403225" cy="403225"/>
            </a:xfrm>
            <a:custGeom>
              <a:avLst/>
              <a:gdLst/>
              <a:ahLst/>
              <a:cxnLst/>
              <a:rect l="l" t="t" r="r" b="b"/>
              <a:pathLst>
                <a:path w="403225" h="403225">
                  <a:moveTo>
                    <a:pt x="201599" y="0"/>
                  </a:moveTo>
                  <a:lnTo>
                    <a:pt x="160921" y="4330"/>
                  </a:lnTo>
                  <a:lnTo>
                    <a:pt x="122047" y="16560"/>
                  </a:lnTo>
                  <a:lnTo>
                    <a:pt x="86398" y="36360"/>
                  </a:lnTo>
                  <a:lnTo>
                    <a:pt x="55448" y="63004"/>
                  </a:lnTo>
                  <a:lnTo>
                    <a:pt x="30606" y="95046"/>
                  </a:lnTo>
                  <a:lnTo>
                    <a:pt x="9359" y="141490"/>
                  </a:lnTo>
                  <a:lnTo>
                    <a:pt x="1525" y="180365"/>
                  </a:lnTo>
                  <a:lnTo>
                    <a:pt x="1447" y="181089"/>
                  </a:lnTo>
                  <a:lnTo>
                    <a:pt x="774" y="190804"/>
                  </a:lnTo>
                  <a:lnTo>
                    <a:pt x="723" y="191528"/>
                  </a:lnTo>
                  <a:lnTo>
                    <a:pt x="380" y="201244"/>
                  </a:lnTo>
                  <a:lnTo>
                    <a:pt x="368" y="201599"/>
                  </a:lnTo>
                  <a:lnTo>
                    <a:pt x="0" y="201599"/>
                  </a:lnTo>
                  <a:lnTo>
                    <a:pt x="4254" y="243001"/>
                  </a:lnTo>
                  <a:lnTo>
                    <a:pt x="4317" y="243370"/>
                  </a:lnTo>
                  <a:lnTo>
                    <a:pt x="6756" y="253441"/>
                  </a:lnTo>
                  <a:lnTo>
                    <a:pt x="6845" y="253809"/>
                  </a:lnTo>
                  <a:lnTo>
                    <a:pt x="9969" y="263525"/>
                  </a:lnTo>
                  <a:lnTo>
                    <a:pt x="27000" y="302399"/>
                  </a:lnTo>
                  <a:lnTo>
                    <a:pt x="51841" y="336245"/>
                  </a:lnTo>
                  <a:lnTo>
                    <a:pt x="83159" y="364324"/>
                  </a:lnTo>
                  <a:lnTo>
                    <a:pt x="119519" y="385572"/>
                  </a:lnTo>
                  <a:lnTo>
                    <a:pt x="159842" y="398526"/>
                  </a:lnTo>
                  <a:lnTo>
                    <a:pt x="201599" y="402844"/>
                  </a:lnTo>
                  <a:lnTo>
                    <a:pt x="212039" y="402488"/>
                  </a:lnTo>
                  <a:lnTo>
                    <a:pt x="253796" y="396011"/>
                  </a:lnTo>
                  <a:lnTo>
                    <a:pt x="293039" y="380885"/>
                  </a:lnTo>
                  <a:lnTo>
                    <a:pt x="328320" y="357847"/>
                  </a:lnTo>
                  <a:lnTo>
                    <a:pt x="357847" y="327964"/>
                  </a:lnTo>
                  <a:lnTo>
                    <a:pt x="380885" y="292684"/>
                  </a:lnTo>
                  <a:lnTo>
                    <a:pt x="395893" y="253809"/>
                  </a:lnTo>
                  <a:lnTo>
                    <a:pt x="401715" y="222491"/>
                  </a:lnTo>
                  <a:lnTo>
                    <a:pt x="401764" y="222123"/>
                  </a:lnTo>
                  <a:lnTo>
                    <a:pt x="402462" y="212051"/>
                  </a:lnTo>
                  <a:lnTo>
                    <a:pt x="402831" y="201599"/>
                  </a:lnTo>
                  <a:lnTo>
                    <a:pt x="402843" y="201244"/>
                  </a:lnTo>
                  <a:lnTo>
                    <a:pt x="402513" y="191528"/>
                  </a:lnTo>
                  <a:lnTo>
                    <a:pt x="402488" y="190804"/>
                  </a:lnTo>
                  <a:lnTo>
                    <a:pt x="401814" y="181089"/>
                  </a:lnTo>
                  <a:lnTo>
                    <a:pt x="401764" y="180365"/>
                  </a:lnTo>
                  <a:lnTo>
                    <a:pt x="392760" y="138963"/>
                  </a:lnTo>
                  <a:lnTo>
                    <a:pt x="375843" y="100444"/>
                  </a:lnTo>
                  <a:lnTo>
                    <a:pt x="351002" y="66611"/>
                  </a:lnTo>
                  <a:lnTo>
                    <a:pt x="319684" y="38531"/>
                  </a:lnTo>
                  <a:lnTo>
                    <a:pt x="283324" y="17284"/>
                  </a:lnTo>
                  <a:lnTo>
                    <a:pt x="243357" y="4330"/>
                  </a:lnTo>
                  <a:lnTo>
                    <a:pt x="212039" y="368"/>
                  </a:lnTo>
                  <a:lnTo>
                    <a:pt x="201599" y="0"/>
                  </a:lnTo>
                  <a:close/>
                </a:path>
              </a:pathLst>
            </a:custGeom>
            <a:solidFill>
              <a:srgbClr val="453E31"/>
            </a:solidFill>
          </p:spPr>
          <p:txBody>
            <a:bodyPr wrap="square" lIns="0" tIns="0" rIns="0" bIns="0" rtlCol="0"/>
            <a:lstStyle/>
            <a:p>
              <a:endParaRPr/>
            </a:p>
          </p:txBody>
        </p:sp>
        <p:sp>
          <p:nvSpPr>
            <p:cNvPr id="15" name="object 15"/>
            <p:cNvSpPr/>
            <p:nvPr/>
          </p:nvSpPr>
          <p:spPr>
            <a:xfrm>
              <a:off x="3855237" y="3642474"/>
              <a:ext cx="403225" cy="403225"/>
            </a:xfrm>
            <a:custGeom>
              <a:avLst/>
              <a:gdLst/>
              <a:ahLst/>
              <a:cxnLst/>
              <a:rect l="l" t="t" r="r" b="b"/>
              <a:pathLst>
                <a:path w="403225" h="403225">
                  <a:moveTo>
                    <a:pt x="368" y="201599"/>
                  </a:moveTo>
                  <a:lnTo>
                    <a:pt x="723" y="191528"/>
                  </a:lnTo>
                  <a:lnTo>
                    <a:pt x="1447" y="181089"/>
                  </a:lnTo>
                  <a:lnTo>
                    <a:pt x="2527" y="171005"/>
                  </a:lnTo>
                  <a:lnTo>
                    <a:pt x="4317" y="160921"/>
                  </a:lnTo>
                  <a:lnTo>
                    <a:pt x="6845" y="151206"/>
                  </a:lnTo>
                  <a:lnTo>
                    <a:pt x="9359" y="141490"/>
                  </a:lnTo>
                  <a:lnTo>
                    <a:pt x="12966" y="131762"/>
                  </a:lnTo>
                  <a:lnTo>
                    <a:pt x="16560" y="122047"/>
                  </a:lnTo>
                  <a:lnTo>
                    <a:pt x="20878" y="113042"/>
                  </a:lnTo>
                  <a:lnTo>
                    <a:pt x="42481" y="78486"/>
                  </a:lnTo>
                  <a:lnTo>
                    <a:pt x="70205" y="48971"/>
                  </a:lnTo>
                  <a:lnTo>
                    <a:pt x="103682" y="25565"/>
                  </a:lnTo>
                  <a:lnTo>
                    <a:pt x="141122" y="9359"/>
                  </a:lnTo>
                  <a:lnTo>
                    <a:pt x="181076" y="1079"/>
                  </a:lnTo>
                  <a:lnTo>
                    <a:pt x="201599" y="0"/>
                  </a:lnTo>
                  <a:lnTo>
                    <a:pt x="243357" y="4330"/>
                  </a:lnTo>
                  <a:lnTo>
                    <a:pt x="283324" y="17284"/>
                  </a:lnTo>
                  <a:lnTo>
                    <a:pt x="319684" y="38531"/>
                  </a:lnTo>
                  <a:lnTo>
                    <a:pt x="351002" y="66611"/>
                  </a:lnTo>
                  <a:lnTo>
                    <a:pt x="375843" y="100444"/>
                  </a:lnTo>
                  <a:lnTo>
                    <a:pt x="392760" y="138963"/>
                  </a:lnTo>
                  <a:lnTo>
                    <a:pt x="401764" y="180365"/>
                  </a:lnTo>
                  <a:lnTo>
                    <a:pt x="402843" y="201244"/>
                  </a:lnTo>
                  <a:lnTo>
                    <a:pt x="398525" y="243001"/>
                  </a:lnTo>
                  <a:lnTo>
                    <a:pt x="385559" y="283324"/>
                  </a:lnTo>
                  <a:lnTo>
                    <a:pt x="364324" y="319684"/>
                  </a:lnTo>
                  <a:lnTo>
                    <a:pt x="336245" y="351002"/>
                  </a:lnTo>
                  <a:lnTo>
                    <a:pt x="302399" y="375843"/>
                  </a:lnTo>
                  <a:lnTo>
                    <a:pt x="283324" y="385203"/>
                  </a:lnTo>
                  <a:lnTo>
                    <a:pt x="273608" y="389521"/>
                  </a:lnTo>
                  <a:lnTo>
                    <a:pt x="232917" y="400329"/>
                  </a:lnTo>
                  <a:lnTo>
                    <a:pt x="201599" y="402844"/>
                  </a:lnTo>
                  <a:lnTo>
                    <a:pt x="159842" y="398526"/>
                  </a:lnTo>
                  <a:lnTo>
                    <a:pt x="119519" y="385572"/>
                  </a:lnTo>
                  <a:lnTo>
                    <a:pt x="83159" y="364324"/>
                  </a:lnTo>
                  <a:lnTo>
                    <a:pt x="51841" y="336245"/>
                  </a:lnTo>
                  <a:lnTo>
                    <a:pt x="27000" y="302399"/>
                  </a:lnTo>
                  <a:lnTo>
                    <a:pt x="17640" y="283324"/>
                  </a:lnTo>
                  <a:lnTo>
                    <a:pt x="13322" y="273608"/>
                  </a:lnTo>
                  <a:lnTo>
                    <a:pt x="2527" y="232930"/>
                  </a:lnTo>
                  <a:lnTo>
                    <a:pt x="0" y="201599"/>
                  </a:lnTo>
                  <a:lnTo>
                    <a:pt x="368" y="201599"/>
                  </a:lnTo>
                  <a:close/>
                </a:path>
              </a:pathLst>
            </a:custGeom>
            <a:ln w="12599">
              <a:solidFill>
                <a:srgbClr val="FFFFFF"/>
              </a:solidFill>
            </a:ln>
          </p:spPr>
          <p:txBody>
            <a:bodyPr wrap="square" lIns="0" tIns="0" rIns="0" bIns="0" rtlCol="0"/>
            <a:lstStyle/>
            <a:p>
              <a:endParaRPr/>
            </a:p>
          </p:txBody>
        </p:sp>
      </p:grpSp>
      <p:sp>
        <p:nvSpPr>
          <p:cNvPr id="16" name="object 16"/>
          <p:cNvSpPr txBox="1"/>
          <p:nvPr/>
        </p:nvSpPr>
        <p:spPr>
          <a:xfrm>
            <a:off x="4009806" y="3731018"/>
            <a:ext cx="17145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2</a:t>
            </a:r>
            <a:endParaRPr sz="1400" dirty="0">
              <a:latin typeface="Trebuchet MS"/>
              <a:cs typeface="Trebuchet MS"/>
            </a:endParaRPr>
          </a:p>
        </p:txBody>
      </p:sp>
      <p:sp>
        <p:nvSpPr>
          <p:cNvPr id="17" name="object 17"/>
          <p:cNvSpPr txBox="1"/>
          <p:nvPr/>
        </p:nvSpPr>
        <p:spPr>
          <a:xfrm>
            <a:off x="2915894" y="4122254"/>
            <a:ext cx="2277110" cy="1354217"/>
          </a:xfrm>
          <a:prstGeom prst="rect">
            <a:avLst/>
          </a:prstGeom>
        </p:spPr>
        <p:txBody>
          <a:bodyPr vert="horz" wrap="square" lIns="0" tIns="12700" rIns="0" bIns="0" rtlCol="0">
            <a:spAutoFit/>
          </a:bodyPr>
          <a:lstStyle/>
          <a:p>
            <a:pPr algn="ctr">
              <a:lnSpc>
                <a:spcPct val="100000"/>
              </a:lnSpc>
              <a:spcBef>
                <a:spcPts val="100"/>
              </a:spcBef>
            </a:pPr>
            <a:r>
              <a:rPr sz="1800" dirty="0">
                <a:solidFill>
                  <a:srgbClr val="FFFFFF"/>
                </a:solidFill>
                <a:latin typeface="Trebuchet MS"/>
                <a:cs typeface="Trebuchet MS"/>
              </a:rPr>
              <a:t>Connections</a:t>
            </a:r>
            <a:r>
              <a:rPr lang="en-US" sz="1800" dirty="0">
                <a:solidFill>
                  <a:srgbClr val="FFFFFF"/>
                </a:solidFill>
                <a:latin typeface="Trebuchet MS"/>
                <a:cs typeface="Trebuchet MS"/>
              </a:rPr>
              <a:t> and Fixtures</a:t>
            </a:r>
            <a:endParaRPr sz="1800" dirty="0">
              <a:latin typeface="Trebuchet MS"/>
              <a:cs typeface="Trebuchet MS"/>
            </a:endParaRPr>
          </a:p>
          <a:p>
            <a:pPr marL="12700" marR="5080" algn="ctr">
              <a:lnSpc>
                <a:spcPct val="100000"/>
              </a:lnSpc>
              <a:spcBef>
                <a:spcPts val="1090"/>
              </a:spcBef>
            </a:pPr>
            <a:r>
              <a:rPr sz="1400" dirty="0">
                <a:solidFill>
                  <a:srgbClr val="FFFFFF"/>
                </a:solidFill>
                <a:latin typeface="Trebuchet MS"/>
                <a:cs typeface="Trebuchet MS"/>
              </a:rPr>
              <a:t>Model connections to reflect mechanical behavior accurately.</a:t>
            </a:r>
            <a:endParaRPr sz="1400" dirty="0">
              <a:latin typeface="Trebuchet MS"/>
              <a:cs typeface="Trebuchet MS"/>
            </a:endParaRPr>
          </a:p>
        </p:txBody>
      </p:sp>
      <p:grpSp>
        <p:nvGrpSpPr>
          <p:cNvPr id="18" name="object 18"/>
          <p:cNvGrpSpPr/>
          <p:nvPr/>
        </p:nvGrpSpPr>
        <p:grpSpPr>
          <a:xfrm>
            <a:off x="5782093" y="3636124"/>
            <a:ext cx="415925" cy="415925"/>
            <a:chOff x="5782093" y="3636124"/>
            <a:chExt cx="415925" cy="415925"/>
          </a:xfrm>
        </p:grpSpPr>
        <p:sp>
          <p:nvSpPr>
            <p:cNvPr id="19" name="object 19"/>
            <p:cNvSpPr/>
            <p:nvPr/>
          </p:nvSpPr>
          <p:spPr>
            <a:xfrm>
              <a:off x="5788443" y="3642474"/>
              <a:ext cx="403225" cy="403225"/>
            </a:xfrm>
            <a:custGeom>
              <a:avLst/>
              <a:gdLst/>
              <a:ahLst/>
              <a:cxnLst/>
              <a:rect l="l" t="t" r="r" b="b"/>
              <a:pathLst>
                <a:path w="403225" h="403225">
                  <a:moveTo>
                    <a:pt x="201599" y="0"/>
                  </a:moveTo>
                  <a:lnTo>
                    <a:pt x="160921" y="4330"/>
                  </a:lnTo>
                  <a:lnTo>
                    <a:pt x="122034" y="16560"/>
                  </a:lnTo>
                  <a:lnTo>
                    <a:pt x="86398" y="36360"/>
                  </a:lnTo>
                  <a:lnTo>
                    <a:pt x="55435" y="63004"/>
                  </a:lnTo>
                  <a:lnTo>
                    <a:pt x="30594" y="95046"/>
                  </a:lnTo>
                  <a:lnTo>
                    <a:pt x="9359" y="141490"/>
                  </a:lnTo>
                  <a:lnTo>
                    <a:pt x="1512" y="180365"/>
                  </a:lnTo>
                  <a:lnTo>
                    <a:pt x="1435" y="181089"/>
                  </a:lnTo>
                  <a:lnTo>
                    <a:pt x="761" y="190804"/>
                  </a:lnTo>
                  <a:lnTo>
                    <a:pt x="711" y="191528"/>
                  </a:lnTo>
                  <a:lnTo>
                    <a:pt x="368" y="201244"/>
                  </a:lnTo>
                  <a:lnTo>
                    <a:pt x="355" y="201599"/>
                  </a:lnTo>
                  <a:lnTo>
                    <a:pt x="0" y="201599"/>
                  </a:lnTo>
                  <a:lnTo>
                    <a:pt x="4254" y="243001"/>
                  </a:lnTo>
                  <a:lnTo>
                    <a:pt x="21958" y="293039"/>
                  </a:lnTo>
                  <a:lnTo>
                    <a:pt x="44996" y="328320"/>
                  </a:lnTo>
                  <a:lnTo>
                    <a:pt x="74879" y="357847"/>
                  </a:lnTo>
                  <a:lnTo>
                    <a:pt x="110159" y="380885"/>
                  </a:lnTo>
                  <a:lnTo>
                    <a:pt x="149390" y="396011"/>
                  </a:lnTo>
                  <a:lnTo>
                    <a:pt x="191160" y="402488"/>
                  </a:lnTo>
                  <a:lnTo>
                    <a:pt x="201599" y="402844"/>
                  </a:lnTo>
                  <a:lnTo>
                    <a:pt x="212039" y="402488"/>
                  </a:lnTo>
                  <a:lnTo>
                    <a:pt x="253796" y="396011"/>
                  </a:lnTo>
                  <a:lnTo>
                    <a:pt x="293039" y="380885"/>
                  </a:lnTo>
                  <a:lnTo>
                    <a:pt x="328320" y="357847"/>
                  </a:lnTo>
                  <a:lnTo>
                    <a:pt x="357835" y="327964"/>
                  </a:lnTo>
                  <a:lnTo>
                    <a:pt x="380873" y="292684"/>
                  </a:lnTo>
                  <a:lnTo>
                    <a:pt x="395893" y="253809"/>
                  </a:lnTo>
                  <a:lnTo>
                    <a:pt x="398424" y="243370"/>
                  </a:lnTo>
                  <a:lnTo>
                    <a:pt x="398513" y="243001"/>
                  </a:lnTo>
                  <a:lnTo>
                    <a:pt x="400316" y="232930"/>
                  </a:lnTo>
                  <a:lnTo>
                    <a:pt x="401702" y="222491"/>
                  </a:lnTo>
                  <a:lnTo>
                    <a:pt x="401751" y="222123"/>
                  </a:lnTo>
                  <a:lnTo>
                    <a:pt x="402450" y="212051"/>
                  </a:lnTo>
                  <a:lnTo>
                    <a:pt x="402819" y="201599"/>
                  </a:lnTo>
                  <a:lnTo>
                    <a:pt x="402831" y="201244"/>
                  </a:lnTo>
                  <a:lnTo>
                    <a:pt x="402500" y="191528"/>
                  </a:lnTo>
                  <a:lnTo>
                    <a:pt x="402475" y="190804"/>
                  </a:lnTo>
                  <a:lnTo>
                    <a:pt x="401801" y="181089"/>
                  </a:lnTo>
                  <a:lnTo>
                    <a:pt x="401751" y="180365"/>
                  </a:lnTo>
                  <a:lnTo>
                    <a:pt x="392760" y="138963"/>
                  </a:lnTo>
                  <a:lnTo>
                    <a:pt x="375831" y="100444"/>
                  </a:lnTo>
                  <a:lnTo>
                    <a:pt x="350989" y="66611"/>
                  </a:lnTo>
                  <a:lnTo>
                    <a:pt x="319671" y="38531"/>
                  </a:lnTo>
                  <a:lnTo>
                    <a:pt x="283311" y="17284"/>
                  </a:lnTo>
                  <a:lnTo>
                    <a:pt x="243357" y="4330"/>
                  </a:lnTo>
                  <a:lnTo>
                    <a:pt x="212039" y="368"/>
                  </a:lnTo>
                  <a:lnTo>
                    <a:pt x="201599" y="0"/>
                  </a:lnTo>
                  <a:close/>
                </a:path>
              </a:pathLst>
            </a:custGeom>
            <a:solidFill>
              <a:srgbClr val="453E31"/>
            </a:solidFill>
          </p:spPr>
          <p:txBody>
            <a:bodyPr wrap="square" lIns="0" tIns="0" rIns="0" bIns="0" rtlCol="0"/>
            <a:lstStyle/>
            <a:p>
              <a:endParaRPr/>
            </a:p>
          </p:txBody>
        </p:sp>
        <p:sp>
          <p:nvSpPr>
            <p:cNvPr id="20" name="object 20"/>
            <p:cNvSpPr/>
            <p:nvPr/>
          </p:nvSpPr>
          <p:spPr>
            <a:xfrm>
              <a:off x="5788443" y="3642474"/>
              <a:ext cx="403225" cy="403225"/>
            </a:xfrm>
            <a:custGeom>
              <a:avLst/>
              <a:gdLst/>
              <a:ahLst/>
              <a:cxnLst/>
              <a:rect l="l" t="t" r="r" b="b"/>
              <a:pathLst>
                <a:path w="403225" h="403225">
                  <a:moveTo>
                    <a:pt x="355" y="201599"/>
                  </a:moveTo>
                  <a:lnTo>
                    <a:pt x="711" y="191528"/>
                  </a:lnTo>
                  <a:lnTo>
                    <a:pt x="1435" y="181089"/>
                  </a:lnTo>
                  <a:lnTo>
                    <a:pt x="9359" y="141490"/>
                  </a:lnTo>
                  <a:lnTo>
                    <a:pt x="25552" y="104051"/>
                  </a:lnTo>
                  <a:lnTo>
                    <a:pt x="42481" y="78486"/>
                  </a:lnTo>
                  <a:lnTo>
                    <a:pt x="48590" y="70561"/>
                  </a:lnTo>
                  <a:lnTo>
                    <a:pt x="78117" y="42481"/>
                  </a:lnTo>
                  <a:lnTo>
                    <a:pt x="112674" y="20891"/>
                  </a:lnTo>
                  <a:lnTo>
                    <a:pt x="151193" y="6489"/>
                  </a:lnTo>
                  <a:lnTo>
                    <a:pt x="191515" y="368"/>
                  </a:lnTo>
                  <a:lnTo>
                    <a:pt x="201599" y="0"/>
                  </a:lnTo>
                  <a:lnTo>
                    <a:pt x="243357" y="4330"/>
                  </a:lnTo>
                  <a:lnTo>
                    <a:pt x="283311" y="17284"/>
                  </a:lnTo>
                  <a:lnTo>
                    <a:pt x="319671" y="38531"/>
                  </a:lnTo>
                  <a:lnTo>
                    <a:pt x="350989" y="66611"/>
                  </a:lnTo>
                  <a:lnTo>
                    <a:pt x="375831" y="100444"/>
                  </a:lnTo>
                  <a:lnTo>
                    <a:pt x="385190" y="119519"/>
                  </a:lnTo>
                  <a:lnTo>
                    <a:pt x="389521" y="129247"/>
                  </a:lnTo>
                  <a:lnTo>
                    <a:pt x="400316" y="169926"/>
                  </a:lnTo>
                  <a:lnTo>
                    <a:pt x="402831" y="201244"/>
                  </a:lnTo>
                  <a:lnTo>
                    <a:pt x="398513" y="243001"/>
                  </a:lnTo>
                  <a:lnTo>
                    <a:pt x="385559" y="283324"/>
                  </a:lnTo>
                  <a:lnTo>
                    <a:pt x="364312" y="319684"/>
                  </a:lnTo>
                  <a:lnTo>
                    <a:pt x="336232" y="351002"/>
                  </a:lnTo>
                  <a:lnTo>
                    <a:pt x="302399" y="375843"/>
                  </a:lnTo>
                  <a:lnTo>
                    <a:pt x="283311" y="385203"/>
                  </a:lnTo>
                  <a:lnTo>
                    <a:pt x="273596" y="389521"/>
                  </a:lnTo>
                  <a:lnTo>
                    <a:pt x="232917" y="400329"/>
                  </a:lnTo>
                  <a:lnTo>
                    <a:pt x="201599" y="402844"/>
                  </a:lnTo>
                  <a:lnTo>
                    <a:pt x="159842" y="398526"/>
                  </a:lnTo>
                  <a:lnTo>
                    <a:pt x="119519" y="385572"/>
                  </a:lnTo>
                  <a:lnTo>
                    <a:pt x="83159" y="364324"/>
                  </a:lnTo>
                  <a:lnTo>
                    <a:pt x="51841" y="336245"/>
                  </a:lnTo>
                  <a:lnTo>
                    <a:pt x="27000" y="302399"/>
                  </a:lnTo>
                  <a:lnTo>
                    <a:pt x="17640" y="283324"/>
                  </a:lnTo>
                  <a:lnTo>
                    <a:pt x="13309" y="273608"/>
                  </a:lnTo>
                  <a:lnTo>
                    <a:pt x="2514" y="232930"/>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21" name="object 21"/>
          <p:cNvSpPr txBox="1"/>
          <p:nvPr/>
        </p:nvSpPr>
        <p:spPr>
          <a:xfrm>
            <a:off x="5939358" y="3726256"/>
            <a:ext cx="17145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3</a:t>
            </a:r>
            <a:endParaRPr sz="1400" dirty="0">
              <a:latin typeface="Trebuchet MS"/>
              <a:cs typeface="Trebuchet MS"/>
            </a:endParaRPr>
          </a:p>
        </p:txBody>
      </p:sp>
      <p:sp>
        <p:nvSpPr>
          <p:cNvPr id="22" name="object 22"/>
          <p:cNvSpPr txBox="1"/>
          <p:nvPr/>
        </p:nvSpPr>
        <p:spPr>
          <a:xfrm>
            <a:off x="4850180" y="2180425"/>
            <a:ext cx="2276475" cy="1077218"/>
          </a:xfrm>
          <a:prstGeom prst="rect">
            <a:avLst/>
          </a:prstGeom>
        </p:spPr>
        <p:txBody>
          <a:bodyPr vert="horz" wrap="square" lIns="0" tIns="12700" rIns="0" bIns="0" rtlCol="0">
            <a:spAutoFit/>
          </a:bodyPr>
          <a:lstStyle/>
          <a:p>
            <a:pPr marL="1905" algn="ctr">
              <a:lnSpc>
                <a:spcPct val="100000"/>
              </a:lnSpc>
              <a:spcBef>
                <a:spcPts val="100"/>
              </a:spcBef>
            </a:pPr>
            <a:r>
              <a:rPr lang="en-US" sz="1800" dirty="0">
                <a:solidFill>
                  <a:srgbClr val="FFFFFF"/>
                </a:solidFill>
                <a:latin typeface="Trebuchet MS"/>
                <a:cs typeface="Trebuchet MS"/>
              </a:rPr>
              <a:t>Loads</a:t>
            </a:r>
            <a:endParaRPr sz="1800" dirty="0">
              <a:latin typeface="Trebuchet MS"/>
              <a:cs typeface="Trebuchet MS"/>
            </a:endParaRPr>
          </a:p>
          <a:p>
            <a:pPr marL="12700" marR="5080" algn="ctr">
              <a:lnSpc>
                <a:spcPct val="100000"/>
              </a:lnSpc>
              <a:spcBef>
                <a:spcPts val="1070"/>
              </a:spcBef>
            </a:pPr>
            <a:r>
              <a:rPr sz="1400" dirty="0">
                <a:solidFill>
                  <a:srgbClr val="FFFFFF"/>
                </a:solidFill>
                <a:latin typeface="Trebuchet MS"/>
                <a:cs typeface="Trebuchet MS"/>
              </a:rPr>
              <a:t>Implement realistic external loads to the model.</a:t>
            </a:r>
            <a:endParaRPr sz="1400" dirty="0">
              <a:latin typeface="Trebuchet MS"/>
              <a:cs typeface="Trebuchet MS"/>
            </a:endParaRPr>
          </a:p>
        </p:txBody>
      </p:sp>
      <p:grpSp>
        <p:nvGrpSpPr>
          <p:cNvPr id="23" name="object 23"/>
          <p:cNvGrpSpPr/>
          <p:nvPr/>
        </p:nvGrpSpPr>
        <p:grpSpPr>
          <a:xfrm>
            <a:off x="7718526" y="3636124"/>
            <a:ext cx="415925" cy="415925"/>
            <a:chOff x="7718526" y="3636124"/>
            <a:chExt cx="415925" cy="415925"/>
          </a:xfrm>
        </p:grpSpPr>
        <p:sp>
          <p:nvSpPr>
            <p:cNvPr id="24" name="object 24"/>
            <p:cNvSpPr/>
            <p:nvPr/>
          </p:nvSpPr>
          <p:spPr>
            <a:xfrm>
              <a:off x="7724876" y="3642474"/>
              <a:ext cx="403225" cy="403225"/>
            </a:xfrm>
            <a:custGeom>
              <a:avLst/>
              <a:gdLst/>
              <a:ahLst/>
              <a:cxnLst/>
              <a:rect l="l" t="t" r="r" b="b"/>
              <a:pathLst>
                <a:path w="403225" h="403225">
                  <a:moveTo>
                    <a:pt x="201599" y="0"/>
                  </a:moveTo>
                  <a:lnTo>
                    <a:pt x="160921" y="4330"/>
                  </a:lnTo>
                  <a:lnTo>
                    <a:pt x="122047" y="16560"/>
                  </a:lnTo>
                  <a:lnTo>
                    <a:pt x="86398" y="36360"/>
                  </a:lnTo>
                  <a:lnTo>
                    <a:pt x="55448" y="63004"/>
                  </a:lnTo>
                  <a:lnTo>
                    <a:pt x="30606" y="95046"/>
                  </a:lnTo>
                  <a:lnTo>
                    <a:pt x="9359" y="141490"/>
                  </a:lnTo>
                  <a:lnTo>
                    <a:pt x="1525" y="180365"/>
                  </a:lnTo>
                  <a:lnTo>
                    <a:pt x="1447" y="181089"/>
                  </a:lnTo>
                  <a:lnTo>
                    <a:pt x="774" y="190804"/>
                  </a:lnTo>
                  <a:lnTo>
                    <a:pt x="723" y="191528"/>
                  </a:lnTo>
                  <a:lnTo>
                    <a:pt x="380" y="201244"/>
                  </a:lnTo>
                  <a:lnTo>
                    <a:pt x="368" y="201599"/>
                  </a:lnTo>
                  <a:lnTo>
                    <a:pt x="0" y="201599"/>
                  </a:lnTo>
                  <a:lnTo>
                    <a:pt x="4254" y="243001"/>
                  </a:lnTo>
                  <a:lnTo>
                    <a:pt x="4317" y="243370"/>
                  </a:lnTo>
                  <a:lnTo>
                    <a:pt x="6756" y="253441"/>
                  </a:lnTo>
                  <a:lnTo>
                    <a:pt x="6845" y="253809"/>
                  </a:lnTo>
                  <a:lnTo>
                    <a:pt x="9969" y="263525"/>
                  </a:lnTo>
                  <a:lnTo>
                    <a:pt x="27000" y="302399"/>
                  </a:lnTo>
                  <a:lnTo>
                    <a:pt x="51841" y="336245"/>
                  </a:lnTo>
                  <a:lnTo>
                    <a:pt x="83159" y="364324"/>
                  </a:lnTo>
                  <a:lnTo>
                    <a:pt x="119519" y="385572"/>
                  </a:lnTo>
                  <a:lnTo>
                    <a:pt x="159842" y="398526"/>
                  </a:lnTo>
                  <a:lnTo>
                    <a:pt x="201599" y="402844"/>
                  </a:lnTo>
                  <a:lnTo>
                    <a:pt x="212039" y="402488"/>
                  </a:lnTo>
                  <a:lnTo>
                    <a:pt x="253809" y="396011"/>
                  </a:lnTo>
                  <a:lnTo>
                    <a:pt x="293039" y="380885"/>
                  </a:lnTo>
                  <a:lnTo>
                    <a:pt x="328320" y="357847"/>
                  </a:lnTo>
                  <a:lnTo>
                    <a:pt x="357847" y="327964"/>
                  </a:lnTo>
                  <a:lnTo>
                    <a:pt x="380885" y="292684"/>
                  </a:lnTo>
                  <a:lnTo>
                    <a:pt x="395893" y="253809"/>
                  </a:lnTo>
                  <a:lnTo>
                    <a:pt x="402462" y="212051"/>
                  </a:lnTo>
                  <a:lnTo>
                    <a:pt x="402843" y="201244"/>
                  </a:lnTo>
                  <a:lnTo>
                    <a:pt x="402513" y="191528"/>
                  </a:lnTo>
                  <a:lnTo>
                    <a:pt x="402488" y="190804"/>
                  </a:lnTo>
                  <a:lnTo>
                    <a:pt x="401814" y="181089"/>
                  </a:lnTo>
                  <a:lnTo>
                    <a:pt x="401764" y="180365"/>
                  </a:lnTo>
                  <a:lnTo>
                    <a:pt x="392760" y="138963"/>
                  </a:lnTo>
                  <a:lnTo>
                    <a:pt x="375843" y="100444"/>
                  </a:lnTo>
                  <a:lnTo>
                    <a:pt x="351002" y="66611"/>
                  </a:lnTo>
                  <a:lnTo>
                    <a:pt x="319684" y="38531"/>
                  </a:lnTo>
                  <a:lnTo>
                    <a:pt x="283324" y="17284"/>
                  </a:lnTo>
                  <a:lnTo>
                    <a:pt x="243357" y="4330"/>
                  </a:lnTo>
                  <a:lnTo>
                    <a:pt x="212039" y="368"/>
                  </a:lnTo>
                  <a:lnTo>
                    <a:pt x="201599" y="0"/>
                  </a:lnTo>
                  <a:close/>
                </a:path>
              </a:pathLst>
            </a:custGeom>
            <a:solidFill>
              <a:srgbClr val="453E31"/>
            </a:solidFill>
          </p:spPr>
          <p:txBody>
            <a:bodyPr wrap="square" lIns="0" tIns="0" rIns="0" bIns="0" rtlCol="0"/>
            <a:lstStyle/>
            <a:p>
              <a:endParaRPr/>
            </a:p>
          </p:txBody>
        </p:sp>
        <p:sp>
          <p:nvSpPr>
            <p:cNvPr id="25" name="object 25"/>
            <p:cNvSpPr/>
            <p:nvPr/>
          </p:nvSpPr>
          <p:spPr>
            <a:xfrm>
              <a:off x="7724876" y="3642474"/>
              <a:ext cx="403225" cy="403225"/>
            </a:xfrm>
            <a:custGeom>
              <a:avLst/>
              <a:gdLst/>
              <a:ahLst/>
              <a:cxnLst/>
              <a:rect l="l" t="t" r="r" b="b"/>
              <a:pathLst>
                <a:path w="403225" h="403225">
                  <a:moveTo>
                    <a:pt x="368" y="201599"/>
                  </a:moveTo>
                  <a:lnTo>
                    <a:pt x="723" y="191528"/>
                  </a:lnTo>
                  <a:lnTo>
                    <a:pt x="1447" y="181089"/>
                  </a:lnTo>
                  <a:lnTo>
                    <a:pt x="2527" y="171005"/>
                  </a:lnTo>
                  <a:lnTo>
                    <a:pt x="4317" y="160921"/>
                  </a:lnTo>
                  <a:lnTo>
                    <a:pt x="6845" y="151206"/>
                  </a:lnTo>
                  <a:lnTo>
                    <a:pt x="9359" y="141490"/>
                  </a:lnTo>
                  <a:lnTo>
                    <a:pt x="12966" y="131762"/>
                  </a:lnTo>
                  <a:lnTo>
                    <a:pt x="16560" y="122047"/>
                  </a:lnTo>
                  <a:lnTo>
                    <a:pt x="20878" y="113042"/>
                  </a:lnTo>
                  <a:lnTo>
                    <a:pt x="42481" y="78486"/>
                  </a:lnTo>
                  <a:lnTo>
                    <a:pt x="70205" y="48971"/>
                  </a:lnTo>
                  <a:lnTo>
                    <a:pt x="103682" y="25565"/>
                  </a:lnTo>
                  <a:lnTo>
                    <a:pt x="141122" y="9359"/>
                  </a:lnTo>
                  <a:lnTo>
                    <a:pt x="181089" y="1079"/>
                  </a:lnTo>
                  <a:lnTo>
                    <a:pt x="201599" y="0"/>
                  </a:lnTo>
                  <a:lnTo>
                    <a:pt x="243357" y="4330"/>
                  </a:lnTo>
                  <a:lnTo>
                    <a:pt x="283324" y="17284"/>
                  </a:lnTo>
                  <a:lnTo>
                    <a:pt x="319684" y="38531"/>
                  </a:lnTo>
                  <a:lnTo>
                    <a:pt x="351002" y="66611"/>
                  </a:lnTo>
                  <a:lnTo>
                    <a:pt x="375843" y="100444"/>
                  </a:lnTo>
                  <a:lnTo>
                    <a:pt x="392760" y="138963"/>
                  </a:lnTo>
                  <a:lnTo>
                    <a:pt x="401764" y="180365"/>
                  </a:lnTo>
                  <a:lnTo>
                    <a:pt x="402843" y="201244"/>
                  </a:lnTo>
                  <a:lnTo>
                    <a:pt x="398525" y="243001"/>
                  </a:lnTo>
                  <a:lnTo>
                    <a:pt x="385559" y="283324"/>
                  </a:lnTo>
                  <a:lnTo>
                    <a:pt x="364324" y="319684"/>
                  </a:lnTo>
                  <a:lnTo>
                    <a:pt x="336245" y="351002"/>
                  </a:lnTo>
                  <a:lnTo>
                    <a:pt x="302399" y="375843"/>
                  </a:lnTo>
                  <a:lnTo>
                    <a:pt x="283324" y="385203"/>
                  </a:lnTo>
                  <a:lnTo>
                    <a:pt x="273608" y="389521"/>
                  </a:lnTo>
                  <a:lnTo>
                    <a:pt x="232917" y="400329"/>
                  </a:lnTo>
                  <a:lnTo>
                    <a:pt x="201599" y="402844"/>
                  </a:lnTo>
                  <a:lnTo>
                    <a:pt x="159842" y="398526"/>
                  </a:lnTo>
                  <a:lnTo>
                    <a:pt x="119519" y="385572"/>
                  </a:lnTo>
                  <a:lnTo>
                    <a:pt x="83159" y="364324"/>
                  </a:lnTo>
                  <a:lnTo>
                    <a:pt x="51841" y="336245"/>
                  </a:lnTo>
                  <a:lnTo>
                    <a:pt x="27000" y="302399"/>
                  </a:lnTo>
                  <a:lnTo>
                    <a:pt x="17640" y="283324"/>
                  </a:lnTo>
                  <a:lnTo>
                    <a:pt x="13322" y="273608"/>
                  </a:lnTo>
                  <a:lnTo>
                    <a:pt x="2527" y="232930"/>
                  </a:lnTo>
                  <a:lnTo>
                    <a:pt x="0" y="201599"/>
                  </a:lnTo>
                  <a:lnTo>
                    <a:pt x="368" y="201599"/>
                  </a:lnTo>
                  <a:close/>
                </a:path>
              </a:pathLst>
            </a:custGeom>
            <a:ln w="12599">
              <a:solidFill>
                <a:srgbClr val="FFFFFF"/>
              </a:solidFill>
            </a:ln>
          </p:spPr>
          <p:txBody>
            <a:bodyPr wrap="square" lIns="0" tIns="0" rIns="0" bIns="0" rtlCol="0"/>
            <a:lstStyle/>
            <a:p>
              <a:endParaRPr/>
            </a:p>
          </p:txBody>
        </p:sp>
      </p:grpSp>
      <p:sp>
        <p:nvSpPr>
          <p:cNvPr id="26" name="object 26"/>
          <p:cNvSpPr txBox="1"/>
          <p:nvPr/>
        </p:nvSpPr>
        <p:spPr>
          <a:xfrm>
            <a:off x="7865077" y="3726256"/>
            <a:ext cx="17018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4</a:t>
            </a:r>
            <a:endParaRPr sz="1400" dirty="0">
              <a:latin typeface="Trebuchet MS"/>
              <a:cs typeface="Trebuchet MS"/>
            </a:endParaRPr>
          </a:p>
        </p:txBody>
      </p:sp>
      <p:sp>
        <p:nvSpPr>
          <p:cNvPr id="27" name="object 27"/>
          <p:cNvSpPr txBox="1"/>
          <p:nvPr/>
        </p:nvSpPr>
        <p:spPr>
          <a:xfrm>
            <a:off x="6790575" y="4122254"/>
            <a:ext cx="2268220" cy="1077218"/>
          </a:xfrm>
          <a:prstGeom prst="rect">
            <a:avLst/>
          </a:prstGeom>
        </p:spPr>
        <p:txBody>
          <a:bodyPr vert="horz" wrap="square" lIns="0" tIns="12700" rIns="0" bIns="0" rtlCol="0">
            <a:spAutoFit/>
          </a:bodyPr>
          <a:lstStyle/>
          <a:p>
            <a:pPr marL="5080" algn="ctr">
              <a:lnSpc>
                <a:spcPct val="100000"/>
              </a:lnSpc>
              <a:spcBef>
                <a:spcPts val="100"/>
              </a:spcBef>
            </a:pPr>
            <a:r>
              <a:rPr sz="1800" dirty="0">
                <a:solidFill>
                  <a:srgbClr val="FFFFFF"/>
                </a:solidFill>
                <a:latin typeface="Trebuchet MS"/>
                <a:cs typeface="Trebuchet MS"/>
              </a:rPr>
              <a:t>Mesh</a:t>
            </a:r>
            <a:endParaRPr sz="1800">
              <a:latin typeface="Trebuchet MS"/>
              <a:cs typeface="Trebuchet MS"/>
            </a:endParaRPr>
          </a:p>
          <a:p>
            <a:pPr marL="12700" marR="5080" algn="ctr">
              <a:lnSpc>
                <a:spcPct val="100000"/>
              </a:lnSpc>
              <a:spcBef>
                <a:spcPts val="1090"/>
              </a:spcBef>
            </a:pPr>
            <a:r>
              <a:rPr sz="1400" dirty="0">
                <a:solidFill>
                  <a:srgbClr val="FFFFFF"/>
                </a:solidFill>
                <a:latin typeface="Trebuchet MS"/>
                <a:cs typeface="Trebuchet MS"/>
              </a:rPr>
              <a:t>Develop a systematic meshing approach for analysis.</a:t>
            </a:r>
            <a:endParaRPr sz="1400">
              <a:latin typeface="Trebuchet MS"/>
              <a:cs typeface="Trebuchet MS"/>
            </a:endParaRPr>
          </a:p>
        </p:txBody>
      </p:sp>
      <p:grpSp>
        <p:nvGrpSpPr>
          <p:cNvPr id="28" name="object 28"/>
          <p:cNvGrpSpPr/>
          <p:nvPr/>
        </p:nvGrpSpPr>
        <p:grpSpPr>
          <a:xfrm>
            <a:off x="9651783" y="3636174"/>
            <a:ext cx="415925" cy="415925"/>
            <a:chOff x="9651783" y="3636174"/>
            <a:chExt cx="415925" cy="415925"/>
          </a:xfrm>
        </p:grpSpPr>
        <p:sp>
          <p:nvSpPr>
            <p:cNvPr id="29" name="object 29"/>
            <p:cNvSpPr/>
            <p:nvPr/>
          </p:nvSpPr>
          <p:spPr>
            <a:xfrm>
              <a:off x="9658083" y="3642474"/>
              <a:ext cx="403225" cy="403225"/>
            </a:xfrm>
            <a:custGeom>
              <a:avLst/>
              <a:gdLst/>
              <a:ahLst/>
              <a:cxnLst/>
              <a:rect l="l" t="t" r="r" b="b"/>
              <a:pathLst>
                <a:path w="403225" h="403225">
                  <a:moveTo>
                    <a:pt x="201599" y="0"/>
                  </a:moveTo>
                  <a:lnTo>
                    <a:pt x="160921" y="4330"/>
                  </a:lnTo>
                  <a:lnTo>
                    <a:pt x="122034" y="16560"/>
                  </a:lnTo>
                  <a:lnTo>
                    <a:pt x="86398" y="36360"/>
                  </a:lnTo>
                  <a:lnTo>
                    <a:pt x="55435" y="63004"/>
                  </a:lnTo>
                  <a:lnTo>
                    <a:pt x="30594" y="95046"/>
                  </a:lnTo>
                  <a:lnTo>
                    <a:pt x="9359" y="141490"/>
                  </a:lnTo>
                  <a:lnTo>
                    <a:pt x="1512" y="180365"/>
                  </a:lnTo>
                  <a:lnTo>
                    <a:pt x="1435" y="181089"/>
                  </a:lnTo>
                  <a:lnTo>
                    <a:pt x="761" y="190804"/>
                  </a:lnTo>
                  <a:lnTo>
                    <a:pt x="711" y="191528"/>
                  </a:lnTo>
                  <a:lnTo>
                    <a:pt x="368" y="201244"/>
                  </a:lnTo>
                  <a:lnTo>
                    <a:pt x="355" y="201599"/>
                  </a:lnTo>
                  <a:lnTo>
                    <a:pt x="0" y="201599"/>
                  </a:lnTo>
                  <a:lnTo>
                    <a:pt x="4254" y="243001"/>
                  </a:lnTo>
                  <a:lnTo>
                    <a:pt x="6743" y="253441"/>
                  </a:lnTo>
                  <a:lnTo>
                    <a:pt x="6832" y="253809"/>
                  </a:lnTo>
                  <a:lnTo>
                    <a:pt x="21958" y="293039"/>
                  </a:lnTo>
                  <a:lnTo>
                    <a:pt x="44996" y="328320"/>
                  </a:lnTo>
                  <a:lnTo>
                    <a:pt x="74879" y="357847"/>
                  </a:lnTo>
                  <a:lnTo>
                    <a:pt x="110159" y="380885"/>
                  </a:lnTo>
                  <a:lnTo>
                    <a:pt x="149402" y="396011"/>
                  </a:lnTo>
                  <a:lnTo>
                    <a:pt x="191160" y="402488"/>
                  </a:lnTo>
                  <a:lnTo>
                    <a:pt x="201599" y="402844"/>
                  </a:lnTo>
                  <a:lnTo>
                    <a:pt x="212039" y="402488"/>
                  </a:lnTo>
                  <a:lnTo>
                    <a:pt x="253796" y="396011"/>
                  </a:lnTo>
                  <a:lnTo>
                    <a:pt x="293039" y="380885"/>
                  </a:lnTo>
                  <a:lnTo>
                    <a:pt x="328320" y="357847"/>
                  </a:lnTo>
                  <a:lnTo>
                    <a:pt x="357835" y="327964"/>
                  </a:lnTo>
                  <a:lnTo>
                    <a:pt x="380873" y="292684"/>
                  </a:lnTo>
                  <a:lnTo>
                    <a:pt x="395893" y="253809"/>
                  </a:lnTo>
                  <a:lnTo>
                    <a:pt x="402450" y="212051"/>
                  </a:lnTo>
                  <a:lnTo>
                    <a:pt x="402831" y="201244"/>
                  </a:lnTo>
                  <a:lnTo>
                    <a:pt x="402500" y="191528"/>
                  </a:lnTo>
                  <a:lnTo>
                    <a:pt x="402475" y="190804"/>
                  </a:lnTo>
                  <a:lnTo>
                    <a:pt x="401801" y="181089"/>
                  </a:lnTo>
                  <a:lnTo>
                    <a:pt x="401751" y="180365"/>
                  </a:lnTo>
                  <a:lnTo>
                    <a:pt x="392760" y="138963"/>
                  </a:lnTo>
                  <a:lnTo>
                    <a:pt x="375831" y="100444"/>
                  </a:lnTo>
                  <a:lnTo>
                    <a:pt x="351002" y="66611"/>
                  </a:lnTo>
                  <a:lnTo>
                    <a:pt x="319671" y="38531"/>
                  </a:lnTo>
                  <a:lnTo>
                    <a:pt x="283311" y="17284"/>
                  </a:lnTo>
                  <a:lnTo>
                    <a:pt x="243357" y="4330"/>
                  </a:lnTo>
                  <a:lnTo>
                    <a:pt x="212039" y="368"/>
                  </a:lnTo>
                  <a:lnTo>
                    <a:pt x="201599" y="0"/>
                  </a:lnTo>
                  <a:close/>
                </a:path>
              </a:pathLst>
            </a:custGeom>
            <a:solidFill>
              <a:srgbClr val="453E31"/>
            </a:solidFill>
          </p:spPr>
          <p:txBody>
            <a:bodyPr wrap="square" lIns="0" tIns="0" rIns="0" bIns="0" rtlCol="0"/>
            <a:lstStyle/>
            <a:p>
              <a:endParaRPr/>
            </a:p>
          </p:txBody>
        </p:sp>
        <p:sp>
          <p:nvSpPr>
            <p:cNvPr id="30" name="object 30"/>
            <p:cNvSpPr/>
            <p:nvPr/>
          </p:nvSpPr>
          <p:spPr>
            <a:xfrm>
              <a:off x="9658083" y="3642474"/>
              <a:ext cx="403225" cy="403225"/>
            </a:xfrm>
            <a:custGeom>
              <a:avLst/>
              <a:gdLst/>
              <a:ahLst/>
              <a:cxnLst/>
              <a:rect l="l" t="t" r="r" b="b"/>
              <a:pathLst>
                <a:path w="403225" h="403225">
                  <a:moveTo>
                    <a:pt x="355" y="201599"/>
                  </a:moveTo>
                  <a:lnTo>
                    <a:pt x="711" y="191528"/>
                  </a:lnTo>
                  <a:lnTo>
                    <a:pt x="1435" y="181089"/>
                  </a:lnTo>
                  <a:lnTo>
                    <a:pt x="9359" y="141490"/>
                  </a:lnTo>
                  <a:lnTo>
                    <a:pt x="25552" y="104051"/>
                  </a:lnTo>
                  <a:lnTo>
                    <a:pt x="48602" y="70561"/>
                  </a:lnTo>
                  <a:lnTo>
                    <a:pt x="78117" y="42481"/>
                  </a:lnTo>
                  <a:lnTo>
                    <a:pt x="112674" y="20891"/>
                  </a:lnTo>
                  <a:lnTo>
                    <a:pt x="151193" y="6489"/>
                  </a:lnTo>
                  <a:lnTo>
                    <a:pt x="191515" y="368"/>
                  </a:lnTo>
                  <a:lnTo>
                    <a:pt x="201599" y="0"/>
                  </a:lnTo>
                  <a:lnTo>
                    <a:pt x="243357" y="4330"/>
                  </a:lnTo>
                  <a:lnTo>
                    <a:pt x="283311" y="17284"/>
                  </a:lnTo>
                  <a:lnTo>
                    <a:pt x="319671" y="38531"/>
                  </a:lnTo>
                  <a:lnTo>
                    <a:pt x="351002" y="66611"/>
                  </a:lnTo>
                  <a:lnTo>
                    <a:pt x="375831" y="100444"/>
                  </a:lnTo>
                  <a:lnTo>
                    <a:pt x="385190" y="119519"/>
                  </a:lnTo>
                  <a:lnTo>
                    <a:pt x="389521" y="129247"/>
                  </a:lnTo>
                  <a:lnTo>
                    <a:pt x="400316" y="169926"/>
                  </a:lnTo>
                  <a:lnTo>
                    <a:pt x="402831" y="201244"/>
                  </a:lnTo>
                  <a:lnTo>
                    <a:pt x="398513" y="243001"/>
                  </a:lnTo>
                  <a:lnTo>
                    <a:pt x="385559" y="283324"/>
                  </a:lnTo>
                  <a:lnTo>
                    <a:pt x="364312" y="319684"/>
                  </a:lnTo>
                  <a:lnTo>
                    <a:pt x="336232" y="351002"/>
                  </a:lnTo>
                  <a:lnTo>
                    <a:pt x="302399" y="375843"/>
                  </a:lnTo>
                  <a:lnTo>
                    <a:pt x="283311" y="385203"/>
                  </a:lnTo>
                  <a:lnTo>
                    <a:pt x="273596" y="389521"/>
                  </a:lnTo>
                  <a:lnTo>
                    <a:pt x="232917" y="400329"/>
                  </a:lnTo>
                  <a:lnTo>
                    <a:pt x="201599" y="402844"/>
                  </a:lnTo>
                  <a:lnTo>
                    <a:pt x="159842" y="398526"/>
                  </a:lnTo>
                  <a:lnTo>
                    <a:pt x="119519" y="385572"/>
                  </a:lnTo>
                  <a:lnTo>
                    <a:pt x="83159" y="364324"/>
                  </a:lnTo>
                  <a:lnTo>
                    <a:pt x="51841" y="336245"/>
                  </a:lnTo>
                  <a:lnTo>
                    <a:pt x="27000" y="302399"/>
                  </a:lnTo>
                  <a:lnTo>
                    <a:pt x="17640" y="283324"/>
                  </a:lnTo>
                  <a:lnTo>
                    <a:pt x="13322" y="273608"/>
                  </a:lnTo>
                  <a:lnTo>
                    <a:pt x="2514" y="232930"/>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31" name="object 31"/>
          <p:cNvSpPr txBox="1"/>
          <p:nvPr/>
        </p:nvSpPr>
        <p:spPr>
          <a:xfrm>
            <a:off x="9820586" y="3726256"/>
            <a:ext cx="170180"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5</a:t>
            </a:r>
            <a:endParaRPr sz="1400" dirty="0">
              <a:latin typeface="Trebuchet MS"/>
              <a:cs typeface="Trebuchet MS"/>
            </a:endParaRPr>
          </a:p>
        </p:txBody>
      </p:sp>
      <p:sp>
        <p:nvSpPr>
          <p:cNvPr id="32" name="object 32"/>
          <p:cNvSpPr txBox="1"/>
          <p:nvPr/>
        </p:nvSpPr>
        <p:spPr>
          <a:xfrm>
            <a:off x="8763025" y="2180425"/>
            <a:ext cx="2197735" cy="1077218"/>
          </a:xfrm>
          <a:prstGeom prst="rect">
            <a:avLst/>
          </a:prstGeom>
        </p:spPr>
        <p:txBody>
          <a:bodyPr vert="horz" wrap="square" lIns="0" tIns="12700" rIns="0" bIns="0" rtlCol="0">
            <a:spAutoFit/>
          </a:bodyPr>
          <a:lstStyle/>
          <a:p>
            <a:pPr algn="ctr">
              <a:lnSpc>
                <a:spcPct val="100000"/>
              </a:lnSpc>
              <a:spcBef>
                <a:spcPts val="100"/>
              </a:spcBef>
            </a:pPr>
            <a:r>
              <a:rPr sz="1800" dirty="0">
                <a:solidFill>
                  <a:srgbClr val="FFFFFF"/>
                </a:solidFill>
                <a:latin typeface="Trebuchet MS"/>
                <a:cs typeface="Trebuchet MS"/>
              </a:rPr>
              <a:t>Validate</a:t>
            </a:r>
            <a:endParaRPr sz="1800">
              <a:latin typeface="Trebuchet MS"/>
              <a:cs typeface="Trebuchet MS"/>
            </a:endParaRPr>
          </a:p>
          <a:p>
            <a:pPr marL="12700" marR="5080" algn="ctr">
              <a:lnSpc>
                <a:spcPct val="100000"/>
              </a:lnSpc>
              <a:spcBef>
                <a:spcPts val="1070"/>
              </a:spcBef>
            </a:pPr>
            <a:r>
              <a:rPr sz="1400" dirty="0">
                <a:solidFill>
                  <a:srgbClr val="FFFFFF"/>
                </a:solidFill>
                <a:latin typeface="Trebuchet MS"/>
                <a:cs typeface="Trebuchet MS"/>
              </a:rPr>
              <a:t>Confirm results match expectations for structural integrity.</a:t>
            </a:r>
            <a:endParaRPr sz="1400">
              <a:latin typeface="Trebuchet MS"/>
              <a:cs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0444" y="0"/>
            <a:ext cx="2247900" cy="4949825"/>
            <a:chOff x="100444" y="0"/>
            <a:chExt cx="2247900" cy="4949825"/>
          </a:xfrm>
        </p:grpSpPr>
        <p:sp>
          <p:nvSpPr>
            <p:cNvPr id="3" name="object 3"/>
            <p:cNvSpPr/>
            <p:nvPr/>
          </p:nvSpPr>
          <p:spPr>
            <a:xfrm>
              <a:off x="100444" y="0"/>
              <a:ext cx="1983105" cy="4949825"/>
            </a:xfrm>
            <a:custGeom>
              <a:avLst/>
              <a:gdLst/>
              <a:ahLst/>
              <a:cxnLst/>
              <a:rect l="l" t="t" r="r" b="b"/>
              <a:pathLst>
                <a:path w="1983105" h="4949825">
                  <a:moveTo>
                    <a:pt x="1982876" y="0"/>
                  </a:moveTo>
                  <a:lnTo>
                    <a:pt x="0" y="0"/>
                  </a:lnTo>
                  <a:lnTo>
                    <a:pt x="0" y="4949278"/>
                  </a:lnTo>
                  <a:lnTo>
                    <a:pt x="991438" y="4949278"/>
                  </a:lnTo>
                  <a:lnTo>
                    <a:pt x="1982876" y="4949278"/>
                  </a:lnTo>
                  <a:lnTo>
                    <a:pt x="1982876" y="0"/>
                  </a:lnTo>
                  <a:close/>
                </a:path>
              </a:pathLst>
            </a:custGeom>
            <a:solidFill>
              <a:srgbClr val="453E31">
                <a:alpha val="92999"/>
              </a:srgbClr>
            </a:solidFill>
          </p:spPr>
          <p:txBody>
            <a:bodyPr wrap="square" lIns="0" tIns="0" rIns="0" bIns="0" rtlCol="0"/>
            <a:lstStyle/>
            <a:p>
              <a:endParaRPr/>
            </a:p>
          </p:txBody>
        </p:sp>
        <p:sp>
          <p:nvSpPr>
            <p:cNvPr id="4" name="object 4"/>
            <p:cNvSpPr/>
            <p:nvPr/>
          </p:nvSpPr>
          <p:spPr>
            <a:xfrm>
              <a:off x="948601" y="955802"/>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grpSp>
      <p:sp>
        <p:nvSpPr>
          <p:cNvPr id="7" name="object 7"/>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Material Definition</a:t>
            </a:r>
          </a:p>
        </p:txBody>
      </p:sp>
      <p:pic>
        <p:nvPicPr>
          <p:cNvPr id="15" name="Picture 14">
            <a:extLst>
              <a:ext uri="{FF2B5EF4-FFF2-40B4-BE49-F238E27FC236}">
                <a16:creationId xmlns:a16="http://schemas.microsoft.com/office/drawing/2014/main" id="{5B707C37-09C6-DB81-44EA-FB34CEFA5D9E}"/>
              </a:ext>
            </a:extLst>
          </p:cNvPr>
          <p:cNvPicPr>
            <a:picLocks noChangeAspect="1"/>
          </p:cNvPicPr>
          <p:nvPr/>
        </p:nvPicPr>
        <p:blipFill>
          <a:blip r:embed="rId2"/>
          <a:stretch>
            <a:fillRect/>
          </a:stretch>
        </p:blipFill>
        <p:spPr>
          <a:xfrm>
            <a:off x="1371600" y="1347770"/>
            <a:ext cx="8875504" cy="450770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0444" y="0"/>
            <a:ext cx="2247900" cy="4949825"/>
            <a:chOff x="100444" y="0"/>
            <a:chExt cx="2247900" cy="4949825"/>
          </a:xfrm>
        </p:grpSpPr>
        <p:sp>
          <p:nvSpPr>
            <p:cNvPr id="3" name="object 3"/>
            <p:cNvSpPr/>
            <p:nvPr/>
          </p:nvSpPr>
          <p:spPr>
            <a:xfrm>
              <a:off x="100444" y="0"/>
              <a:ext cx="1983105" cy="4949825"/>
            </a:xfrm>
            <a:custGeom>
              <a:avLst/>
              <a:gdLst/>
              <a:ahLst/>
              <a:cxnLst/>
              <a:rect l="l" t="t" r="r" b="b"/>
              <a:pathLst>
                <a:path w="1983105" h="4949825">
                  <a:moveTo>
                    <a:pt x="1982876" y="0"/>
                  </a:moveTo>
                  <a:lnTo>
                    <a:pt x="0" y="0"/>
                  </a:lnTo>
                  <a:lnTo>
                    <a:pt x="0" y="4949278"/>
                  </a:lnTo>
                  <a:lnTo>
                    <a:pt x="991438" y="4949278"/>
                  </a:lnTo>
                  <a:lnTo>
                    <a:pt x="1982876" y="4949278"/>
                  </a:lnTo>
                  <a:lnTo>
                    <a:pt x="1982876" y="0"/>
                  </a:lnTo>
                  <a:close/>
                </a:path>
              </a:pathLst>
            </a:custGeom>
            <a:solidFill>
              <a:srgbClr val="453E31">
                <a:alpha val="92999"/>
              </a:srgbClr>
            </a:solidFill>
          </p:spPr>
          <p:txBody>
            <a:bodyPr wrap="square" lIns="0" tIns="0" rIns="0" bIns="0" rtlCol="0"/>
            <a:lstStyle/>
            <a:p>
              <a:endParaRPr/>
            </a:p>
          </p:txBody>
        </p:sp>
        <p:sp>
          <p:nvSpPr>
            <p:cNvPr id="4" name="object 4"/>
            <p:cNvSpPr/>
            <p:nvPr/>
          </p:nvSpPr>
          <p:spPr>
            <a:xfrm>
              <a:off x="948601" y="955802"/>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grpSp>
      <p:sp>
        <p:nvSpPr>
          <p:cNvPr id="7" name="object 7"/>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Connections</a:t>
            </a:r>
          </a:p>
        </p:txBody>
      </p:sp>
      <p:sp>
        <p:nvSpPr>
          <p:cNvPr id="12" name="TextBox 11">
            <a:extLst>
              <a:ext uri="{FF2B5EF4-FFF2-40B4-BE49-F238E27FC236}">
                <a16:creationId xmlns:a16="http://schemas.microsoft.com/office/drawing/2014/main" id="{14850944-3FCC-4DD9-E80E-1E83CC2926C1}"/>
              </a:ext>
            </a:extLst>
          </p:cNvPr>
          <p:cNvSpPr txBox="1"/>
          <p:nvPr/>
        </p:nvSpPr>
        <p:spPr>
          <a:xfrm>
            <a:off x="685800" y="1447800"/>
            <a:ext cx="3505200" cy="4832092"/>
          </a:xfrm>
          <a:prstGeom prst="rect">
            <a:avLst/>
          </a:prstGeom>
          <a:noFill/>
        </p:spPr>
        <p:txBody>
          <a:bodyPr wrap="square" rtlCol="0">
            <a:spAutoFit/>
          </a:bodyPr>
          <a:lstStyle/>
          <a:p>
            <a:pPr>
              <a:buNone/>
            </a:pPr>
            <a:r>
              <a:rPr lang="en-US" sz="1400" dirty="0">
                <a:solidFill>
                  <a:schemeClr val="bg1"/>
                </a:solidFill>
              </a:rPr>
              <a:t>In the simulation, simplified connection methods were used to ensure accurate results and efficient performance:</a:t>
            </a:r>
          </a:p>
          <a:p>
            <a:pPr>
              <a:buNone/>
            </a:pPr>
            <a:endParaRPr lang="en-US" sz="1400" dirty="0">
              <a:solidFill>
                <a:schemeClr val="bg1"/>
              </a:solidFill>
            </a:endParaRPr>
          </a:p>
          <a:p>
            <a:pPr>
              <a:buFont typeface="Arial" panose="020B0604020202020204" pitchFamily="34" charset="0"/>
              <a:buChar char="•"/>
            </a:pPr>
            <a:r>
              <a:rPr lang="en-US" sz="1400" b="1" dirty="0">
                <a:solidFill>
                  <a:schemeClr val="bg1"/>
                </a:solidFill>
              </a:rPr>
              <a:t>Pins</a:t>
            </a:r>
            <a:r>
              <a:rPr lang="en-US" sz="1400" dirty="0">
                <a:solidFill>
                  <a:schemeClr val="bg1"/>
                </a:solidFill>
              </a:rPr>
              <a:t> were set with zero rotational stiffness to allow </a:t>
            </a:r>
            <a:r>
              <a:rPr lang="en-US" sz="1400" b="1" u="sng" dirty="0">
                <a:solidFill>
                  <a:schemeClr val="bg1"/>
                </a:solidFill>
              </a:rPr>
              <a:t>free pivoting </a:t>
            </a:r>
            <a:r>
              <a:rPr lang="en-US" sz="1400" dirty="0">
                <a:solidFill>
                  <a:schemeClr val="bg1"/>
                </a:solidFill>
              </a:rPr>
              <a:t>of components, replicating real-world behavior without adding artificial constraints.</a:t>
            </a:r>
          </a:p>
          <a:p>
            <a:pPr>
              <a:buFont typeface="Arial" panose="020B0604020202020204" pitchFamily="34" charset="0"/>
              <a:buChar char="•"/>
            </a:pPr>
            <a:endParaRPr lang="en-US" sz="1400" dirty="0">
              <a:solidFill>
                <a:schemeClr val="bg1"/>
              </a:solidFill>
            </a:endParaRPr>
          </a:p>
          <a:p>
            <a:pPr>
              <a:buFont typeface="Arial" panose="020B0604020202020204" pitchFamily="34" charset="0"/>
              <a:buChar char="•"/>
            </a:pPr>
            <a:r>
              <a:rPr lang="en-US" sz="1400" b="1" dirty="0">
                <a:solidFill>
                  <a:schemeClr val="bg1"/>
                </a:solidFill>
              </a:rPr>
              <a:t>Spring Connector</a:t>
            </a:r>
            <a:r>
              <a:rPr lang="en-US" sz="1400" dirty="0">
                <a:solidFill>
                  <a:schemeClr val="bg1"/>
                </a:solidFill>
              </a:rPr>
              <a:t> replaced the physical spring model to reduce simulation complexity. A realistic stiffness value of </a:t>
            </a:r>
            <a:r>
              <a:rPr lang="en-US" sz="1400" b="1" u="sng" dirty="0">
                <a:solidFill>
                  <a:schemeClr val="bg1"/>
                </a:solidFill>
              </a:rPr>
              <a:t>3.5×10⁷ N/m²</a:t>
            </a:r>
            <a:r>
              <a:rPr lang="en-US" sz="1400" u="sng" dirty="0">
                <a:solidFill>
                  <a:schemeClr val="bg1"/>
                </a:solidFill>
              </a:rPr>
              <a:t> </a:t>
            </a:r>
            <a:r>
              <a:rPr lang="en-US" sz="1400" dirty="0">
                <a:solidFill>
                  <a:schemeClr val="bg1"/>
                </a:solidFill>
              </a:rPr>
              <a:t>was applied to represent the spring’s force-displacement behavior accurately.</a:t>
            </a:r>
          </a:p>
          <a:p>
            <a:pPr>
              <a:buFont typeface="Arial" panose="020B0604020202020204" pitchFamily="34" charset="0"/>
              <a:buChar char="•"/>
            </a:pPr>
            <a:endParaRPr lang="en-US" sz="1400" dirty="0">
              <a:solidFill>
                <a:schemeClr val="bg1"/>
              </a:solidFill>
            </a:endParaRPr>
          </a:p>
          <a:p>
            <a:r>
              <a:rPr lang="en-US" sz="1400" dirty="0">
                <a:solidFill>
                  <a:schemeClr val="bg1"/>
                </a:solidFill>
              </a:rPr>
              <a:t>These simplifications ensured reliable simulation results while keeping the model efficient and true to real suspension dynamics.</a:t>
            </a:r>
          </a:p>
          <a:p>
            <a:endParaRPr lang="en-US" sz="1400" dirty="0">
              <a:solidFill>
                <a:schemeClr val="bg1"/>
              </a:solidFill>
            </a:endParaRPr>
          </a:p>
        </p:txBody>
      </p:sp>
      <p:pic>
        <p:nvPicPr>
          <p:cNvPr id="13" name="Picture 12">
            <a:extLst>
              <a:ext uri="{FF2B5EF4-FFF2-40B4-BE49-F238E27FC236}">
                <a16:creationId xmlns:a16="http://schemas.microsoft.com/office/drawing/2014/main" id="{3725FA8F-B93E-A895-E3C2-4DA22EC72D0E}"/>
              </a:ext>
            </a:extLst>
          </p:cNvPr>
          <p:cNvPicPr>
            <a:picLocks noChangeAspect="1"/>
          </p:cNvPicPr>
          <p:nvPr/>
        </p:nvPicPr>
        <p:blipFill>
          <a:blip r:embed="rId3"/>
          <a:stretch>
            <a:fillRect/>
          </a:stretch>
        </p:blipFill>
        <p:spPr>
          <a:xfrm>
            <a:off x="5334000" y="1219200"/>
            <a:ext cx="5218628" cy="463945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0444" y="0"/>
            <a:ext cx="2247900" cy="4949825"/>
            <a:chOff x="100444" y="0"/>
            <a:chExt cx="2247900" cy="4949825"/>
          </a:xfrm>
        </p:grpSpPr>
        <p:sp>
          <p:nvSpPr>
            <p:cNvPr id="3" name="object 3"/>
            <p:cNvSpPr/>
            <p:nvPr/>
          </p:nvSpPr>
          <p:spPr>
            <a:xfrm>
              <a:off x="100444" y="0"/>
              <a:ext cx="1983105" cy="4949825"/>
            </a:xfrm>
            <a:custGeom>
              <a:avLst/>
              <a:gdLst/>
              <a:ahLst/>
              <a:cxnLst/>
              <a:rect l="l" t="t" r="r" b="b"/>
              <a:pathLst>
                <a:path w="1983105" h="4949825">
                  <a:moveTo>
                    <a:pt x="1982876" y="0"/>
                  </a:moveTo>
                  <a:lnTo>
                    <a:pt x="0" y="0"/>
                  </a:lnTo>
                  <a:lnTo>
                    <a:pt x="0" y="4949278"/>
                  </a:lnTo>
                  <a:lnTo>
                    <a:pt x="991438" y="4949278"/>
                  </a:lnTo>
                  <a:lnTo>
                    <a:pt x="1982876" y="4949278"/>
                  </a:lnTo>
                  <a:lnTo>
                    <a:pt x="1982876" y="0"/>
                  </a:lnTo>
                  <a:close/>
                </a:path>
              </a:pathLst>
            </a:custGeom>
            <a:solidFill>
              <a:srgbClr val="453E31">
                <a:alpha val="92999"/>
              </a:srgbClr>
            </a:solidFill>
          </p:spPr>
          <p:txBody>
            <a:bodyPr wrap="square" lIns="0" tIns="0" rIns="0" bIns="0" rtlCol="0"/>
            <a:lstStyle/>
            <a:p>
              <a:endParaRPr/>
            </a:p>
          </p:txBody>
        </p:sp>
        <p:sp>
          <p:nvSpPr>
            <p:cNvPr id="4" name="object 4"/>
            <p:cNvSpPr/>
            <p:nvPr/>
          </p:nvSpPr>
          <p:spPr>
            <a:xfrm>
              <a:off x="948601" y="955802"/>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grpSp>
      <p:sp>
        <p:nvSpPr>
          <p:cNvPr id="7" name="object 7"/>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lang="en-US" dirty="0"/>
              <a:t>Fixture Selection</a:t>
            </a:r>
            <a:endParaRPr dirty="0"/>
          </a:p>
        </p:txBody>
      </p:sp>
      <p:sp>
        <p:nvSpPr>
          <p:cNvPr id="12" name="TextBox 11">
            <a:extLst>
              <a:ext uri="{FF2B5EF4-FFF2-40B4-BE49-F238E27FC236}">
                <a16:creationId xmlns:a16="http://schemas.microsoft.com/office/drawing/2014/main" id="{5152D595-2A8F-FF23-F4A5-1CCFB3AA3F5C}"/>
              </a:ext>
            </a:extLst>
          </p:cNvPr>
          <p:cNvSpPr txBox="1"/>
          <p:nvPr/>
        </p:nvSpPr>
        <p:spPr>
          <a:xfrm>
            <a:off x="685800" y="1447800"/>
            <a:ext cx="3505200" cy="5047536"/>
          </a:xfrm>
          <a:prstGeom prst="rect">
            <a:avLst/>
          </a:prstGeom>
          <a:noFill/>
        </p:spPr>
        <p:txBody>
          <a:bodyPr wrap="square" rtlCol="0">
            <a:spAutoFit/>
          </a:bodyPr>
          <a:lstStyle/>
          <a:p>
            <a:pPr>
              <a:buNone/>
            </a:pPr>
            <a:r>
              <a:rPr lang="en-US" sz="1400" b="1" dirty="0">
                <a:solidFill>
                  <a:schemeClr val="bg1"/>
                </a:solidFill>
              </a:rPr>
              <a:t>Simulation Constraints:</a:t>
            </a:r>
          </a:p>
          <a:p>
            <a:pPr>
              <a:buNone/>
            </a:pPr>
            <a:endParaRPr lang="en-US" sz="1400" b="1" dirty="0">
              <a:solidFill>
                <a:schemeClr val="bg1"/>
              </a:solidFill>
            </a:endParaRPr>
          </a:p>
          <a:p>
            <a:pPr>
              <a:buNone/>
            </a:pPr>
            <a:r>
              <a:rPr lang="en-US" sz="1400" b="1" dirty="0">
                <a:solidFill>
                  <a:schemeClr val="bg1"/>
                </a:solidFill>
              </a:rPr>
              <a:t> </a:t>
            </a:r>
            <a:r>
              <a:rPr lang="en-US" sz="1400" b="1" u="sng" dirty="0">
                <a:solidFill>
                  <a:schemeClr val="bg1"/>
                </a:solidFill>
              </a:rPr>
              <a:t>Fixed Hinge </a:t>
            </a:r>
            <a:r>
              <a:rPr lang="en-US" sz="1400" b="1" dirty="0">
                <a:solidFill>
                  <a:schemeClr val="bg1"/>
                </a:solidFill>
              </a:rPr>
              <a:t>on Suspension Pins</a:t>
            </a:r>
            <a:br>
              <a:rPr lang="en-US" sz="1400" dirty="0">
                <a:solidFill>
                  <a:schemeClr val="bg1"/>
                </a:solidFill>
              </a:rPr>
            </a:br>
            <a:r>
              <a:rPr lang="en-US" sz="1400" dirty="0">
                <a:solidFill>
                  <a:schemeClr val="bg1"/>
                </a:solidFill>
              </a:rPr>
              <a:t>In the simulation, </a:t>
            </a:r>
            <a:r>
              <a:rPr lang="en-US" sz="1400" b="1" dirty="0">
                <a:solidFill>
                  <a:schemeClr val="bg1"/>
                </a:solidFill>
              </a:rPr>
              <a:t>fixed hinge fixtures</a:t>
            </a:r>
            <a:r>
              <a:rPr lang="en-US" sz="1400" dirty="0">
                <a:solidFill>
                  <a:schemeClr val="bg1"/>
                </a:solidFill>
              </a:rPr>
              <a:t> were applied to the upper and lower pins to reflect real-world behavior:</a:t>
            </a:r>
          </a:p>
          <a:p>
            <a:pPr>
              <a:buNone/>
            </a:pPr>
            <a:endParaRPr lang="en-US" sz="1400" dirty="0">
              <a:solidFill>
                <a:schemeClr val="bg1"/>
              </a:solidFill>
            </a:endParaRPr>
          </a:p>
          <a:p>
            <a:pPr>
              <a:buFont typeface="Arial" panose="020B0604020202020204" pitchFamily="34" charset="0"/>
              <a:buChar char="•"/>
            </a:pPr>
            <a:r>
              <a:rPr lang="en-US" sz="1400" dirty="0">
                <a:solidFill>
                  <a:schemeClr val="bg1"/>
                </a:solidFill>
              </a:rPr>
              <a:t>These pins are fixed to the chassis and act as </a:t>
            </a:r>
            <a:r>
              <a:rPr lang="en-US" sz="1400" b="1" dirty="0">
                <a:solidFill>
                  <a:schemeClr val="bg1"/>
                </a:solidFill>
              </a:rPr>
              <a:t>pivot points</a:t>
            </a:r>
            <a:r>
              <a:rPr lang="en-US" sz="1400" dirty="0">
                <a:solidFill>
                  <a:schemeClr val="bg1"/>
                </a:solidFill>
              </a:rPr>
              <a:t>, allowing rotation but preventing translation.</a:t>
            </a:r>
          </a:p>
          <a:p>
            <a:pPr>
              <a:buFont typeface="Arial" panose="020B0604020202020204" pitchFamily="34" charset="0"/>
              <a:buChar char="•"/>
            </a:pPr>
            <a:endParaRPr lang="en-US" sz="1400" dirty="0">
              <a:solidFill>
                <a:schemeClr val="bg1"/>
              </a:solidFill>
            </a:endParaRPr>
          </a:p>
          <a:p>
            <a:pPr>
              <a:buFont typeface="Arial" panose="020B0604020202020204" pitchFamily="34" charset="0"/>
              <a:buChar char="•"/>
            </a:pPr>
            <a:r>
              <a:rPr lang="en-US" sz="1400" dirty="0">
                <a:solidFill>
                  <a:schemeClr val="bg1"/>
                </a:solidFill>
              </a:rPr>
              <a:t>Applying a fixed hinge in SolidWorks accurately replicates this, ensuring realistic movement of connected components.</a:t>
            </a:r>
          </a:p>
          <a:p>
            <a:pPr>
              <a:buFont typeface="Arial" panose="020B0604020202020204" pitchFamily="34" charset="0"/>
              <a:buChar char="•"/>
            </a:pPr>
            <a:endParaRPr lang="en-US" sz="1400" dirty="0">
              <a:solidFill>
                <a:schemeClr val="bg1"/>
              </a:solidFill>
            </a:endParaRPr>
          </a:p>
          <a:p>
            <a:r>
              <a:rPr lang="en-US" sz="1400" b="1" dirty="0">
                <a:solidFill>
                  <a:schemeClr val="bg1"/>
                </a:solidFill>
              </a:rPr>
              <a:t>Freedom for Other Parts:</a:t>
            </a:r>
            <a:br>
              <a:rPr lang="en-US" sz="1400" dirty="0">
                <a:solidFill>
                  <a:schemeClr val="bg1"/>
                </a:solidFill>
              </a:rPr>
            </a:br>
            <a:r>
              <a:rPr lang="en-US" sz="1400" dirty="0">
                <a:solidFill>
                  <a:schemeClr val="bg1"/>
                </a:solidFill>
              </a:rPr>
              <a:t>Suspension elements like the </a:t>
            </a:r>
            <a:r>
              <a:rPr lang="en-US" sz="1400" b="1" dirty="0">
                <a:solidFill>
                  <a:schemeClr val="bg1"/>
                </a:solidFill>
              </a:rPr>
              <a:t>wishbones and knuckle</a:t>
            </a:r>
            <a:r>
              <a:rPr lang="en-US" sz="1400" dirty="0">
                <a:solidFill>
                  <a:schemeClr val="bg1"/>
                </a:solidFill>
              </a:rPr>
              <a:t> were left free to move, allowing proper articulation and load distribution during the simulation. This setup ensures accurate dynamic behavior under real driving conditions.</a:t>
            </a:r>
          </a:p>
        </p:txBody>
      </p:sp>
      <p:pic>
        <p:nvPicPr>
          <p:cNvPr id="13" name="Picture 12">
            <a:extLst>
              <a:ext uri="{FF2B5EF4-FFF2-40B4-BE49-F238E27FC236}">
                <a16:creationId xmlns:a16="http://schemas.microsoft.com/office/drawing/2014/main" id="{D7B983E4-E91B-17AC-28E6-FBBADF386086}"/>
              </a:ext>
            </a:extLst>
          </p:cNvPr>
          <p:cNvPicPr>
            <a:picLocks noChangeAspect="1"/>
          </p:cNvPicPr>
          <p:nvPr/>
        </p:nvPicPr>
        <p:blipFill>
          <a:blip r:embed="rId2"/>
          <a:stretch>
            <a:fillRect/>
          </a:stretch>
        </p:blipFill>
        <p:spPr>
          <a:xfrm>
            <a:off x="4762068" y="1371600"/>
            <a:ext cx="6690920" cy="504753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AAB5-34F5-CA81-5282-578685379DA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43822778-95F5-8D36-3DE5-0F02C2DFB3CF}"/>
              </a:ext>
            </a:extLst>
          </p:cNvPr>
          <p:cNvGrpSpPr/>
          <p:nvPr/>
        </p:nvGrpSpPr>
        <p:grpSpPr>
          <a:xfrm>
            <a:off x="100444" y="0"/>
            <a:ext cx="2247900" cy="4949825"/>
            <a:chOff x="100444" y="0"/>
            <a:chExt cx="2247900" cy="4949825"/>
          </a:xfrm>
        </p:grpSpPr>
        <p:sp>
          <p:nvSpPr>
            <p:cNvPr id="3" name="object 3">
              <a:extLst>
                <a:ext uri="{FF2B5EF4-FFF2-40B4-BE49-F238E27FC236}">
                  <a16:creationId xmlns:a16="http://schemas.microsoft.com/office/drawing/2014/main" id="{DD373E9A-F2B4-4FEE-C542-1A48501C1A67}"/>
                </a:ext>
              </a:extLst>
            </p:cNvPr>
            <p:cNvSpPr/>
            <p:nvPr/>
          </p:nvSpPr>
          <p:spPr>
            <a:xfrm>
              <a:off x="100444" y="0"/>
              <a:ext cx="1983105" cy="4949825"/>
            </a:xfrm>
            <a:custGeom>
              <a:avLst/>
              <a:gdLst/>
              <a:ahLst/>
              <a:cxnLst/>
              <a:rect l="l" t="t" r="r" b="b"/>
              <a:pathLst>
                <a:path w="1983105" h="4949825">
                  <a:moveTo>
                    <a:pt x="1982876" y="0"/>
                  </a:moveTo>
                  <a:lnTo>
                    <a:pt x="0" y="0"/>
                  </a:lnTo>
                  <a:lnTo>
                    <a:pt x="0" y="4949278"/>
                  </a:lnTo>
                  <a:lnTo>
                    <a:pt x="991438" y="4949278"/>
                  </a:lnTo>
                  <a:lnTo>
                    <a:pt x="1982876" y="4949278"/>
                  </a:lnTo>
                  <a:lnTo>
                    <a:pt x="1982876" y="0"/>
                  </a:lnTo>
                  <a:close/>
                </a:path>
              </a:pathLst>
            </a:custGeom>
            <a:solidFill>
              <a:srgbClr val="453E31">
                <a:alpha val="92999"/>
              </a:srgbClr>
            </a:solidFill>
          </p:spPr>
          <p:txBody>
            <a:bodyPr wrap="square" lIns="0" tIns="0" rIns="0" bIns="0" rtlCol="0"/>
            <a:lstStyle/>
            <a:p>
              <a:endParaRPr/>
            </a:p>
          </p:txBody>
        </p:sp>
        <p:sp>
          <p:nvSpPr>
            <p:cNvPr id="4" name="object 4">
              <a:extLst>
                <a:ext uri="{FF2B5EF4-FFF2-40B4-BE49-F238E27FC236}">
                  <a16:creationId xmlns:a16="http://schemas.microsoft.com/office/drawing/2014/main" id="{7CFD955A-4A82-A64B-730A-EACF6CCC4554}"/>
                </a:ext>
              </a:extLst>
            </p:cNvPr>
            <p:cNvSpPr/>
            <p:nvPr/>
          </p:nvSpPr>
          <p:spPr>
            <a:xfrm>
              <a:off x="948601" y="955802"/>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grpSp>
      <p:sp>
        <p:nvSpPr>
          <p:cNvPr id="7" name="object 7">
            <a:extLst>
              <a:ext uri="{FF2B5EF4-FFF2-40B4-BE49-F238E27FC236}">
                <a16:creationId xmlns:a16="http://schemas.microsoft.com/office/drawing/2014/main" id="{E7363CCF-A5CD-C5AC-B307-AAEECC4B2A62}"/>
              </a:ext>
            </a:extLst>
          </p:cNvPr>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lang="en-US" dirty="0"/>
              <a:t>External Loads</a:t>
            </a:r>
            <a:endParaRPr dirty="0"/>
          </a:p>
        </p:txBody>
      </p:sp>
      <p:sp>
        <p:nvSpPr>
          <p:cNvPr id="12" name="TextBox 11">
            <a:extLst>
              <a:ext uri="{FF2B5EF4-FFF2-40B4-BE49-F238E27FC236}">
                <a16:creationId xmlns:a16="http://schemas.microsoft.com/office/drawing/2014/main" id="{85D5E63C-FBD9-D548-CF3C-7D60AAFFE361}"/>
              </a:ext>
            </a:extLst>
          </p:cNvPr>
          <p:cNvSpPr txBox="1"/>
          <p:nvPr/>
        </p:nvSpPr>
        <p:spPr>
          <a:xfrm>
            <a:off x="533400" y="1109679"/>
            <a:ext cx="3505200" cy="4993675"/>
          </a:xfrm>
          <a:prstGeom prst="rect">
            <a:avLst/>
          </a:prstGeom>
          <a:noFill/>
        </p:spPr>
        <p:txBody>
          <a:bodyPr wrap="square" rtlCol="0">
            <a:spAutoFit/>
          </a:bodyPr>
          <a:lstStyle/>
          <a:p>
            <a:pPr>
              <a:buNone/>
            </a:pPr>
            <a:r>
              <a:rPr lang="en-US" sz="1400" dirty="0">
                <a:solidFill>
                  <a:schemeClr val="bg1"/>
                </a:solidFill>
              </a:rPr>
              <a:t>Two main forces were applied in the simulation to represent real-world driving conditions:</a:t>
            </a:r>
          </a:p>
          <a:p>
            <a:pPr>
              <a:buNone/>
            </a:pPr>
            <a:endParaRPr lang="en-US" sz="1400" dirty="0">
              <a:solidFill>
                <a:schemeClr val="bg1"/>
              </a:solidFill>
            </a:endParaRPr>
          </a:p>
          <a:p>
            <a:pPr>
              <a:buFont typeface="Arial" panose="020B0604020202020204" pitchFamily="34" charset="0"/>
              <a:buChar char="•"/>
            </a:pPr>
            <a:r>
              <a:rPr lang="en-US" sz="1400" b="1" dirty="0">
                <a:solidFill>
                  <a:schemeClr val="bg1"/>
                </a:solidFill>
              </a:rPr>
              <a:t>Vertical Force: 3,675 N per wheel</a:t>
            </a:r>
            <a:br>
              <a:rPr lang="en-US" sz="1400" dirty="0">
                <a:solidFill>
                  <a:schemeClr val="bg1"/>
                </a:solidFill>
              </a:rPr>
            </a:br>
            <a:r>
              <a:rPr lang="en-US" sz="1400" dirty="0">
                <a:solidFill>
                  <a:schemeClr val="bg1"/>
                </a:solidFill>
              </a:rPr>
              <a:t>Represents the vehicle’s weight acting on each wheel.</a:t>
            </a:r>
          </a:p>
          <a:p>
            <a:pPr marL="742950" lvl="1" indent="-285750">
              <a:buFont typeface="Arial" panose="020B0604020202020204" pitchFamily="34" charset="0"/>
              <a:buChar char="•"/>
            </a:pPr>
            <a:r>
              <a:rPr lang="en-US" sz="1400" dirty="0">
                <a:solidFill>
                  <a:schemeClr val="bg1"/>
                </a:solidFill>
              </a:rPr>
              <a:t>Based on a total vehicle mass of 1,500 kg</a:t>
            </a:r>
          </a:p>
          <a:p>
            <a:pPr marL="742950" lvl="1" indent="-285750">
              <a:buFont typeface="Arial" panose="020B0604020202020204" pitchFamily="34" charset="0"/>
              <a:buChar char="•"/>
            </a:pPr>
            <a:r>
              <a:rPr lang="en-US" sz="1400" dirty="0">
                <a:solidFill>
                  <a:schemeClr val="bg1"/>
                </a:solidFill>
              </a:rPr>
              <a:t>Evenly distributed: 14,700 N ÷ 4 = </a:t>
            </a:r>
            <a:r>
              <a:rPr lang="en-US" sz="1400" b="1" dirty="0">
                <a:solidFill>
                  <a:schemeClr val="bg1"/>
                </a:solidFill>
              </a:rPr>
              <a:t>3,675 N</a:t>
            </a: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Reflects typical load on a passenger or light sports car</a:t>
            </a:r>
          </a:p>
          <a:p>
            <a:pPr marL="742950" lvl="1" indent="-285750">
              <a:buFont typeface="Arial" panose="020B0604020202020204" pitchFamily="34" charset="0"/>
              <a:buChar char="•"/>
            </a:pPr>
            <a:endParaRPr lang="en-US" sz="1400" dirty="0">
              <a:solidFill>
                <a:schemeClr val="bg1"/>
              </a:solidFill>
            </a:endParaRPr>
          </a:p>
          <a:p>
            <a:pPr>
              <a:buFont typeface="Arial" panose="020B0604020202020204" pitchFamily="34" charset="0"/>
              <a:buChar char="•"/>
            </a:pPr>
            <a:r>
              <a:rPr lang="en-US" sz="1400" b="1" dirty="0">
                <a:solidFill>
                  <a:schemeClr val="bg1"/>
                </a:solidFill>
              </a:rPr>
              <a:t>Longitudinal Force: 375 N per wheel</a:t>
            </a:r>
            <a:br>
              <a:rPr lang="en-US" sz="1400" dirty="0">
                <a:solidFill>
                  <a:schemeClr val="bg1"/>
                </a:solidFill>
              </a:rPr>
            </a:br>
            <a:r>
              <a:rPr lang="en-US" sz="1400" dirty="0">
                <a:solidFill>
                  <a:schemeClr val="bg1"/>
                </a:solidFill>
              </a:rPr>
              <a:t>Simulates moderate acceleration or braking forces.</a:t>
            </a:r>
          </a:p>
          <a:p>
            <a:pPr marL="742950" lvl="1" indent="-285750">
              <a:buFont typeface="Arial" panose="020B0604020202020204" pitchFamily="34" charset="0"/>
              <a:buChar char="•"/>
            </a:pPr>
            <a:r>
              <a:rPr lang="en-US" sz="1400" dirty="0">
                <a:solidFill>
                  <a:schemeClr val="bg1"/>
                </a:solidFill>
              </a:rPr>
              <a:t>Calculated using a 1 m/s² acceleration or deceleration</a:t>
            </a:r>
          </a:p>
          <a:p>
            <a:pPr marL="742950" lvl="1" indent="-285750">
              <a:buFont typeface="Arial" panose="020B0604020202020204" pitchFamily="34" charset="0"/>
              <a:buChar char="•"/>
            </a:pPr>
            <a:r>
              <a:rPr lang="en-US" sz="1400" dirty="0">
                <a:solidFill>
                  <a:schemeClr val="bg1"/>
                </a:solidFill>
              </a:rPr>
              <a:t>Total force: 1,500 N ÷ 4 = </a:t>
            </a:r>
            <a:r>
              <a:rPr lang="en-US" sz="1400" b="1" dirty="0">
                <a:solidFill>
                  <a:schemeClr val="bg1"/>
                </a:solidFill>
              </a:rPr>
              <a:t>375 N</a:t>
            </a: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Represents realistic driving dynamics</a:t>
            </a:r>
          </a:p>
          <a:p>
            <a:endParaRPr lang="en-US" sz="1050" dirty="0">
              <a:solidFill>
                <a:schemeClr val="bg1"/>
              </a:solidFill>
            </a:endParaRPr>
          </a:p>
        </p:txBody>
      </p:sp>
      <p:pic>
        <p:nvPicPr>
          <p:cNvPr id="5" name="Picture 4">
            <a:extLst>
              <a:ext uri="{FF2B5EF4-FFF2-40B4-BE49-F238E27FC236}">
                <a16:creationId xmlns:a16="http://schemas.microsoft.com/office/drawing/2014/main" id="{4319B330-F32E-4F76-7022-EBB24999FB90}"/>
              </a:ext>
            </a:extLst>
          </p:cNvPr>
          <p:cNvPicPr>
            <a:picLocks noChangeAspect="1"/>
          </p:cNvPicPr>
          <p:nvPr/>
        </p:nvPicPr>
        <p:blipFill>
          <a:blip r:embed="rId3"/>
          <a:stretch>
            <a:fillRect/>
          </a:stretch>
        </p:blipFill>
        <p:spPr>
          <a:xfrm>
            <a:off x="5029200" y="1905000"/>
            <a:ext cx="6385949" cy="3276600"/>
          </a:xfrm>
          <a:prstGeom prst="rect">
            <a:avLst/>
          </a:prstGeom>
        </p:spPr>
      </p:pic>
    </p:spTree>
    <p:extLst>
      <p:ext uri="{BB962C8B-B14F-4D97-AF65-F5344CB8AC3E}">
        <p14:creationId xmlns:p14="http://schemas.microsoft.com/office/powerpoint/2010/main" val="1793654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55"/>
            <a:ext cx="12193270" cy="6858000"/>
          </a:xfrm>
          <a:custGeom>
            <a:avLst/>
            <a:gdLst/>
            <a:ahLst/>
            <a:cxnLst/>
            <a:rect l="l" t="t" r="r" b="b"/>
            <a:pathLst>
              <a:path w="12193270" h="6858000">
                <a:moveTo>
                  <a:pt x="12193193" y="0"/>
                </a:moveTo>
                <a:lnTo>
                  <a:pt x="0" y="0"/>
                </a:lnTo>
                <a:lnTo>
                  <a:pt x="0" y="6857631"/>
                </a:lnTo>
                <a:lnTo>
                  <a:pt x="6096596" y="6857631"/>
                </a:lnTo>
                <a:lnTo>
                  <a:pt x="12193193" y="6857631"/>
                </a:lnTo>
                <a:lnTo>
                  <a:pt x="12193193" y="0"/>
                </a:lnTo>
                <a:close/>
              </a:path>
            </a:pathLst>
          </a:custGeom>
          <a:solidFill>
            <a:srgbClr val="222021"/>
          </a:solidFill>
        </p:spPr>
        <p:txBody>
          <a:bodyPr wrap="square" lIns="0" tIns="0" rIns="0" bIns="0" rtlCol="0"/>
          <a:lstStyle/>
          <a:p>
            <a:endParaRPr/>
          </a:p>
        </p:txBody>
      </p:sp>
      <p:sp>
        <p:nvSpPr>
          <p:cNvPr id="3" name="object 3"/>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FEA Meshing Procedure and Refinement</a:t>
            </a:r>
          </a:p>
        </p:txBody>
      </p:sp>
      <p:grpSp>
        <p:nvGrpSpPr>
          <p:cNvPr id="4" name="object 4"/>
          <p:cNvGrpSpPr/>
          <p:nvPr/>
        </p:nvGrpSpPr>
        <p:grpSpPr>
          <a:xfrm>
            <a:off x="760806" y="1257249"/>
            <a:ext cx="10672445" cy="5008880"/>
            <a:chOff x="760806" y="1257249"/>
            <a:chExt cx="10672445" cy="5008880"/>
          </a:xfrm>
        </p:grpSpPr>
        <p:sp>
          <p:nvSpPr>
            <p:cNvPr id="5" name="object 5"/>
            <p:cNvSpPr/>
            <p:nvPr/>
          </p:nvSpPr>
          <p:spPr>
            <a:xfrm>
              <a:off x="1310398" y="1263599"/>
              <a:ext cx="9573260" cy="439420"/>
            </a:xfrm>
            <a:custGeom>
              <a:avLst/>
              <a:gdLst/>
              <a:ahLst/>
              <a:cxnLst/>
              <a:rect l="l" t="t" r="r" b="b"/>
              <a:pathLst>
                <a:path w="9573260" h="439419">
                  <a:moveTo>
                    <a:pt x="9503283" y="0"/>
                  </a:moveTo>
                  <a:lnTo>
                    <a:pt x="73075" y="0"/>
                  </a:lnTo>
                  <a:lnTo>
                    <a:pt x="69126" y="0"/>
                  </a:lnTo>
                  <a:lnTo>
                    <a:pt x="61556" y="723"/>
                  </a:lnTo>
                  <a:lnTo>
                    <a:pt x="21247" y="21247"/>
                  </a:lnTo>
                  <a:lnTo>
                    <a:pt x="1435" y="57962"/>
                  </a:lnTo>
                  <a:lnTo>
                    <a:pt x="0" y="69126"/>
                  </a:lnTo>
                  <a:lnTo>
                    <a:pt x="0" y="438835"/>
                  </a:lnTo>
                  <a:lnTo>
                    <a:pt x="9572764" y="438835"/>
                  </a:lnTo>
                  <a:lnTo>
                    <a:pt x="9572396" y="69126"/>
                  </a:lnTo>
                  <a:lnTo>
                    <a:pt x="9556203" y="27000"/>
                  </a:lnTo>
                  <a:lnTo>
                    <a:pt x="9514446" y="1435"/>
                  </a:lnTo>
                  <a:lnTo>
                    <a:pt x="9510839" y="723"/>
                  </a:lnTo>
                  <a:lnTo>
                    <a:pt x="9503283" y="0"/>
                  </a:lnTo>
                  <a:close/>
                </a:path>
              </a:pathLst>
            </a:custGeom>
            <a:solidFill>
              <a:srgbClr val="453E31"/>
            </a:solidFill>
          </p:spPr>
          <p:txBody>
            <a:bodyPr wrap="square" lIns="0" tIns="0" rIns="0" bIns="0" rtlCol="0"/>
            <a:lstStyle/>
            <a:p>
              <a:endParaRPr sz="1200"/>
            </a:p>
          </p:txBody>
        </p:sp>
        <p:sp>
          <p:nvSpPr>
            <p:cNvPr id="6" name="object 6"/>
            <p:cNvSpPr/>
            <p:nvPr/>
          </p:nvSpPr>
          <p:spPr>
            <a:xfrm>
              <a:off x="1310398" y="1263599"/>
              <a:ext cx="9573260" cy="439420"/>
            </a:xfrm>
            <a:custGeom>
              <a:avLst/>
              <a:gdLst/>
              <a:ahLst/>
              <a:cxnLst/>
              <a:rect l="l" t="t" r="r" b="b"/>
              <a:pathLst>
                <a:path w="9573260" h="439419">
                  <a:moveTo>
                    <a:pt x="73075" y="0"/>
                  </a:moveTo>
                  <a:lnTo>
                    <a:pt x="9499320" y="0"/>
                  </a:lnTo>
                  <a:lnTo>
                    <a:pt x="9503283" y="0"/>
                  </a:lnTo>
                  <a:lnTo>
                    <a:pt x="9506877" y="355"/>
                  </a:lnTo>
                  <a:lnTo>
                    <a:pt x="9510839" y="723"/>
                  </a:lnTo>
                  <a:lnTo>
                    <a:pt x="9514446" y="1435"/>
                  </a:lnTo>
                  <a:lnTo>
                    <a:pt x="9518395" y="2514"/>
                  </a:lnTo>
                  <a:lnTo>
                    <a:pt x="9522002" y="3606"/>
                  </a:lnTo>
                  <a:lnTo>
                    <a:pt x="9525596" y="4686"/>
                  </a:lnTo>
                  <a:lnTo>
                    <a:pt x="9529203" y="6476"/>
                  </a:lnTo>
                  <a:lnTo>
                    <a:pt x="9532442" y="7924"/>
                  </a:lnTo>
                  <a:lnTo>
                    <a:pt x="9536036" y="9715"/>
                  </a:lnTo>
                  <a:lnTo>
                    <a:pt x="9539287" y="11874"/>
                  </a:lnTo>
                  <a:lnTo>
                    <a:pt x="9542157" y="14046"/>
                  </a:lnTo>
                  <a:lnTo>
                    <a:pt x="9545396" y="16205"/>
                  </a:lnTo>
                  <a:lnTo>
                    <a:pt x="9548279" y="18719"/>
                  </a:lnTo>
                  <a:lnTo>
                    <a:pt x="9551162" y="21247"/>
                  </a:lnTo>
                  <a:lnTo>
                    <a:pt x="9553676" y="24117"/>
                  </a:lnTo>
                  <a:lnTo>
                    <a:pt x="9556203" y="27000"/>
                  </a:lnTo>
                  <a:lnTo>
                    <a:pt x="9558362" y="30238"/>
                  </a:lnTo>
                  <a:lnTo>
                    <a:pt x="9560521" y="33121"/>
                  </a:lnTo>
                  <a:lnTo>
                    <a:pt x="9562680" y="36715"/>
                  </a:lnTo>
                  <a:lnTo>
                    <a:pt x="9564484" y="39966"/>
                  </a:lnTo>
                  <a:lnTo>
                    <a:pt x="9565919" y="43205"/>
                  </a:lnTo>
                  <a:lnTo>
                    <a:pt x="9567722" y="46799"/>
                  </a:lnTo>
                  <a:lnTo>
                    <a:pt x="9568802" y="50406"/>
                  </a:lnTo>
                  <a:lnTo>
                    <a:pt x="9569881" y="54000"/>
                  </a:lnTo>
                  <a:lnTo>
                    <a:pt x="9570961" y="57962"/>
                  </a:lnTo>
                  <a:lnTo>
                    <a:pt x="9571685" y="61556"/>
                  </a:lnTo>
                  <a:lnTo>
                    <a:pt x="9572040" y="65519"/>
                  </a:lnTo>
                  <a:lnTo>
                    <a:pt x="9572396" y="69126"/>
                  </a:lnTo>
                  <a:lnTo>
                    <a:pt x="9572396" y="73075"/>
                  </a:lnTo>
                  <a:lnTo>
                    <a:pt x="9572764" y="438835"/>
                  </a:lnTo>
                  <a:lnTo>
                    <a:pt x="0" y="438835"/>
                  </a:lnTo>
                  <a:lnTo>
                    <a:pt x="0" y="73075"/>
                  </a:lnTo>
                  <a:lnTo>
                    <a:pt x="0" y="69126"/>
                  </a:lnTo>
                  <a:lnTo>
                    <a:pt x="355" y="65519"/>
                  </a:lnTo>
                  <a:lnTo>
                    <a:pt x="723" y="61556"/>
                  </a:lnTo>
                  <a:lnTo>
                    <a:pt x="1435" y="57962"/>
                  </a:lnTo>
                  <a:lnTo>
                    <a:pt x="2527" y="54000"/>
                  </a:lnTo>
                  <a:lnTo>
                    <a:pt x="3606" y="50406"/>
                  </a:lnTo>
                  <a:lnTo>
                    <a:pt x="4686" y="46799"/>
                  </a:lnTo>
                  <a:lnTo>
                    <a:pt x="6477" y="43205"/>
                  </a:lnTo>
                  <a:lnTo>
                    <a:pt x="7924" y="39966"/>
                  </a:lnTo>
                  <a:lnTo>
                    <a:pt x="9715" y="36360"/>
                  </a:lnTo>
                  <a:lnTo>
                    <a:pt x="11887" y="33121"/>
                  </a:lnTo>
                  <a:lnTo>
                    <a:pt x="14046" y="30238"/>
                  </a:lnTo>
                  <a:lnTo>
                    <a:pt x="16205" y="27000"/>
                  </a:lnTo>
                  <a:lnTo>
                    <a:pt x="30238" y="14046"/>
                  </a:lnTo>
                  <a:lnTo>
                    <a:pt x="33121" y="11874"/>
                  </a:lnTo>
                  <a:lnTo>
                    <a:pt x="36715" y="9715"/>
                  </a:lnTo>
                  <a:lnTo>
                    <a:pt x="39966" y="7924"/>
                  </a:lnTo>
                  <a:lnTo>
                    <a:pt x="43205" y="6476"/>
                  </a:lnTo>
                  <a:lnTo>
                    <a:pt x="46799" y="4686"/>
                  </a:lnTo>
                  <a:lnTo>
                    <a:pt x="50406" y="3606"/>
                  </a:lnTo>
                  <a:lnTo>
                    <a:pt x="54000" y="2514"/>
                  </a:lnTo>
                  <a:lnTo>
                    <a:pt x="57962" y="1435"/>
                  </a:lnTo>
                  <a:lnTo>
                    <a:pt x="61556" y="723"/>
                  </a:lnTo>
                  <a:lnTo>
                    <a:pt x="65519" y="355"/>
                  </a:lnTo>
                  <a:lnTo>
                    <a:pt x="69126" y="0"/>
                  </a:lnTo>
                  <a:lnTo>
                    <a:pt x="73075" y="0"/>
                  </a:lnTo>
                  <a:close/>
                </a:path>
              </a:pathLst>
            </a:custGeom>
            <a:ln w="12599">
              <a:solidFill>
                <a:srgbClr val="FFFFFF"/>
              </a:solidFill>
            </a:ln>
          </p:spPr>
          <p:txBody>
            <a:bodyPr wrap="square" lIns="0" tIns="0" rIns="0" bIns="0" rtlCol="0"/>
            <a:lstStyle/>
            <a:p>
              <a:endParaRPr sz="1200"/>
            </a:p>
          </p:txBody>
        </p:sp>
        <p:sp>
          <p:nvSpPr>
            <p:cNvPr id="7" name="object 7"/>
            <p:cNvSpPr/>
            <p:nvPr/>
          </p:nvSpPr>
          <p:spPr>
            <a:xfrm>
              <a:off x="767156" y="1694878"/>
              <a:ext cx="10659745" cy="4565015"/>
            </a:xfrm>
            <a:custGeom>
              <a:avLst/>
              <a:gdLst/>
              <a:ahLst/>
              <a:cxnLst/>
              <a:rect l="l" t="t" r="r" b="b"/>
              <a:pathLst>
                <a:path w="10659745" h="4565015">
                  <a:moveTo>
                    <a:pt x="10572483" y="0"/>
                  </a:moveTo>
                  <a:lnTo>
                    <a:pt x="86398" y="0"/>
                  </a:lnTo>
                  <a:lnTo>
                    <a:pt x="81724" y="355"/>
                  </a:lnTo>
                  <a:lnTo>
                    <a:pt x="37439" y="17284"/>
                  </a:lnTo>
                  <a:lnTo>
                    <a:pt x="7924" y="54000"/>
                  </a:lnTo>
                  <a:lnTo>
                    <a:pt x="0" y="86398"/>
                  </a:lnTo>
                  <a:lnTo>
                    <a:pt x="0" y="91084"/>
                  </a:lnTo>
                  <a:lnTo>
                    <a:pt x="0" y="4478401"/>
                  </a:lnTo>
                  <a:lnTo>
                    <a:pt x="12242" y="4519079"/>
                  </a:lnTo>
                  <a:lnTo>
                    <a:pt x="49682" y="4554715"/>
                  </a:lnTo>
                  <a:lnTo>
                    <a:pt x="86398" y="4564443"/>
                  </a:lnTo>
                  <a:lnTo>
                    <a:pt x="91084" y="4564443"/>
                  </a:lnTo>
                  <a:lnTo>
                    <a:pt x="91084" y="4564799"/>
                  </a:lnTo>
                  <a:lnTo>
                    <a:pt x="10572838" y="4564443"/>
                  </a:lnTo>
                  <a:lnTo>
                    <a:pt x="10613529" y="4552200"/>
                  </a:lnTo>
                  <a:lnTo>
                    <a:pt x="10649165" y="4514761"/>
                  </a:lnTo>
                  <a:lnTo>
                    <a:pt x="10658881" y="4478045"/>
                  </a:lnTo>
                  <a:lnTo>
                    <a:pt x="10658881" y="4473359"/>
                  </a:lnTo>
                  <a:lnTo>
                    <a:pt x="10659249" y="4473359"/>
                  </a:lnTo>
                  <a:lnTo>
                    <a:pt x="10658881" y="86398"/>
                  </a:lnTo>
                  <a:lnTo>
                    <a:pt x="10646638" y="45720"/>
                  </a:lnTo>
                  <a:lnTo>
                    <a:pt x="10613529" y="12242"/>
                  </a:lnTo>
                  <a:lnTo>
                    <a:pt x="10577169" y="355"/>
                  </a:lnTo>
                  <a:lnTo>
                    <a:pt x="10572483" y="0"/>
                  </a:lnTo>
                  <a:close/>
                </a:path>
              </a:pathLst>
            </a:custGeom>
            <a:solidFill>
              <a:srgbClr val="222021"/>
            </a:solidFill>
          </p:spPr>
          <p:txBody>
            <a:bodyPr wrap="square" lIns="0" tIns="0" rIns="0" bIns="0" rtlCol="0"/>
            <a:lstStyle/>
            <a:p>
              <a:endParaRPr sz="1200"/>
            </a:p>
          </p:txBody>
        </p:sp>
        <p:sp>
          <p:nvSpPr>
            <p:cNvPr id="8" name="object 8"/>
            <p:cNvSpPr/>
            <p:nvPr/>
          </p:nvSpPr>
          <p:spPr>
            <a:xfrm>
              <a:off x="767156" y="1694878"/>
              <a:ext cx="10659745" cy="4565015"/>
            </a:xfrm>
            <a:custGeom>
              <a:avLst/>
              <a:gdLst/>
              <a:ahLst/>
              <a:cxnLst/>
              <a:rect l="l" t="t" r="r" b="b"/>
              <a:pathLst>
                <a:path w="10659745" h="4565015">
                  <a:moveTo>
                    <a:pt x="0" y="91084"/>
                  </a:moveTo>
                  <a:lnTo>
                    <a:pt x="0" y="86398"/>
                  </a:lnTo>
                  <a:lnTo>
                    <a:pt x="368" y="81724"/>
                  </a:lnTo>
                  <a:lnTo>
                    <a:pt x="1079" y="76682"/>
                  </a:lnTo>
                  <a:lnTo>
                    <a:pt x="2159" y="71996"/>
                  </a:lnTo>
                  <a:lnTo>
                    <a:pt x="3238" y="67678"/>
                  </a:lnTo>
                  <a:lnTo>
                    <a:pt x="4318" y="63004"/>
                  </a:lnTo>
                  <a:lnTo>
                    <a:pt x="6121" y="58318"/>
                  </a:lnTo>
                  <a:lnTo>
                    <a:pt x="7924" y="54000"/>
                  </a:lnTo>
                  <a:lnTo>
                    <a:pt x="10083" y="49682"/>
                  </a:lnTo>
                  <a:lnTo>
                    <a:pt x="12242" y="45364"/>
                  </a:lnTo>
                  <a:lnTo>
                    <a:pt x="14770" y="41401"/>
                  </a:lnTo>
                  <a:lnTo>
                    <a:pt x="17284" y="37439"/>
                  </a:lnTo>
                  <a:lnTo>
                    <a:pt x="20167" y="33845"/>
                  </a:lnTo>
                  <a:lnTo>
                    <a:pt x="54000" y="7924"/>
                  </a:lnTo>
                  <a:lnTo>
                    <a:pt x="67678" y="3238"/>
                  </a:lnTo>
                  <a:lnTo>
                    <a:pt x="72008" y="2159"/>
                  </a:lnTo>
                  <a:lnTo>
                    <a:pt x="76682" y="1079"/>
                  </a:lnTo>
                  <a:lnTo>
                    <a:pt x="81724" y="355"/>
                  </a:lnTo>
                  <a:lnTo>
                    <a:pt x="86398" y="0"/>
                  </a:lnTo>
                  <a:lnTo>
                    <a:pt x="91084" y="0"/>
                  </a:lnTo>
                  <a:lnTo>
                    <a:pt x="10567809" y="0"/>
                  </a:lnTo>
                  <a:lnTo>
                    <a:pt x="10572483" y="0"/>
                  </a:lnTo>
                  <a:lnTo>
                    <a:pt x="10577169" y="355"/>
                  </a:lnTo>
                  <a:lnTo>
                    <a:pt x="10582198" y="1079"/>
                  </a:lnTo>
                  <a:lnTo>
                    <a:pt x="10586885" y="2159"/>
                  </a:lnTo>
                  <a:lnTo>
                    <a:pt x="10591203" y="3238"/>
                  </a:lnTo>
                  <a:lnTo>
                    <a:pt x="10595889" y="4318"/>
                  </a:lnTo>
                  <a:lnTo>
                    <a:pt x="10600563" y="6121"/>
                  </a:lnTo>
                  <a:lnTo>
                    <a:pt x="10604881" y="7924"/>
                  </a:lnTo>
                  <a:lnTo>
                    <a:pt x="10609199" y="10083"/>
                  </a:lnTo>
                  <a:lnTo>
                    <a:pt x="10613529" y="12242"/>
                  </a:lnTo>
                  <a:lnTo>
                    <a:pt x="10617479" y="14757"/>
                  </a:lnTo>
                  <a:lnTo>
                    <a:pt x="10621441" y="17284"/>
                  </a:lnTo>
                  <a:lnTo>
                    <a:pt x="10625048" y="20167"/>
                  </a:lnTo>
                  <a:lnTo>
                    <a:pt x="10628642" y="23406"/>
                  </a:lnTo>
                  <a:lnTo>
                    <a:pt x="10632249" y="26644"/>
                  </a:lnTo>
                  <a:lnTo>
                    <a:pt x="10654563" y="63004"/>
                  </a:lnTo>
                  <a:lnTo>
                    <a:pt x="10655642" y="67678"/>
                  </a:lnTo>
                  <a:lnTo>
                    <a:pt x="10656722" y="71996"/>
                  </a:lnTo>
                  <a:lnTo>
                    <a:pt x="10657801" y="76682"/>
                  </a:lnTo>
                  <a:lnTo>
                    <a:pt x="10658525" y="81724"/>
                  </a:lnTo>
                  <a:lnTo>
                    <a:pt x="10658881" y="86398"/>
                  </a:lnTo>
                  <a:lnTo>
                    <a:pt x="10658881" y="91084"/>
                  </a:lnTo>
                  <a:lnTo>
                    <a:pt x="10659249" y="4473359"/>
                  </a:lnTo>
                  <a:lnTo>
                    <a:pt x="10658881" y="4473359"/>
                  </a:lnTo>
                  <a:lnTo>
                    <a:pt x="10658881" y="4478045"/>
                  </a:lnTo>
                  <a:lnTo>
                    <a:pt x="10658525" y="4482719"/>
                  </a:lnTo>
                  <a:lnTo>
                    <a:pt x="10657801" y="4487405"/>
                  </a:lnTo>
                  <a:lnTo>
                    <a:pt x="10656722" y="4492078"/>
                  </a:lnTo>
                  <a:lnTo>
                    <a:pt x="10655642" y="4496765"/>
                  </a:lnTo>
                  <a:lnTo>
                    <a:pt x="10654563" y="4501438"/>
                  </a:lnTo>
                  <a:lnTo>
                    <a:pt x="10652760" y="4505756"/>
                  </a:lnTo>
                  <a:lnTo>
                    <a:pt x="10650969" y="4510443"/>
                  </a:lnTo>
                  <a:lnTo>
                    <a:pt x="10649165" y="4514761"/>
                  </a:lnTo>
                  <a:lnTo>
                    <a:pt x="10646638" y="4518723"/>
                  </a:lnTo>
                  <a:lnTo>
                    <a:pt x="10644124" y="4522685"/>
                  </a:lnTo>
                  <a:lnTo>
                    <a:pt x="10613529" y="4552200"/>
                  </a:lnTo>
                  <a:lnTo>
                    <a:pt x="10609199" y="4554359"/>
                  </a:lnTo>
                  <a:lnTo>
                    <a:pt x="10605249" y="4556518"/>
                  </a:lnTo>
                  <a:lnTo>
                    <a:pt x="10572838" y="4564443"/>
                  </a:lnTo>
                  <a:lnTo>
                    <a:pt x="10568165" y="4564443"/>
                  </a:lnTo>
                  <a:lnTo>
                    <a:pt x="91084" y="4564799"/>
                  </a:lnTo>
                  <a:lnTo>
                    <a:pt x="91084" y="4564443"/>
                  </a:lnTo>
                  <a:lnTo>
                    <a:pt x="86398" y="4564443"/>
                  </a:lnTo>
                  <a:lnTo>
                    <a:pt x="81724" y="4564075"/>
                  </a:lnTo>
                  <a:lnTo>
                    <a:pt x="77038" y="4563364"/>
                  </a:lnTo>
                  <a:lnTo>
                    <a:pt x="72364" y="4562284"/>
                  </a:lnTo>
                  <a:lnTo>
                    <a:pt x="67678" y="4561205"/>
                  </a:lnTo>
                  <a:lnTo>
                    <a:pt x="63004" y="4560125"/>
                  </a:lnTo>
                  <a:lnTo>
                    <a:pt x="58686" y="4558322"/>
                  </a:lnTo>
                  <a:lnTo>
                    <a:pt x="54000" y="4556518"/>
                  </a:lnTo>
                  <a:lnTo>
                    <a:pt x="20523" y="4530966"/>
                  </a:lnTo>
                  <a:lnTo>
                    <a:pt x="10083" y="4514761"/>
                  </a:lnTo>
                  <a:lnTo>
                    <a:pt x="7924" y="4510798"/>
                  </a:lnTo>
                  <a:lnTo>
                    <a:pt x="0" y="4478401"/>
                  </a:lnTo>
                  <a:lnTo>
                    <a:pt x="0" y="4473727"/>
                  </a:lnTo>
                  <a:lnTo>
                    <a:pt x="0" y="91084"/>
                  </a:lnTo>
                  <a:close/>
                </a:path>
                <a:path w="10659745" h="4565015">
                  <a:moveTo>
                    <a:pt x="5323319" y="579958"/>
                  </a:moveTo>
                  <a:lnTo>
                    <a:pt x="5323319" y="869759"/>
                  </a:lnTo>
                </a:path>
              </a:pathLst>
            </a:custGeom>
            <a:ln w="12599">
              <a:solidFill>
                <a:srgbClr val="FFFFFF"/>
              </a:solidFill>
            </a:ln>
          </p:spPr>
          <p:txBody>
            <a:bodyPr wrap="square" lIns="0" tIns="0" rIns="0" bIns="0" rtlCol="0"/>
            <a:lstStyle/>
            <a:p>
              <a:endParaRPr sz="1200"/>
            </a:p>
          </p:txBody>
        </p:sp>
        <p:sp>
          <p:nvSpPr>
            <p:cNvPr id="9" name="object 9"/>
            <p:cNvSpPr/>
            <p:nvPr/>
          </p:nvSpPr>
          <p:spPr>
            <a:xfrm>
              <a:off x="6052680" y="2559596"/>
              <a:ext cx="76200" cy="76200"/>
            </a:xfrm>
            <a:custGeom>
              <a:avLst/>
              <a:gdLst/>
              <a:ahLst/>
              <a:cxnLst/>
              <a:rect l="l" t="t" r="r" b="b"/>
              <a:pathLst>
                <a:path w="76200" h="76200">
                  <a:moveTo>
                    <a:pt x="75603" y="0"/>
                  </a:moveTo>
                  <a:lnTo>
                    <a:pt x="0" y="0"/>
                  </a:lnTo>
                  <a:lnTo>
                    <a:pt x="37795" y="75603"/>
                  </a:lnTo>
                  <a:lnTo>
                    <a:pt x="75603" y="0"/>
                  </a:lnTo>
                  <a:close/>
                </a:path>
              </a:pathLst>
            </a:custGeom>
            <a:solidFill>
              <a:srgbClr val="FFFFFF"/>
            </a:solidFill>
          </p:spPr>
          <p:txBody>
            <a:bodyPr wrap="square" lIns="0" tIns="0" rIns="0" bIns="0" rtlCol="0"/>
            <a:lstStyle/>
            <a:p>
              <a:endParaRPr sz="1200"/>
            </a:p>
          </p:txBody>
        </p:sp>
        <p:sp>
          <p:nvSpPr>
            <p:cNvPr id="10" name="object 10"/>
            <p:cNvSpPr/>
            <p:nvPr/>
          </p:nvSpPr>
          <p:spPr>
            <a:xfrm>
              <a:off x="6090475" y="2947682"/>
              <a:ext cx="0" cy="347980"/>
            </a:xfrm>
            <a:custGeom>
              <a:avLst/>
              <a:gdLst/>
              <a:ahLst/>
              <a:cxnLst/>
              <a:rect l="l" t="t" r="r" b="b"/>
              <a:pathLst>
                <a:path h="347979">
                  <a:moveTo>
                    <a:pt x="0" y="0"/>
                  </a:moveTo>
                  <a:lnTo>
                    <a:pt x="0" y="347395"/>
                  </a:lnTo>
                </a:path>
              </a:pathLst>
            </a:custGeom>
            <a:ln w="12599">
              <a:solidFill>
                <a:srgbClr val="FFFFFF"/>
              </a:solidFill>
            </a:ln>
          </p:spPr>
          <p:txBody>
            <a:bodyPr wrap="square" lIns="0" tIns="0" rIns="0" bIns="0" rtlCol="0"/>
            <a:lstStyle/>
            <a:p>
              <a:endParaRPr sz="1200"/>
            </a:p>
          </p:txBody>
        </p:sp>
        <p:sp>
          <p:nvSpPr>
            <p:cNvPr id="11" name="object 11"/>
            <p:cNvSpPr/>
            <p:nvPr/>
          </p:nvSpPr>
          <p:spPr>
            <a:xfrm>
              <a:off x="6052680" y="3290036"/>
              <a:ext cx="76200" cy="76200"/>
            </a:xfrm>
            <a:custGeom>
              <a:avLst/>
              <a:gdLst/>
              <a:ahLst/>
              <a:cxnLst/>
              <a:rect l="l" t="t" r="r" b="b"/>
              <a:pathLst>
                <a:path w="76200" h="76200">
                  <a:moveTo>
                    <a:pt x="75603" y="0"/>
                  </a:moveTo>
                  <a:lnTo>
                    <a:pt x="0" y="0"/>
                  </a:lnTo>
                  <a:lnTo>
                    <a:pt x="37795" y="75603"/>
                  </a:lnTo>
                  <a:lnTo>
                    <a:pt x="75603" y="0"/>
                  </a:lnTo>
                  <a:close/>
                </a:path>
              </a:pathLst>
            </a:custGeom>
            <a:solidFill>
              <a:srgbClr val="FFFFFF"/>
            </a:solidFill>
          </p:spPr>
          <p:txBody>
            <a:bodyPr wrap="square" lIns="0" tIns="0" rIns="0" bIns="0" rtlCol="0"/>
            <a:lstStyle/>
            <a:p>
              <a:endParaRPr sz="1200"/>
            </a:p>
          </p:txBody>
        </p:sp>
        <p:sp>
          <p:nvSpPr>
            <p:cNvPr id="12" name="object 12"/>
            <p:cNvSpPr/>
            <p:nvPr/>
          </p:nvSpPr>
          <p:spPr>
            <a:xfrm>
              <a:off x="3004565" y="3905999"/>
              <a:ext cx="2406650" cy="0"/>
            </a:xfrm>
            <a:custGeom>
              <a:avLst/>
              <a:gdLst/>
              <a:ahLst/>
              <a:cxnLst/>
              <a:rect l="l" t="t" r="r" b="b"/>
              <a:pathLst>
                <a:path w="2406650">
                  <a:moveTo>
                    <a:pt x="0" y="0"/>
                  </a:moveTo>
                  <a:lnTo>
                    <a:pt x="2406599" y="0"/>
                  </a:lnTo>
                </a:path>
              </a:pathLst>
            </a:custGeom>
            <a:ln w="12599">
              <a:solidFill>
                <a:srgbClr val="FFFFFF"/>
              </a:solidFill>
            </a:ln>
          </p:spPr>
          <p:txBody>
            <a:bodyPr wrap="square" lIns="0" tIns="0" rIns="0" bIns="0" rtlCol="0"/>
            <a:lstStyle/>
            <a:p>
              <a:endParaRPr sz="1200"/>
            </a:p>
          </p:txBody>
        </p:sp>
        <p:sp>
          <p:nvSpPr>
            <p:cNvPr id="13" name="object 13"/>
            <p:cNvSpPr/>
            <p:nvPr/>
          </p:nvSpPr>
          <p:spPr>
            <a:xfrm>
              <a:off x="2934004" y="3868204"/>
              <a:ext cx="76200" cy="76200"/>
            </a:xfrm>
            <a:custGeom>
              <a:avLst/>
              <a:gdLst/>
              <a:ahLst/>
              <a:cxnLst/>
              <a:rect l="l" t="t" r="r" b="b"/>
              <a:pathLst>
                <a:path w="76200" h="76200">
                  <a:moveTo>
                    <a:pt x="75590" y="0"/>
                  </a:moveTo>
                  <a:lnTo>
                    <a:pt x="0" y="37795"/>
                  </a:lnTo>
                  <a:lnTo>
                    <a:pt x="75590" y="75590"/>
                  </a:lnTo>
                  <a:lnTo>
                    <a:pt x="75590" y="0"/>
                  </a:lnTo>
                  <a:close/>
                </a:path>
              </a:pathLst>
            </a:custGeom>
            <a:solidFill>
              <a:srgbClr val="FFFFFF"/>
            </a:solidFill>
          </p:spPr>
          <p:txBody>
            <a:bodyPr wrap="square" lIns="0" tIns="0" rIns="0" bIns="0" rtlCol="0"/>
            <a:lstStyle/>
            <a:p>
              <a:endParaRPr sz="1200"/>
            </a:p>
          </p:txBody>
        </p:sp>
        <p:sp>
          <p:nvSpPr>
            <p:cNvPr id="14" name="object 14"/>
            <p:cNvSpPr/>
            <p:nvPr/>
          </p:nvSpPr>
          <p:spPr>
            <a:xfrm>
              <a:off x="6764400" y="3905999"/>
              <a:ext cx="2410460" cy="0"/>
            </a:xfrm>
            <a:custGeom>
              <a:avLst/>
              <a:gdLst/>
              <a:ahLst/>
              <a:cxnLst/>
              <a:rect l="l" t="t" r="r" b="b"/>
              <a:pathLst>
                <a:path w="2410459">
                  <a:moveTo>
                    <a:pt x="0" y="0"/>
                  </a:moveTo>
                  <a:lnTo>
                    <a:pt x="2410193" y="0"/>
                  </a:lnTo>
                </a:path>
              </a:pathLst>
            </a:custGeom>
            <a:ln w="12599">
              <a:solidFill>
                <a:srgbClr val="FFFFFF"/>
              </a:solidFill>
            </a:ln>
          </p:spPr>
          <p:txBody>
            <a:bodyPr wrap="square" lIns="0" tIns="0" rIns="0" bIns="0" rtlCol="0"/>
            <a:lstStyle/>
            <a:p>
              <a:endParaRPr sz="1200"/>
            </a:p>
          </p:txBody>
        </p:sp>
        <p:sp>
          <p:nvSpPr>
            <p:cNvPr id="15" name="object 15"/>
            <p:cNvSpPr/>
            <p:nvPr/>
          </p:nvSpPr>
          <p:spPr>
            <a:xfrm>
              <a:off x="9169565" y="3868204"/>
              <a:ext cx="76200" cy="76200"/>
            </a:xfrm>
            <a:custGeom>
              <a:avLst/>
              <a:gdLst/>
              <a:ahLst/>
              <a:cxnLst/>
              <a:rect l="l" t="t" r="r" b="b"/>
              <a:pathLst>
                <a:path w="76200" h="76200">
                  <a:moveTo>
                    <a:pt x="0" y="0"/>
                  </a:moveTo>
                  <a:lnTo>
                    <a:pt x="0" y="75590"/>
                  </a:lnTo>
                  <a:lnTo>
                    <a:pt x="75590" y="37795"/>
                  </a:lnTo>
                  <a:lnTo>
                    <a:pt x="0" y="0"/>
                  </a:lnTo>
                  <a:close/>
                </a:path>
              </a:pathLst>
            </a:custGeom>
            <a:solidFill>
              <a:srgbClr val="FFFFFF"/>
            </a:solidFill>
          </p:spPr>
          <p:txBody>
            <a:bodyPr wrap="square" lIns="0" tIns="0" rIns="0" bIns="0" rtlCol="0"/>
            <a:lstStyle/>
            <a:p>
              <a:endParaRPr sz="1200"/>
            </a:p>
          </p:txBody>
        </p:sp>
        <p:sp>
          <p:nvSpPr>
            <p:cNvPr id="16" name="object 16"/>
            <p:cNvSpPr/>
            <p:nvPr/>
          </p:nvSpPr>
          <p:spPr>
            <a:xfrm>
              <a:off x="2934004" y="3905999"/>
              <a:ext cx="0" cy="466725"/>
            </a:xfrm>
            <a:custGeom>
              <a:avLst/>
              <a:gdLst/>
              <a:ahLst/>
              <a:cxnLst/>
              <a:rect l="l" t="t" r="r" b="b"/>
              <a:pathLst>
                <a:path h="466725">
                  <a:moveTo>
                    <a:pt x="0" y="0"/>
                  </a:moveTo>
                  <a:lnTo>
                    <a:pt x="0" y="466204"/>
                  </a:lnTo>
                </a:path>
              </a:pathLst>
            </a:custGeom>
            <a:ln w="12599">
              <a:solidFill>
                <a:srgbClr val="FFFFFF"/>
              </a:solidFill>
            </a:ln>
          </p:spPr>
          <p:txBody>
            <a:bodyPr wrap="square" lIns="0" tIns="0" rIns="0" bIns="0" rtlCol="0"/>
            <a:lstStyle/>
            <a:p>
              <a:endParaRPr sz="1200"/>
            </a:p>
          </p:txBody>
        </p:sp>
        <p:sp>
          <p:nvSpPr>
            <p:cNvPr id="17" name="object 17"/>
            <p:cNvSpPr/>
            <p:nvPr/>
          </p:nvSpPr>
          <p:spPr>
            <a:xfrm>
              <a:off x="2896196" y="4367161"/>
              <a:ext cx="76200" cy="76200"/>
            </a:xfrm>
            <a:custGeom>
              <a:avLst/>
              <a:gdLst/>
              <a:ahLst/>
              <a:cxnLst/>
              <a:rect l="l" t="t" r="r" b="b"/>
              <a:pathLst>
                <a:path w="76200" h="76200">
                  <a:moveTo>
                    <a:pt x="75603" y="0"/>
                  </a:moveTo>
                  <a:lnTo>
                    <a:pt x="0" y="0"/>
                  </a:lnTo>
                  <a:lnTo>
                    <a:pt x="37807" y="75603"/>
                  </a:lnTo>
                  <a:lnTo>
                    <a:pt x="75603" y="0"/>
                  </a:lnTo>
                  <a:close/>
                </a:path>
              </a:pathLst>
            </a:custGeom>
            <a:solidFill>
              <a:srgbClr val="FFFFFF"/>
            </a:solidFill>
          </p:spPr>
          <p:txBody>
            <a:bodyPr wrap="square" lIns="0" tIns="0" rIns="0" bIns="0" rtlCol="0"/>
            <a:lstStyle/>
            <a:p>
              <a:endParaRPr sz="1200"/>
            </a:p>
          </p:txBody>
        </p:sp>
        <p:sp>
          <p:nvSpPr>
            <p:cNvPr id="18" name="object 18"/>
            <p:cNvSpPr/>
            <p:nvPr/>
          </p:nvSpPr>
          <p:spPr>
            <a:xfrm>
              <a:off x="9240837" y="3905999"/>
              <a:ext cx="0" cy="466725"/>
            </a:xfrm>
            <a:custGeom>
              <a:avLst/>
              <a:gdLst/>
              <a:ahLst/>
              <a:cxnLst/>
              <a:rect l="l" t="t" r="r" b="b"/>
              <a:pathLst>
                <a:path h="466725">
                  <a:moveTo>
                    <a:pt x="0" y="0"/>
                  </a:moveTo>
                  <a:lnTo>
                    <a:pt x="0" y="466204"/>
                  </a:lnTo>
                </a:path>
              </a:pathLst>
            </a:custGeom>
            <a:ln w="12599">
              <a:solidFill>
                <a:srgbClr val="FFFFFF"/>
              </a:solidFill>
            </a:ln>
          </p:spPr>
          <p:txBody>
            <a:bodyPr wrap="square" lIns="0" tIns="0" rIns="0" bIns="0" rtlCol="0"/>
            <a:lstStyle/>
            <a:p>
              <a:endParaRPr sz="1200"/>
            </a:p>
          </p:txBody>
        </p:sp>
        <p:sp>
          <p:nvSpPr>
            <p:cNvPr id="19" name="object 19"/>
            <p:cNvSpPr/>
            <p:nvPr/>
          </p:nvSpPr>
          <p:spPr>
            <a:xfrm>
              <a:off x="9203042" y="4367161"/>
              <a:ext cx="76200" cy="76200"/>
            </a:xfrm>
            <a:custGeom>
              <a:avLst/>
              <a:gdLst/>
              <a:ahLst/>
              <a:cxnLst/>
              <a:rect l="l" t="t" r="r" b="b"/>
              <a:pathLst>
                <a:path w="76200" h="76200">
                  <a:moveTo>
                    <a:pt x="75603" y="0"/>
                  </a:moveTo>
                  <a:lnTo>
                    <a:pt x="0" y="0"/>
                  </a:lnTo>
                  <a:lnTo>
                    <a:pt x="37795" y="75603"/>
                  </a:lnTo>
                  <a:lnTo>
                    <a:pt x="75603" y="0"/>
                  </a:lnTo>
                  <a:close/>
                </a:path>
              </a:pathLst>
            </a:custGeom>
            <a:solidFill>
              <a:srgbClr val="FFFFFF"/>
            </a:solidFill>
          </p:spPr>
          <p:txBody>
            <a:bodyPr wrap="square" lIns="0" tIns="0" rIns="0" bIns="0" rtlCol="0"/>
            <a:lstStyle/>
            <a:p>
              <a:endParaRPr sz="1200"/>
            </a:p>
          </p:txBody>
        </p:sp>
        <p:sp>
          <p:nvSpPr>
            <p:cNvPr id="20" name="object 20"/>
            <p:cNvSpPr/>
            <p:nvPr/>
          </p:nvSpPr>
          <p:spPr>
            <a:xfrm>
              <a:off x="3004565" y="4784039"/>
              <a:ext cx="2922905" cy="838200"/>
            </a:xfrm>
            <a:custGeom>
              <a:avLst/>
              <a:gdLst/>
              <a:ahLst/>
              <a:cxnLst/>
              <a:rect l="l" t="t" r="r" b="b"/>
              <a:pathLst>
                <a:path w="2922904" h="838200">
                  <a:moveTo>
                    <a:pt x="2922473" y="838085"/>
                  </a:moveTo>
                  <a:lnTo>
                    <a:pt x="0" y="0"/>
                  </a:lnTo>
                </a:path>
              </a:pathLst>
            </a:custGeom>
            <a:ln w="12599">
              <a:solidFill>
                <a:srgbClr val="FFFFFF"/>
              </a:solidFill>
            </a:ln>
          </p:spPr>
          <p:txBody>
            <a:bodyPr wrap="square" lIns="0" tIns="0" rIns="0" bIns="0" rtlCol="0"/>
            <a:lstStyle/>
            <a:p>
              <a:endParaRPr sz="1200"/>
            </a:p>
          </p:txBody>
        </p:sp>
        <p:sp>
          <p:nvSpPr>
            <p:cNvPr id="21" name="object 21"/>
            <p:cNvSpPr/>
            <p:nvPr/>
          </p:nvSpPr>
          <p:spPr>
            <a:xfrm>
              <a:off x="5911558" y="5584316"/>
              <a:ext cx="83185" cy="73025"/>
            </a:xfrm>
            <a:custGeom>
              <a:avLst/>
              <a:gdLst/>
              <a:ahLst/>
              <a:cxnLst/>
              <a:rect l="l" t="t" r="r" b="b"/>
              <a:pathLst>
                <a:path w="83185" h="73025">
                  <a:moveTo>
                    <a:pt x="20878" y="0"/>
                  </a:moveTo>
                  <a:lnTo>
                    <a:pt x="0" y="72720"/>
                  </a:lnTo>
                  <a:lnTo>
                    <a:pt x="83159" y="57238"/>
                  </a:lnTo>
                  <a:lnTo>
                    <a:pt x="20878" y="0"/>
                  </a:lnTo>
                  <a:close/>
                </a:path>
              </a:pathLst>
            </a:custGeom>
            <a:solidFill>
              <a:srgbClr val="FFFFFF"/>
            </a:solidFill>
          </p:spPr>
          <p:txBody>
            <a:bodyPr wrap="square" lIns="0" tIns="0" rIns="0" bIns="0" rtlCol="0"/>
            <a:lstStyle/>
            <a:p>
              <a:endParaRPr sz="1200"/>
            </a:p>
          </p:txBody>
        </p:sp>
        <p:sp>
          <p:nvSpPr>
            <p:cNvPr id="22" name="object 22"/>
            <p:cNvSpPr/>
            <p:nvPr/>
          </p:nvSpPr>
          <p:spPr>
            <a:xfrm>
              <a:off x="6312598" y="4784039"/>
              <a:ext cx="2922905" cy="838200"/>
            </a:xfrm>
            <a:custGeom>
              <a:avLst/>
              <a:gdLst/>
              <a:ahLst/>
              <a:cxnLst/>
              <a:rect l="l" t="t" r="r" b="b"/>
              <a:pathLst>
                <a:path w="2922904" h="838200">
                  <a:moveTo>
                    <a:pt x="0" y="838085"/>
                  </a:moveTo>
                  <a:lnTo>
                    <a:pt x="2922841" y="0"/>
                  </a:lnTo>
                </a:path>
              </a:pathLst>
            </a:custGeom>
            <a:ln w="12599">
              <a:solidFill>
                <a:srgbClr val="FFFFFF"/>
              </a:solidFill>
            </a:ln>
          </p:spPr>
          <p:txBody>
            <a:bodyPr wrap="square" lIns="0" tIns="0" rIns="0" bIns="0" rtlCol="0"/>
            <a:lstStyle/>
            <a:p>
              <a:endParaRPr sz="1200"/>
            </a:p>
          </p:txBody>
        </p:sp>
        <p:sp>
          <p:nvSpPr>
            <p:cNvPr id="23" name="object 23"/>
            <p:cNvSpPr/>
            <p:nvPr/>
          </p:nvSpPr>
          <p:spPr>
            <a:xfrm>
              <a:off x="6244920" y="5584316"/>
              <a:ext cx="83185" cy="73025"/>
            </a:xfrm>
            <a:custGeom>
              <a:avLst/>
              <a:gdLst/>
              <a:ahLst/>
              <a:cxnLst/>
              <a:rect l="l" t="t" r="r" b="b"/>
              <a:pathLst>
                <a:path w="83185" h="73025">
                  <a:moveTo>
                    <a:pt x="62280" y="0"/>
                  </a:moveTo>
                  <a:lnTo>
                    <a:pt x="0" y="57238"/>
                  </a:lnTo>
                  <a:lnTo>
                    <a:pt x="83159" y="72720"/>
                  </a:lnTo>
                  <a:lnTo>
                    <a:pt x="62280" y="0"/>
                  </a:lnTo>
                  <a:close/>
                </a:path>
              </a:pathLst>
            </a:custGeom>
            <a:solidFill>
              <a:srgbClr val="FFFFFF"/>
            </a:solidFill>
          </p:spPr>
          <p:txBody>
            <a:bodyPr wrap="square" lIns="0" tIns="0" rIns="0" bIns="0" rtlCol="0"/>
            <a:lstStyle/>
            <a:p>
              <a:endParaRPr sz="1200"/>
            </a:p>
          </p:txBody>
        </p:sp>
        <p:sp>
          <p:nvSpPr>
            <p:cNvPr id="24" name="object 24"/>
            <p:cNvSpPr/>
            <p:nvPr/>
          </p:nvSpPr>
          <p:spPr>
            <a:xfrm>
              <a:off x="4376877" y="1955165"/>
              <a:ext cx="3423285" cy="360680"/>
            </a:xfrm>
            <a:custGeom>
              <a:avLst/>
              <a:gdLst/>
              <a:ahLst/>
              <a:cxnLst/>
              <a:rect l="l" t="t" r="r" b="b"/>
              <a:pathLst>
                <a:path w="3423284" h="360680">
                  <a:moveTo>
                    <a:pt x="3243237" y="0"/>
                  </a:moveTo>
                  <a:lnTo>
                    <a:pt x="179997" y="0"/>
                  </a:lnTo>
                  <a:lnTo>
                    <a:pt x="170637" y="355"/>
                  </a:lnTo>
                  <a:lnTo>
                    <a:pt x="124205" y="8636"/>
                  </a:lnTo>
                  <a:lnTo>
                    <a:pt x="74167" y="34201"/>
                  </a:lnTo>
                  <a:lnTo>
                    <a:pt x="39966" y="66598"/>
                  </a:lnTo>
                  <a:lnTo>
                    <a:pt x="15481" y="106921"/>
                  </a:lnTo>
                  <a:lnTo>
                    <a:pt x="2158" y="151917"/>
                  </a:lnTo>
                  <a:lnTo>
                    <a:pt x="0" y="179997"/>
                  </a:lnTo>
                  <a:lnTo>
                    <a:pt x="0" y="180352"/>
                  </a:lnTo>
                  <a:lnTo>
                    <a:pt x="354" y="189357"/>
                  </a:lnTo>
                  <a:lnTo>
                    <a:pt x="1052" y="198716"/>
                  </a:lnTo>
                  <a:lnTo>
                    <a:pt x="1079" y="199072"/>
                  </a:lnTo>
                  <a:lnTo>
                    <a:pt x="2117" y="208076"/>
                  </a:lnTo>
                  <a:lnTo>
                    <a:pt x="2158" y="208432"/>
                  </a:lnTo>
                  <a:lnTo>
                    <a:pt x="3893" y="217436"/>
                  </a:lnTo>
                  <a:lnTo>
                    <a:pt x="3962" y="217792"/>
                  </a:lnTo>
                  <a:lnTo>
                    <a:pt x="6036" y="226440"/>
                  </a:lnTo>
                  <a:lnTo>
                    <a:pt x="6121" y="226796"/>
                  </a:lnTo>
                  <a:lnTo>
                    <a:pt x="11773" y="244436"/>
                  </a:lnTo>
                  <a:lnTo>
                    <a:pt x="11887" y="244792"/>
                  </a:lnTo>
                  <a:lnTo>
                    <a:pt x="34556" y="285838"/>
                  </a:lnTo>
                  <a:lnTo>
                    <a:pt x="66967" y="320039"/>
                  </a:lnTo>
                  <a:lnTo>
                    <a:pt x="106921" y="344512"/>
                  </a:lnTo>
                  <a:lnTo>
                    <a:pt x="151917" y="357835"/>
                  </a:lnTo>
                  <a:lnTo>
                    <a:pt x="179997" y="359994"/>
                  </a:lnTo>
                  <a:lnTo>
                    <a:pt x="179997" y="360349"/>
                  </a:lnTo>
                  <a:lnTo>
                    <a:pt x="3243605" y="359994"/>
                  </a:lnTo>
                  <a:lnTo>
                    <a:pt x="3290036" y="353872"/>
                  </a:lnTo>
                  <a:lnTo>
                    <a:pt x="3333597" y="335876"/>
                  </a:lnTo>
                  <a:lnTo>
                    <a:pt x="3370681" y="307073"/>
                  </a:lnTo>
                  <a:lnTo>
                    <a:pt x="3399116" y="269989"/>
                  </a:lnTo>
                  <a:lnTo>
                    <a:pt x="3417025" y="226796"/>
                  </a:lnTo>
                  <a:lnTo>
                    <a:pt x="3419199" y="217792"/>
                  </a:lnTo>
                  <a:lnTo>
                    <a:pt x="3419284" y="217436"/>
                  </a:lnTo>
                  <a:lnTo>
                    <a:pt x="3423246" y="179997"/>
                  </a:lnTo>
                  <a:lnTo>
                    <a:pt x="3422878" y="170637"/>
                  </a:lnTo>
                  <a:lnTo>
                    <a:pt x="3414598" y="124193"/>
                  </a:lnTo>
                  <a:lnTo>
                    <a:pt x="3389045" y="74155"/>
                  </a:lnTo>
                  <a:lnTo>
                    <a:pt x="3356648" y="39954"/>
                  </a:lnTo>
                  <a:lnTo>
                    <a:pt x="3316325" y="15481"/>
                  </a:lnTo>
                  <a:lnTo>
                    <a:pt x="3271316" y="2159"/>
                  </a:lnTo>
                  <a:lnTo>
                    <a:pt x="3252596" y="355"/>
                  </a:lnTo>
                  <a:lnTo>
                    <a:pt x="3243237" y="0"/>
                  </a:lnTo>
                  <a:close/>
                </a:path>
              </a:pathLst>
            </a:custGeom>
            <a:solidFill>
              <a:srgbClr val="453E31"/>
            </a:solidFill>
          </p:spPr>
          <p:txBody>
            <a:bodyPr wrap="square" lIns="0" tIns="0" rIns="0" bIns="0" rtlCol="0"/>
            <a:lstStyle/>
            <a:p>
              <a:endParaRPr sz="1200"/>
            </a:p>
          </p:txBody>
        </p:sp>
      </p:grpSp>
      <p:sp>
        <p:nvSpPr>
          <p:cNvPr id="25" name="object 25"/>
          <p:cNvSpPr txBox="1"/>
          <p:nvPr/>
        </p:nvSpPr>
        <p:spPr>
          <a:xfrm>
            <a:off x="5956464" y="2032088"/>
            <a:ext cx="520535" cy="166712"/>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FFFFFF"/>
                </a:solidFill>
                <a:latin typeface="Trebuchet MS"/>
                <a:cs typeface="Trebuchet MS"/>
              </a:rPr>
              <a:t>Start</a:t>
            </a:r>
            <a:endParaRPr sz="1000" dirty="0">
              <a:latin typeface="Trebuchet MS"/>
              <a:cs typeface="Trebuchet MS"/>
            </a:endParaRPr>
          </a:p>
        </p:txBody>
      </p:sp>
      <p:sp>
        <p:nvSpPr>
          <p:cNvPr id="26" name="object 26"/>
          <p:cNvSpPr/>
          <p:nvPr/>
        </p:nvSpPr>
        <p:spPr>
          <a:xfrm>
            <a:off x="4376877" y="2631605"/>
            <a:ext cx="3423285" cy="360045"/>
          </a:xfrm>
          <a:custGeom>
            <a:avLst/>
            <a:gdLst/>
            <a:ahLst/>
            <a:cxnLst/>
            <a:rect l="l" t="t" r="r" b="b"/>
            <a:pathLst>
              <a:path w="3423284" h="360044">
                <a:moveTo>
                  <a:pt x="3423246" y="0"/>
                </a:moveTo>
                <a:lnTo>
                  <a:pt x="0" y="0"/>
                </a:lnTo>
                <a:lnTo>
                  <a:pt x="0" y="359994"/>
                </a:lnTo>
                <a:lnTo>
                  <a:pt x="1711807" y="359994"/>
                </a:lnTo>
                <a:lnTo>
                  <a:pt x="3423246" y="359994"/>
                </a:lnTo>
                <a:lnTo>
                  <a:pt x="3423246" y="0"/>
                </a:lnTo>
                <a:close/>
              </a:path>
            </a:pathLst>
          </a:custGeom>
          <a:solidFill>
            <a:srgbClr val="453E31"/>
          </a:solidFill>
        </p:spPr>
        <p:txBody>
          <a:bodyPr wrap="square" lIns="0" tIns="0" rIns="0" bIns="0" rtlCol="0"/>
          <a:lstStyle/>
          <a:p>
            <a:endParaRPr sz="1200"/>
          </a:p>
        </p:txBody>
      </p:sp>
      <p:sp>
        <p:nvSpPr>
          <p:cNvPr id="27" name="object 27"/>
          <p:cNvSpPr txBox="1"/>
          <p:nvPr/>
        </p:nvSpPr>
        <p:spPr>
          <a:xfrm>
            <a:off x="5727865" y="2708897"/>
            <a:ext cx="1802612" cy="166712"/>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FFFFFF"/>
                </a:solidFill>
                <a:latin typeface="Trebuchet MS"/>
                <a:cs typeface="Trebuchet MS"/>
              </a:rPr>
              <a:t>Initial meshing</a:t>
            </a:r>
            <a:endParaRPr sz="1000" dirty="0">
              <a:latin typeface="Trebuchet MS"/>
              <a:cs typeface="Trebuchet MS"/>
            </a:endParaRPr>
          </a:p>
        </p:txBody>
      </p:sp>
      <p:sp>
        <p:nvSpPr>
          <p:cNvPr id="28" name="object 28"/>
          <p:cNvSpPr/>
          <p:nvPr/>
        </p:nvSpPr>
        <p:spPr>
          <a:xfrm>
            <a:off x="4982400" y="3369602"/>
            <a:ext cx="2214245" cy="1072515"/>
          </a:xfrm>
          <a:custGeom>
            <a:avLst/>
            <a:gdLst/>
            <a:ahLst/>
            <a:cxnLst/>
            <a:rect l="l" t="t" r="r" b="b"/>
            <a:pathLst>
              <a:path w="2214245" h="1072514">
                <a:moveTo>
                  <a:pt x="1106639" y="0"/>
                </a:moveTo>
                <a:lnTo>
                  <a:pt x="0" y="536041"/>
                </a:lnTo>
                <a:lnTo>
                  <a:pt x="1106639" y="1072438"/>
                </a:lnTo>
                <a:lnTo>
                  <a:pt x="2213635" y="536041"/>
                </a:lnTo>
                <a:lnTo>
                  <a:pt x="1106639" y="0"/>
                </a:lnTo>
                <a:close/>
              </a:path>
            </a:pathLst>
          </a:custGeom>
          <a:solidFill>
            <a:srgbClr val="453E31"/>
          </a:solidFill>
        </p:spPr>
        <p:txBody>
          <a:bodyPr wrap="square" lIns="0" tIns="0" rIns="0" bIns="0" rtlCol="0"/>
          <a:lstStyle/>
          <a:p>
            <a:endParaRPr sz="1200"/>
          </a:p>
        </p:txBody>
      </p:sp>
      <p:sp>
        <p:nvSpPr>
          <p:cNvPr id="29" name="object 29"/>
          <p:cNvSpPr txBox="1"/>
          <p:nvPr/>
        </p:nvSpPr>
        <p:spPr>
          <a:xfrm>
            <a:off x="5779693" y="3800055"/>
            <a:ext cx="918730" cy="166712"/>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FFFFFF"/>
                </a:solidFill>
                <a:latin typeface="Trebuchet MS"/>
                <a:cs typeface="Trebuchet MS"/>
              </a:rPr>
              <a:t>Refine mesh</a:t>
            </a:r>
            <a:endParaRPr sz="1000" dirty="0">
              <a:latin typeface="Trebuchet MS"/>
              <a:cs typeface="Trebuchet MS"/>
            </a:endParaRPr>
          </a:p>
        </p:txBody>
      </p:sp>
      <p:sp>
        <p:nvSpPr>
          <p:cNvPr id="30" name="object 30"/>
          <p:cNvSpPr/>
          <p:nvPr/>
        </p:nvSpPr>
        <p:spPr>
          <a:xfrm>
            <a:off x="1238034" y="4438434"/>
            <a:ext cx="3387725" cy="360045"/>
          </a:xfrm>
          <a:custGeom>
            <a:avLst/>
            <a:gdLst/>
            <a:ahLst/>
            <a:cxnLst/>
            <a:rect l="l" t="t" r="r" b="b"/>
            <a:pathLst>
              <a:path w="3387725" h="360045">
                <a:moveTo>
                  <a:pt x="3387610" y="0"/>
                </a:moveTo>
                <a:lnTo>
                  <a:pt x="0" y="0"/>
                </a:lnTo>
                <a:lnTo>
                  <a:pt x="0" y="360006"/>
                </a:lnTo>
                <a:lnTo>
                  <a:pt x="1693811" y="360006"/>
                </a:lnTo>
                <a:lnTo>
                  <a:pt x="3387610" y="360006"/>
                </a:lnTo>
                <a:lnTo>
                  <a:pt x="3387610" y="0"/>
                </a:lnTo>
                <a:close/>
              </a:path>
            </a:pathLst>
          </a:custGeom>
          <a:solidFill>
            <a:srgbClr val="453E31"/>
          </a:solidFill>
        </p:spPr>
        <p:txBody>
          <a:bodyPr wrap="square" lIns="0" tIns="0" rIns="0" bIns="0" rtlCol="0"/>
          <a:lstStyle/>
          <a:p>
            <a:endParaRPr sz="1200"/>
          </a:p>
        </p:txBody>
      </p:sp>
      <p:sp>
        <p:nvSpPr>
          <p:cNvPr id="31" name="object 31"/>
          <p:cNvSpPr txBox="1"/>
          <p:nvPr/>
        </p:nvSpPr>
        <p:spPr>
          <a:xfrm>
            <a:off x="2634018" y="4516094"/>
            <a:ext cx="1023582" cy="166712"/>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FFFFFF"/>
                </a:solidFill>
                <a:latin typeface="Trebuchet MS"/>
                <a:cs typeface="Trebuchet MS"/>
              </a:rPr>
              <a:t>End process</a:t>
            </a:r>
            <a:endParaRPr sz="1000" dirty="0">
              <a:latin typeface="Trebuchet MS"/>
              <a:cs typeface="Trebuchet MS"/>
            </a:endParaRPr>
          </a:p>
        </p:txBody>
      </p:sp>
      <p:sp>
        <p:nvSpPr>
          <p:cNvPr id="32" name="object 32"/>
          <p:cNvSpPr/>
          <p:nvPr/>
        </p:nvSpPr>
        <p:spPr>
          <a:xfrm>
            <a:off x="7530477" y="4438434"/>
            <a:ext cx="3423285" cy="360045"/>
          </a:xfrm>
          <a:custGeom>
            <a:avLst/>
            <a:gdLst/>
            <a:ahLst/>
            <a:cxnLst/>
            <a:rect l="l" t="t" r="r" b="b"/>
            <a:pathLst>
              <a:path w="3423284" h="360045">
                <a:moveTo>
                  <a:pt x="3423246" y="0"/>
                </a:moveTo>
                <a:lnTo>
                  <a:pt x="0" y="0"/>
                </a:lnTo>
                <a:lnTo>
                  <a:pt x="0" y="360006"/>
                </a:lnTo>
                <a:lnTo>
                  <a:pt x="1711807" y="360006"/>
                </a:lnTo>
                <a:lnTo>
                  <a:pt x="3423246" y="360006"/>
                </a:lnTo>
                <a:lnTo>
                  <a:pt x="3423246" y="0"/>
                </a:lnTo>
                <a:close/>
              </a:path>
            </a:pathLst>
          </a:custGeom>
          <a:solidFill>
            <a:srgbClr val="453E31"/>
          </a:solidFill>
        </p:spPr>
        <p:txBody>
          <a:bodyPr wrap="square" lIns="0" tIns="0" rIns="0" bIns="0" rtlCol="0"/>
          <a:lstStyle/>
          <a:p>
            <a:endParaRPr sz="1200"/>
          </a:p>
        </p:txBody>
      </p:sp>
      <p:sp>
        <p:nvSpPr>
          <p:cNvPr id="33" name="object 33"/>
          <p:cNvSpPr txBox="1"/>
          <p:nvPr/>
        </p:nvSpPr>
        <p:spPr>
          <a:xfrm>
            <a:off x="8802255" y="4516094"/>
            <a:ext cx="1651127" cy="166712"/>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FFFFFF"/>
                </a:solidFill>
                <a:latin typeface="Trebuchet MS"/>
                <a:cs typeface="Trebuchet MS"/>
              </a:rPr>
              <a:t>Enhance accuracy</a:t>
            </a:r>
            <a:endParaRPr sz="1000" dirty="0">
              <a:latin typeface="Trebuchet MS"/>
              <a:cs typeface="Trebuchet MS"/>
            </a:endParaRPr>
          </a:p>
        </p:txBody>
      </p:sp>
      <p:sp>
        <p:nvSpPr>
          <p:cNvPr id="34" name="object 34"/>
          <p:cNvSpPr/>
          <p:nvPr/>
        </p:nvSpPr>
        <p:spPr>
          <a:xfrm>
            <a:off x="4376877" y="5640844"/>
            <a:ext cx="3423285" cy="360680"/>
          </a:xfrm>
          <a:custGeom>
            <a:avLst/>
            <a:gdLst/>
            <a:ahLst/>
            <a:cxnLst/>
            <a:rect l="l" t="t" r="r" b="b"/>
            <a:pathLst>
              <a:path w="3423284" h="360679">
                <a:moveTo>
                  <a:pt x="3243237" y="0"/>
                </a:moveTo>
                <a:lnTo>
                  <a:pt x="179997" y="0"/>
                </a:lnTo>
                <a:lnTo>
                  <a:pt x="170637" y="355"/>
                </a:lnTo>
                <a:lnTo>
                  <a:pt x="124205" y="8635"/>
                </a:lnTo>
                <a:lnTo>
                  <a:pt x="74167" y="34201"/>
                </a:lnTo>
                <a:lnTo>
                  <a:pt x="39966" y="66598"/>
                </a:lnTo>
                <a:lnTo>
                  <a:pt x="15481" y="106921"/>
                </a:lnTo>
                <a:lnTo>
                  <a:pt x="2158" y="151917"/>
                </a:lnTo>
                <a:lnTo>
                  <a:pt x="0" y="179997"/>
                </a:lnTo>
                <a:lnTo>
                  <a:pt x="0" y="180352"/>
                </a:lnTo>
                <a:lnTo>
                  <a:pt x="354" y="189356"/>
                </a:lnTo>
                <a:lnTo>
                  <a:pt x="1052" y="198716"/>
                </a:lnTo>
                <a:lnTo>
                  <a:pt x="1079" y="199072"/>
                </a:lnTo>
                <a:lnTo>
                  <a:pt x="2117" y="208076"/>
                </a:lnTo>
                <a:lnTo>
                  <a:pt x="2158" y="208432"/>
                </a:lnTo>
                <a:lnTo>
                  <a:pt x="3893" y="217436"/>
                </a:lnTo>
                <a:lnTo>
                  <a:pt x="3962" y="217792"/>
                </a:lnTo>
                <a:lnTo>
                  <a:pt x="6036" y="226440"/>
                </a:lnTo>
                <a:lnTo>
                  <a:pt x="6121" y="226796"/>
                </a:lnTo>
                <a:lnTo>
                  <a:pt x="11773" y="244436"/>
                </a:lnTo>
                <a:lnTo>
                  <a:pt x="11887" y="244792"/>
                </a:lnTo>
                <a:lnTo>
                  <a:pt x="34556" y="285838"/>
                </a:lnTo>
                <a:lnTo>
                  <a:pt x="66967" y="320040"/>
                </a:lnTo>
                <a:lnTo>
                  <a:pt x="106921" y="344512"/>
                </a:lnTo>
                <a:lnTo>
                  <a:pt x="151917" y="357835"/>
                </a:lnTo>
                <a:lnTo>
                  <a:pt x="179997" y="359994"/>
                </a:lnTo>
                <a:lnTo>
                  <a:pt x="179997" y="360349"/>
                </a:lnTo>
                <a:lnTo>
                  <a:pt x="3243605" y="359994"/>
                </a:lnTo>
                <a:lnTo>
                  <a:pt x="3290036" y="353872"/>
                </a:lnTo>
                <a:lnTo>
                  <a:pt x="3333597" y="335876"/>
                </a:lnTo>
                <a:lnTo>
                  <a:pt x="3370681" y="307073"/>
                </a:lnTo>
                <a:lnTo>
                  <a:pt x="3399116" y="269989"/>
                </a:lnTo>
                <a:lnTo>
                  <a:pt x="3417025" y="226796"/>
                </a:lnTo>
                <a:lnTo>
                  <a:pt x="3419199" y="217792"/>
                </a:lnTo>
                <a:lnTo>
                  <a:pt x="3419284" y="217436"/>
                </a:lnTo>
                <a:lnTo>
                  <a:pt x="3423246" y="179997"/>
                </a:lnTo>
                <a:lnTo>
                  <a:pt x="3422878" y="170637"/>
                </a:lnTo>
                <a:lnTo>
                  <a:pt x="3414598" y="124193"/>
                </a:lnTo>
                <a:lnTo>
                  <a:pt x="3389045" y="74155"/>
                </a:lnTo>
                <a:lnTo>
                  <a:pt x="3356648" y="39954"/>
                </a:lnTo>
                <a:lnTo>
                  <a:pt x="3316325" y="15481"/>
                </a:lnTo>
                <a:lnTo>
                  <a:pt x="3271316" y="2159"/>
                </a:lnTo>
                <a:lnTo>
                  <a:pt x="3252596" y="355"/>
                </a:lnTo>
                <a:lnTo>
                  <a:pt x="3243237" y="0"/>
                </a:lnTo>
                <a:close/>
              </a:path>
            </a:pathLst>
          </a:custGeom>
          <a:solidFill>
            <a:srgbClr val="453E31"/>
          </a:solidFill>
        </p:spPr>
        <p:txBody>
          <a:bodyPr wrap="square" lIns="0" tIns="0" rIns="0" bIns="0" rtlCol="0"/>
          <a:lstStyle/>
          <a:p>
            <a:endParaRPr sz="1200"/>
          </a:p>
        </p:txBody>
      </p:sp>
      <p:sp>
        <p:nvSpPr>
          <p:cNvPr id="35" name="object 35"/>
          <p:cNvSpPr txBox="1"/>
          <p:nvPr/>
        </p:nvSpPr>
        <p:spPr>
          <a:xfrm>
            <a:off x="5986703" y="5718848"/>
            <a:ext cx="560858" cy="166712"/>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FFFFFF"/>
                </a:solidFill>
                <a:latin typeface="Trebuchet MS"/>
                <a:cs typeface="Trebuchet MS"/>
              </a:rPr>
              <a:t>End</a:t>
            </a:r>
            <a:endParaRPr sz="1000" dirty="0">
              <a:latin typeface="Trebuchet MS"/>
              <a:cs typeface="Trebuchet MS"/>
            </a:endParaRPr>
          </a:p>
        </p:txBody>
      </p:sp>
      <p:sp>
        <p:nvSpPr>
          <p:cNvPr id="37" name="object 37"/>
          <p:cNvSpPr txBox="1"/>
          <p:nvPr/>
        </p:nvSpPr>
        <p:spPr>
          <a:xfrm>
            <a:off x="5646496" y="1329372"/>
            <a:ext cx="90106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Flow Chart</a:t>
            </a:r>
            <a:endParaRPr sz="1400">
              <a:latin typeface="Trebuchet MS"/>
              <a:cs typeface="Trebuchet MS"/>
            </a:endParaRPr>
          </a:p>
        </p:txBody>
      </p:sp>
      <p:sp>
        <p:nvSpPr>
          <p:cNvPr id="38" name="object 38"/>
          <p:cNvSpPr txBox="1"/>
          <p:nvPr/>
        </p:nvSpPr>
        <p:spPr>
          <a:xfrm>
            <a:off x="4092016" y="3670452"/>
            <a:ext cx="164465" cy="166712"/>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FFFFFF"/>
                </a:solidFill>
                <a:latin typeface="Trebuchet MS"/>
                <a:cs typeface="Trebuchet MS"/>
              </a:rPr>
              <a:t>No</a:t>
            </a:r>
            <a:endParaRPr sz="1000">
              <a:latin typeface="Trebuchet MS"/>
              <a:cs typeface="Trebuchet MS"/>
            </a:endParaRPr>
          </a:p>
        </p:txBody>
      </p:sp>
      <p:sp>
        <p:nvSpPr>
          <p:cNvPr id="39" name="object 39"/>
          <p:cNvSpPr txBox="1"/>
          <p:nvPr/>
        </p:nvSpPr>
        <p:spPr>
          <a:xfrm>
            <a:off x="7904416" y="3670452"/>
            <a:ext cx="196850" cy="320601"/>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FFFFFF"/>
                </a:solidFill>
                <a:latin typeface="Trebuchet MS"/>
                <a:cs typeface="Trebuchet MS"/>
              </a:rPr>
              <a:t>Yes</a:t>
            </a:r>
            <a:endParaRPr sz="1000">
              <a:latin typeface="Trebuchet MS"/>
              <a:cs typeface="Trebuchet M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BA036-3679-C772-E57E-7510943579E3}"/>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A493228-0036-9F5A-A9C8-4B9536B9F43D}"/>
              </a:ext>
            </a:extLst>
          </p:cNvPr>
          <p:cNvGrpSpPr/>
          <p:nvPr/>
        </p:nvGrpSpPr>
        <p:grpSpPr>
          <a:xfrm>
            <a:off x="0" y="-4763"/>
            <a:ext cx="12190095" cy="6858000"/>
            <a:chOff x="0" y="-355"/>
            <a:chExt cx="12190095" cy="6858000"/>
          </a:xfrm>
        </p:grpSpPr>
        <p:sp>
          <p:nvSpPr>
            <p:cNvPr id="3" name="object 3">
              <a:extLst>
                <a:ext uri="{FF2B5EF4-FFF2-40B4-BE49-F238E27FC236}">
                  <a16:creationId xmlns:a16="http://schemas.microsoft.com/office/drawing/2014/main" id="{788CB609-DC08-E11D-FD18-4F4D14E3AAA6}"/>
                </a:ext>
              </a:extLst>
            </p:cNvPr>
            <p:cNvSpPr/>
            <p:nvPr/>
          </p:nvSpPr>
          <p:spPr>
            <a:xfrm>
              <a:off x="0" y="-355"/>
              <a:ext cx="12190095" cy="6858000"/>
            </a:xfrm>
            <a:custGeom>
              <a:avLst/>
              <a:gdLst/>
              <a:ahLst/>
              <a:cxnLst/>
              <a:rect l="l" t="t" r="r" b="b"/>
              <a:pathLst>
                <a:path w="12190095" h="6858000">
                  <a:moveTo>
                    <a:pt x="12189599" y="0"/>
                  </a:moveTo>
                  <a:lnTo>
                    <a:pt x="0" y="0"/>
                  </a:lnTo>
                  <a:lnTo>
                    <a:pt x="0" y="6857631"/>
                  </a:lnTo>
                  <a:lnTo>
                    <a:pt x="6094806" y="6857631"/>
                  </a:lnTo>
                  <a:lnTo>
                    <a:pt x="12189599" y="6857631"/>
                  </a:lnTo>
                  <a:lnTo>
                    <a:pt x="12189599" y="0"/>
                  </a:lnTo>
                  <a:close/>
                </a:path>
              </a:pathLst>
            </a:custGeom>
            <a:solidFill>
              <a:srgbClr val="222021"/>
            </a:solidFill>
          </p:spPr>
          <p:txBody>
            <a:bodyPr wrap="square" lIns="0" tIns="0" rIns="0" bIns="0" rtlCol="0"/>
            <a:lstStyle/>
            <a:p>
              <a:endParaRPr dirty="0"/>
            </a:p>
          </p:txBody>
        </p:sp>
        <p:sp>
          <p:nvSpPr>
            <p:cNvPr id="4" name="object 4">
              <a:extLst>
                <a:ext uri="{FF2B5EF4-FFF2-40B4-BE49-F238E27FC236}">
                  <a16:creationId xmlns:a16="http://schemas.microsoft.com/office/drawing/2014/main" id="{4ACFB030-3BB5-9D04-A7FD-B72476818703}"/>
                </a:ext>
              </a:extLst>
            </p:cNvPr>
            <p:cNvSpPr/>
            <p:nvPr/>
          </p:nvSpPr>
          <p:spPr>
            <a:xfrm>
              <a:off x="191160" y="-355"/>
              <a:ext cx="1515110" cy="1026160"/>
            </a:xfrm>
            <a:custGeom>
              <a:avLst/>
              <a:gdLst/>
              <a:ahLst/>
              <a:cxnLst/>
              <a:rect l="l" t="t" r="r" b="b"/>
              <a:pathLst>
                <a:path w="1515110" h="1026160">
                  <a:moveTo>
                    <a:pt x="1514881" y="0"/>
                  </a:moveTo>
                  <a:lnTo>
                    <a:pt x="0" y="0"/>
                  </a:lnTo>
                  <a:lnTo>
                    <a:pt x="0" y="1025639"/>
                  </a:lnTo>
                  <a:lnTo>
                    <a:pt x="757440" y="1025639"/>
                  </a:lnTo>
                  <a:lnTo>
                    <a:pt x="1514881" y="1025639"/>
                  </a:lnTo>
                  <a:lnTo>
                    <a:pt x="1514881" y="0"/>
                  </a:lnTo>
                  <a:close/>
                </a:path>
              </a:pathLst>
            </a:custGeom>
            <a:solidFill>
              <a:srgbClr val="453E31"/>
            </a:solidFill>
          </p:spPr>
          <p:txBody>
            <a:bodyPr wrap="square" lIns="0" tIns="0" rIns="0" bIns="0" rtlCol="0"/>
            <a:lstStyle/>
            <a:p>
              <a:endParaRPr/>
            </a:p>
          </p:txBody>
        </p:sp>
      </p:grpSp>
      <p:sp>
        <p:nvSpPr>
          <p:cNvPr id="5" name="object 5">
            <a:extLst>
              <a:ext uri="{FF2B5EF4-FFF2-40B4-BE49-F238E27FC236}">
                <a16:creationId xmlns:a16="http://schemas.microsoft.com/office/drawing/2014/main" id="{35C3EE21-CC99-FFEE-31C5-7644A9368D22}"/>
              </a:ext>
            </a:extLst>
          </p:cNvPr>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FEA Results and Validation</a:t>
            </a:r>
          </a:p>
        </p:txBody>
      </p:sp>
      <p:grpSp>
        <p:nvGrpSpPr>
          <p:cNvPr id="6" name="object 6">
            <a:extLst>
              <a:ext uri="{FF2B5EF4-FFF2-40B4-BE49-F238E27FC236}">
                <a16:creationId xmlns:a16="http://schemas.microsoft.com/office/drawing/2014/main" id="{40D68125-D774-4B57-B255-81DEBA29BD23}"/>
              </a:ext>
            </a:extLst>
          </p:cNvPr>
          <p:cNvGrpSpPr/>
          <p:nvPr/>
        </p:nvGrpSpPr>
        <p:grpSpPr>
          <a:xfrm>
            <a:off x="360362" y="762000"/>
            <a:ext cx="11469370" cy="5721350"/>
            <a:chOff x="360362" y="793927"/>
            <a:chExt cx="11469370" cy="5721350"/>
          </a:xfrm>
        </p:grpSpPr>
        <p:sp>
          <p:nvSpPr>
            <p:cNvPr id="7" name="object 7">
              <a:extLst>
                <a:ext uri="{FF2B5EF4-FFF2-40B4-BE49-F238E27FC236}">
                  <a16:creationId xmlns:a16="http://schemas.microsoft.com/office/drawing/2014/main" id="{661CC664-50EA-FDA1-6C78-96D87D0150A0}"/>
                </a:ext>
              </a:extLst>
            </p:cNvPr>
            <p:cNvSpPr/>
            <p:nvPr/>
          </p:nvSpPr>
          <p:spPr>
            <a:xfrm>
              <a:off x="1287005" y="800277"/>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sp>
          <p:nvSpPr>
            <p:cNvPr id="8" name="object 8">
              <a:extLst>
                <a:ext uri="{FF2B5EF4-FFF2-40B4-BE49-F238E27FC236}">
                  <a16:creationId xmlns:a16="http://schemas.microsoft.com/office/drawing/2014/main" id="{F4DD3C42-AE5F-8A74-F3B2-DF8A9678FEF2}"/>
                </a:ext>
              </a:extLst>
            </p:cNvPr>
            <p:cNvSpPr/>
            <p:nvPr/>
          </p:nvSpPr>
          <p:spPr>
            <a:xfrm>
              <a:off x="360362" y="1436039"/>
              <a:ext cx="11469370" cy="5079365"/>
            </a:xfrm>
            <a:custGeom>
              <a:avLst/>
              <a:gdLst/>
              <a:ahLst/>
              <a:cxnLst/>
              <a:rect l="l" t="t" r="r" b="b"/>
              <a:pathLst>
                <a:path w="11469370" h="5079365">
                  <a:moveTo>
                    <a:pt x="11468874" y="0"/>
                  </a:moveTo>
                  <a:lnTo>
                    <a:pt x="0" y="0"/>
                  </a:lnTo>
                  <a:lnTo>
                    <a:pt x="0" y="5079238"/>
                  </a:lnTo>
                  <a:lnTo>
                    <a:pt x="5734443" y="5079238"/>
                  </a:lnTo>
                  <a:lnTo>
                    <a:pt x="11468874" y="5079238"/>
                  </a:lnTo>
                  <a:lnTo>
                    <a:pt x="11468874" y="0"/>
                  </a:lnTo>
                  <a:close/>
                </a:path>
              </a:pathLst>
            </a:custGeom>
            <a:solidFill>
              <a:srgbClr val="453E31"/>
            </a:solidFill>
          </p:spPr>
          <p:txBody>
            <a:bodyPr wrap="square" lIns="0" tIns="0" rIns="0" bIns="0" rtlCol="0"/>
            <a:lstStyle/>
            <a:p>
              <a:endParaRPr/>
            </a:p>
          </p:txBody>
        </p:sp>
        <p:sp>
          <p:nvSpPr>
            <p:cNvPr id="9" name="object 9">
              <a:extLst>
                <a:ext uri="{FF2B5EF4-FFF2-40B4-BE49-F238E27FC236}">
                  <a16:creationId xmlns:a16="http://schemas.microsoft.com/office/drawing/2014/main" id="{BDBABADA-9EAF-57E4-5ED3-AB3927F1F1A6}"/>
                </a:ext>
              </a:extLst>
            </p:cNvPr>
            <p:cNvSpPr/>
            <p:nvPr/>
          </p:nvSpPr>
          <p:spPr>
            <a:xfrm>
              <a:off x="1429194" y="2228405"/>
              <a:ext cx="2653665" cy="1346200"/>
            </a:xfrm>
            <a:custGeom>
              <a:avLst/>
              <a:gdLst/>
              <a:ahLst/>
              <a:cxnLst/>
              <a:rect l="l" t="t" r="r" b="b"/>
              <a:pathLst>
                <a:path w="2653665" h="1346200">
                  <a:moveTo>
                    <a:pt x="2653207" y="0"/>
                  </a:moveTo>
                  <a:lnTo>
                    <a:pt x="0" y="0"/>
                  </a:lnTo>
                  <a:lnTo>
                    <a:pt x="0" y="1345679"/>
                  </a:lnTo>
                  <a:lnTo>
                    <a:pt x="1326603" y="1345679"/>
                  </a:lnTo>
                  <a:lnTo>
                    <a:pt x="2653207" y="1345679"/>
                  </a:lnTo>
                  <a:lnTo>
                    <a:pt x="2653207" y="0"/>
                  </a:lnTo>
                  <a:close/>
                </a:path>
              </a:pathLst>
            </a:custGeom>
            <a:solidFill>
              <a:srgbClr val="22202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E3C27337-4E7F-BA1A-39E5-AFBA865D7F2F}"/>
              </a:ext>
            </a:extLst>
          </p:cNvPr>
          <p:cNvSpPr txBox="1"/>
          <p:nvPr/>
        </p:nvSpPr>
        <p:spPr>
          <a:xfrm>
            <a:off x="162875" y="1014473"/>
            <a:ext cx="2572976" cy="4616648"/>
          </a:xfrm>
          <a:prstGeom prst="rect">
            <a:avLst/>
          </a:prstGeom>
          <a:noFill/>
        </p:spPr>
        <p:txBody>
          <a:bodyPr wrap="square" rtlCol="0">
            <a:spAutoFit/>
          </a:bodyPr>
          <a:lstStyle/>
          <a:p>
            <a:pPr>
              <a:buNone/>
            </a:pPr>
            <a:r>
              <a:rPr lang="en-US" sz="1400" dirty="0">
                <a:solidFill>
                  <a:schemeClr val="bg1"/>
                </a:solidFill>
              </a:rPr>
              <a:t>A structured three-step meshing process was used to balance simulation accuracy with computational efficiency:</a:t>
            </a:r>
          </a:p>
          <a:p>
            <a:pPr>
              <a:buFont typeface="+mj-lt"/>
              <a:buAutoNum type="arabicPeriod"/>
            </a:pPr>
            <a:r>
              <a:rPr lang="en-US" sz="1400" b="1" u="sng" dirty="0">
                <a:solidFill>
                  <a:schemeClr val="bg1"/>
                </a:solidFill>
              </a:rPr>
              <a:t>Initial Low-Quality Mesh</a:t>
            </a:r>
          </a:p>
          <a:p>
            <a:pPr>
              <a:buFont typeface="+mj-lt"/>
              <a:buAutoNum type="arabicPeriod"/>
            </a:pPr>
            <a:endParaRPr lang="en-US" sz="1400" dirty="0">
              <a:solidFill>
                <a:schemeClr val="bg1"/>
              </a:solidFill>
            </a:endParaRPr>
          </a:p>
          <a:p>
            <a:pPr marL="742950" lvl="1" indent="-285750">
              <a:buFont typeface="+mj-lt"/>
              <a:buAutoNum type="arabicPeriod"/>
            </a:pPr>
            <a:r>
              <a:rPr lang="en-US" sz="1400" dirty="0">
                <a:solidFill>
                  <a:schemeClr val="bg1"/>
                </a:solidFill>
              </a:rPr>
              <a:t>Applied a coarse mesh for a quick, low-cost preliminary analysis</a:t>
            </a:r>
          </a:p>
          <a:p>
            <a:pPr marL="742950" lvl="1" indent="-285750">
              <a:buFont typeface="+mj-lt"/>
              <a:buAutoNum type="arabicPeriod"/>
            </a:pPr>
            <a:endParaRPr lang="en-US" sz="1400" dirty="0">
              <a:solidFill>
                <a:schemeClr val="bg1"/>
              </a:solidFill>
            </a:endParaRPr>
          </a:p>
          <a:p>
            <a:pPr marL="742950" lvl="1" indent="-285750">
              <a:buFont typeface="+mj-lt"/>
              <a:buAutoNum type="arabicPeriod"/>
            </a:pPr>
            <a:r>
              <a:rPr lang="en-US" sz="1400" dirty="0">
                <a:solidFill>
                  <a:schemeClr val="bg1"/>
                </a:solidFill>
              </a:rPr>
              <a:t>Helped identify critical stress areas for further refinement</a:t>
            </a:r>
          </a:p>
          <a:p>
            <a:pPr marL="742950" lvl="1" indent="-285750">
              <a:buFont typeface="+mj-lt"/>
              <a:buAutoNum type="arabicPeriod"/>
            </a:pPr>
            <a:endParaRPr lang="en-US" sz="1400" dirty="0">
              <a:solidFill>
                <a:schemeClr val="bg1"/>
              </a:solidFill>
            </a:endParaRPr>
          </a:p>
          <a:p>
            <a:r>
              <a:rPr lang="en-US" sz="1400" dirty="0">
                <a:solidFill>
                  <a:schemeClr val="bg1"/>
                </a:solidFill>
              </a:rPr>
              <a:t>Further refinement steps follow this stage to improve detail in key regions while managing simulation load.</a:t>
            </a:r>
          </a:p>
          <a:p>
            <a:endParaRPr lang="en-US" sz="1400" dirty="0">
              <a:solidFill>
                <a:schemeClr val="bg1"/>
              </a:solidFill>
            </a:endParaRPr>
          </a:p>
        </p:txBody>
      </p:sp>
      <p:pic>
        <p:nvPicPr>
          <p:cNvPr id="23" name="Picture 22">
            <a:extLst>
              <a:ext uri="{FF2B5EF4-FFF2-40B4-BE49-F238E27FC236}">
                <a16:creationId xmlns:a16="http://schemas.microsoft.com/office/drawing/2014/main" id="{EF3F7E38-E418-E93C-7DEB-E5D0EB7A8822}"/>
              </a:ext>
            </a:extLst>
          </p:cNvPr>
          <p:cNvPicPr>
            <a:picLocks noChangeAspect="1"/>
          </p:cNvPicPr>
          <p:nvPr/>
        </p:nvPicPr>
        <p:blipFill>
          <a:blip r:embed="rId2"/>
          <a:stretch>
            <a:fillRect/>
          </a:stretch>
        </p:blipFill>
        <p:spPr>
          <a:xfrm>
            <a:off x="5065335" y="1862169"/>
            <a:ext cx="3363955" cy="3822677"/>
          </a:xfrm>
          <a:prstGeom prst="rect">
            <a:avLst/>
          </a:prstGeom>
        </p:spPr>
      </p:pic>
      <p:pic>
        <p:nvPicPr>
          <p:cNvPr id="25" name="Picture 24">
            <a:extLst>
              <a:ext uri="{FF2B5EF4-FFF2-40B4-BE49-F238E27FC236}">
                <a16:creationId xmlns:a16="http://schemas.microsoft.com/office/drawing/2014/main" id="{876CADE3-0FC9-C835-53A7-898468986900}"/>
              </a:ext>
            </a:extLst>
          </p:cNvPr>
          <p:cNvPicPr>
            <a:picLocks noChangeAspect="1"/>
          </p:cNvPicPr>
          <p:nvPr/>
        </p:nvPicPr>
        <p:blipFill>
          <a:blip r:embed="rId3"/>
          <a:stretch>
            <a:fillRect/>
          </a:stretch>
        </p:blipFill>
        <p:spPr>
          <a:xfrm>
            <a:off x="2625657" y="4273108"/>
            <a:ext cx="2409524" cy="2076190"/>
          </a:xfrm>
          <a:prstGeom prst="rect">
            <a:avLst/>
          </a:prstGeom>
        </p:spPr>
      </p:pic>
      <p:pic>
        <p:nvPicPr>
          <p:cNvPr id="10" name="Picture 9">
            <a:extLst>
              <a:ext uri="{FF2B5EF4-FFF2-40B4-BE49-F238E27FC236}">
                <a16:creationId xmlns:a16="http://schemas.microsoft.com/office/drawing/2014/main" id="{21720C1A-9369-05BC-61ED-CDAC1326015D}"/>
              </a:ext>
            </a:extLst>
          </p:cNvPr>
          <p:cNvPicPr>
            <a:picLocks noChangeAspect="1"/>
          </p:cNvPicPr>
          <p:nvPr/>
        </p:nvPicPr>
        <p:blipFill>
          <a:blip r:embed="rId4"/>
          <a:stretch>
            <a:fillRect/>
          </a:stretch>
        </p:blipFill>
        <p:spPr>
          <a:xfrm>
            <a:off x="2956565" y="1824346"/>
            <a:ext cx="1609524" cy="2342857"/>
          </a:xfrm>
          <a:prstGeom prst="rect">
            <a:avLst/>
          </a:prstGeom>
        </p:spPr>
      </p:pic>
      <p:pic>
        <p:nvPicPr>
          <p:cNvPr id="11" name="Picture 10">
            <a:extLst>
              <a:ext uri="{FF2B5EF4-FFF2-40B4-BE49-F238E27FC236}">
                <a16:creationId xmlns:a16="http://schemas.microsoft.com/office/drawing/2014/main" id="{5E0CA5D5-07AD-0BD4-49F9-C44A6832E534}"/>
              </a:ext>
            </a:extLst>
          </p:cNvPr>
          <p:cNvPicPr>
            <a:picLocks noChangeAspect="1"/>
          </p:cNvPicPr>
          <p:nvPr/>
        </p:nvPicPr>
        <p:blipFill>
          <a:blip r:embed="rId5"/>
          <a:stretch>
            <a:fillRect/>
          </a:stretch>
        </p:blipFill>
        <p:spPr>
          <a:xfrm>
            <a:off x="8497818" y="1862169"/>
            <a:ext cx="3416168" cy="3806775"/>
          </a:xfrm>
          <a:prstGeom prst="rect">
            <a:avLst/>
          </a:prstGeom>
        </p:spPr>
      </p:pic>
    </p:spTree>
    <p:extLst>
      <p:ext uri="{BB962C8B-B14F-4D97-AF65-F5344CB8AC3E}">
        <p14:creationId xmlns:p14="http://schemas.microsoft.com/office/powerpoint/2010/main" val="677817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4EA19-E459-A171-0FA7-6DBB48A386C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3DEEBFBF-5CA5-BCCD-B48D-A98CB42CD7F9}"/>
              </a:ext>
            </a:extLst>
          </p:cNvPr>
          <p:cNvGrpSpPr/>
          <p:nvPr/>
        </p:nvGrpSpPr>
        <p:grpSpPr>
          <a:xfrm>
            <a:off x="1905" y="0"/>
            <a:ext cx="12190095" cy="6858000"/>
            <a:chOff x="0" y="-355"/>
            <a:chExt cx="12190095" cy="6858000"/>
          </a:xfrm>
        </p:grpSpPr>
        <p:sp>
          <p:nvSpPr>
            <p:cNvPr id="3" name="object 3">
              <a:extLst>
                <a:ext uri="{FF2B5EF4-FFF2-40B4-BE49-F238E27FC236}">
                  <a16:creationId xmlns:a16="http://schemas.microsoft.com/office/drawing/2014/main" id="{2FCB2063-2E74-E31C-571C-C46480BC123C}"/>
                </a:ext>
              </a:extLst>
            </p:cNvPr>
            <p:cNvSpPr/>
            <p:nvPr/>
          </p:nvSpPr>
          <p:spPr>
            <a:xfrm>
              <a:off x="0" y="-355"/>
              <a:ext cx="12190095" cy="6858000"/>
            </a:xfrm>
            <a:custGeom>
              <a:avLst/>
              <a:gdLst/>
              <a:ahLst/>
              <a:cxnLst/>
              <a:rect l="l" t="t" r="r" b="b"/>
              <a:pathLst>
                <a:path w="12190095" h="6858000">
                  <a:moveTo>
                    <a:pt x="12189599" y="0"/>
                  </a:moveTo>
                  <a:lnTo>
                    <a:pt x="0" y="0"/>
                  </a:lnTo>
                  <a:lnTo>
                    <a:pt x="0" y="6857631"/>
                  </a:lnTo>
                  <a:lnTo>
                    <a:pt x="6094806" y="6857631"/>
                  </a:lnTo>
                  <a:lnTo>
                    <a:pt x="12189599" y="6857631"/>
                  </a:lnTo>
                  <a:lnTo>
                    <a:pt x="12189599" y="0"/>
                  </a:lnTo>
                  <a:close/>
                </a:path>
              </a:pathLst>
            </a:custGeom>
            <a:solidFill>
              <a:srgbClr val="222021"/>
            </a:solidFill>
          </p:spPr>
          <p:txBody>
            <a:bodyPr wrap="square" lIns="0" tIns="0" rIns="0" bIns="0" rtlCol="0"/>
            <a:lstStyle/>
            <a:p>
              <a:endParaRPr dirty="0"/>
            </a:p>
          </p:txBody>
        </p:sp>
        <p:sp>
          <p:nvSpPr>
            <p:cNvPr id="4" name="object 4">
              <a:extLst>
                <a:ext uri="{FF2B5EF4-FFF2-40B4-BE49-F238E27FC236}">
                  <a16:creationId xmlns:a16="http://schemas.microsoft.com/office/drawing/2014/main" id="{29A79497-C799-1B0E-A7AD-B5D0E6C0D4D5}"/>
                </a:ext>
              </a:extLst>
            </p:cNvPr>
            <p:cNvSpPr/>
            <p:nvPr/>
          </p:nvSpPr>
          <p:spPr>
            <a:xfrm>
              <a:off x="191160" y="-355"/>
              <a:ext cx="1515110" cy="1026160"/>
            </a:xfrm>
            <a:custGeom>
              <a:avLst/>
              <a:gdLst/>
              <a:ahLst/>
              <a:cxnLst/>
              <a:rect l="l" t="t" r="r" b="b"/>
              <a:pathLst>
                <a:path w="1515110" h="1026160">
                  <a:moveTo>
                    <a:pt x="1514881" y="0"/>
                  </a:moveTo>
                  <a:lnTo>
                    <a:pt x="0" y="0"/>
                  </a:lnTo>
                  <a:lnTo>
                    <a:pt x="0" y="1025639"/>
                  </a:lnTo>
                  <a:lnTo>
                    <a:pt x="757440" y="1025639"/>
                  </a:lnTo>
                  <a:lnTo>
                    <a:pt x="1514881" y="1025639"/>
                  </a:lnTo>
                  <a:lnTo>
                    <a:pt x="1514881" y="0"/>
                  </a:lnTo>
                  <a:close/>
                </a:path>
              </a:pathLst>
            </a:custGeom>
            <a:solidFill>
              <a:srgbClr val="453E31"/>
            </a:solidFill>
          </p:spPr>
          <p:txBody>
            <a:bodyPr wrap="square" lIns="0" tIns="0" rIns="0" bIns="0" rtlCol="0"/>
            <a:lstStyle/>
            <a:p>
              <a:endParaRPr/>
            </a:p>
          </p:txBody>
        </p:sp>
      </p:grpSp>
      <p:sp>
        <p:nvSpPr>
          <p:cNvPr id="5" name="object 5">
            <a:extLst>
              <a:ext uri="{FF2B5EF4-FFF2-40B4-BE49-F238E27FC236}">
                <a16:creationId xmlns:a16="http://schemas.microsoft.com/office/drawing/2014/main" id="{8C3CF455-9264-6F99-6553-93362CD65774}"/>
              </a:ext>
            </a:extLst>
          </p:cNvPr>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FEA Results and Validation</a:t>
            </a:r>
          </a:p>
        </p:txBody>
      </p:sp>
      <p:grpSp>
        <p:nvGrpSpPr>
          <p:cNvPr id="6" name="object 6">
            <a:extLst>
              <a:ext uri="{FF2B5EF4-FFF2-40B4-BE49-F238E27FC236}">
                <a16:creationId xmlns:a16="http://schemas.microsoft.com/office/drawing/2014/main" id="{CBA00AB1-2857-7F59-7802-F8B51901572B}"/>
              </a:ext>
            </a:extLst>
          </p:cNvPr>
          <p:cNvGrpSpPr/>
          <p:nvPr/>
        </p:nvGrpSpPr>
        <p:grpSpPr>
          <a:xfrm>
            <a:off x="361315" y="762000"/>
            <a:ext cx="11469370" cy="5721350"/>
            <a:chOff x="360362" y="793927"/>
            <a:chExt cx="11469370" cy="5721350"/>
          </a:xfrm>
        </p:grpSpPr>
        <p:sp>
          <p:nvSpPr>
            <p:cNvPr id="7" name="object 7">
              <a:extLst>
                <a:ext uri="{FF2B5EF4-FFF2-40B4-BE49-F238E27FC236}">
                  <a16:creationId xmlns:a16="http://schemas.microsoft.com/office/drawing/2014/main" id="{ED48EA97-3425-8EFC-6474-6173F2FFD708}"/>
                </a:ext>
              </a:extLst>
            </p:cNvPr>
            <p:cNvSpPr/>
            <p:nvPr/>
          </p:nvSpPr>
          <p:spPr>
            <a:xfrm>
              <a:off x="1287005" y="800277"/>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sp>
          <p:nvSpPr>
            <p:cNvPr id="8" name="object 8">
              <a:extLst>
                <a:ext uri="{FF2B5EF4-FFF2-40B4-BE49-F238E27FC236}">
                  <a16:creationId xmlns:a16="http://schemas.microsoft.com/office/drawing/2014/main" id="{D23AF62E-B6D2-3922-877B-C05AA4384A69}"/>
                </a:ext>
              </a:extLst>
            </p:cNvPr>
            <p:cNvSpPr/>
            <p:nvPr/>
          </p:nvSpPr>
          <p:spPr>
            <a:xfrm>
              <a:off x="360362" y="1436039"/>
              <a:ext cx="11469370" cy="5079365"/>
            </a:xfrm>
            <a:custGeom>
              <a:avLst/>
              <a:gdLst/>
              <a:ahLst/>
              <a:cxnLst/>
              <a:rect l="l" t="t" r="r" b="b"/>
              <a:pathLst>
                <a:path w="11469370" h="5079365">
                  <a:moveTo>
                    <a:pt x="11468874" y="0"/>
                  </a:moveTo>
                  <a:lnTo>
                    <a:pt x="0" y="0"/>
                  </a:lnTo>
                  <a:lnTo>
                    <a:pt x="0" y="5079238"/>
                  </a:lnTo>
                  <a:lnTo>
                    <a:pt x="5734443" y="5079238"/>
                  </a:lnTo>
                  <a:lnTo>
                    <a:pt x="11468874" y="5079238"/>
                  </a:lnTo>
                  <a:lnTo>
                    <a:pt x="11468874" y="0"/>
                  </a:lnTo>
                  <a:close/>
                </a:path>
              </a:pathLst>
            </a:custGeom>
            <a:solidFill>
              <a:srgbClr val="453E31"/>
            </a:solidFill>
          </p:spPr>
          <p:txBody>
            <a:bodyPr wrap="square" lIns="0" tIns="0" rIns="0" bIns="0" rtlCol="0"/>
            <a:lstStyle/>
            <a:p>
              <a:endParaRPr/>
            </a:p>
          </p:txBody>
        </p:sp>
        <p:sp>
          <p:nvSpPr>
            <p:cNvPr id="9" name="object 9">
              <a:extLst>
                <a:ext uri="{FF2B5EF4-FFF2-40B4-BE49-F238E27FC236}">
                  <a16:creationId xmlns:a16="http://schemas.microsoft.com/office/drawing/2014/main" id="{5F174837-1D2D-58B2-D465-F9290AA2DEE5}"/>
                </a:ext>
              </a:extLst>
            </p:cNvPr>
            <p:cNvSpPr/>
            <p:nvPr/>
          </p:nvSpPr>
          <p:spPr>
            <a:xfrm>
              <a:off x="1429194" y="2228405"/>
              <a:ext cx="2653665" cy="1346200"/>
            </a:xfrm>
            <a:custGeom>
              <a:avLst/>
              <a:gdLst/>
              <a:ahLst/>
              <a:cxnLst/>
              <a:rect l="l" t="t" r="r" b="b"/>
              <a:pathLst>
                <a:path w="2653665" h="1346200">
                  <a:moveTo>
                    <a:pt x="2653207" y="0"/>
                  </a:moveTo>
                  <a:lnTo>
                    <a:pt x="0" y="0"/>
                  </a:lnTo>
                  <a:lnTo>
                    <a:pt x="0" y="1345679"/>
                  </a:lnTo>
                  <a:lnTo>
                    <a:pt x="1326603" y="1345679"/>
                  </a:lnTo>
                  <a:lnTo>
                    <a:pt x="2653207" y="1345679"/>
                  </a:lnTo>
                  <a:lnTo>
                    <a:pt x="2653207" y="0"/>
                  </a:lnTo>
                  <a:close/>
                </a:path>
              </a:pathLst>
            </a:custGeom>
            <a:solidFill>
              <a:srgbClr val="22202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189FD6A6-0D64-EF3F-2005-48D941DF614E}"/>
              </a:ext>
            </a:extLst>
          </p:cNvPr>
          <p:cNvSpPr txBox="1"/>
          <p:nvPr/>
        </p:nvSpPr>
        <p:spPr>
          <a:xfrm>
            <a:off x="250101" y="1269465"/>
            <a:ext cx="2958465" cy="3916265"/>
          </a:xfrm>
          <a:prstGeom prst="rect">
            <a:avLst/>
          </a:prstGeom>
          <a:noFill/>
        </p:spPr>
        <p:txBody>
          <a:bodyPr wrap="square" rtlCol="0">
            <a:spAutoFit/>
          </a:bodyPr>
          <a:lstStyle/>
          <a:p>
            <a:pPr marR="0" lvl="0" algn="l">
              <a:lnSpc>
                <a:spcPct val="150000"/>
              </a:lnSpc>
              <a:spcBef>
                <a:spcPts val="600"/>
              </a:spcBef>
              <a:spcAft>
                <a:spcPts val="600"/>
              </a:spcAft>
              <a:tabLst>
                <a:tab pos="457200" algn="l"/>
              </a:tabLst>
            </a:pPr>
            <a:r>
              <a:rPr lang="en-US" sz="1400" b="1" u="sng"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2. High-Quality Global Mesh Refinement</a:t>
            </a:r>
            <a:endParaRPr lang="en-US" sz="1400" u="sng"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pPr marL="742950" marR="0" lvl="1" indent="-285750" algn="l">
              <a:lnSpc>
                <a:spcPct val="150000"/>
              </a:lnSpc>
              <a:spcBef>
                <a:spcPts val="600"/>
              </a:spcBef>
              <a:spcAft>
                <a:spcPts val="600"/>
              </a:spcAft>
              <a:buSzPts val="1000"/>
              <a:buFont typeface="Courier New" panose="02070309020205020404" pitchFamily="49" charset="0"/>
              <a:buChar char="o"/>
              <a:tabLst>
                <a:tab pos="914400" algn="l"/>
              </a:tabLst>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 mesh was then globally refined to improve the resolution of stress and strain distribution.</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gn="l">
              <a:lnSpc>
                <a:spcPct val="150000"/>
              </a:lnSpc>
              <a:spcBef>
                <a:spcPts val="600"/>
              </a:spcBef>
              <a:spcAft>
                <a:spcPts val="600"/>
              </a:spcAft>
              <a:buSzPts val="1000"/>
              <a:buFont typeface="Courier New" panose="02070309020205020404" pitchFamily="49" charset="0"/>
              <a:buChar char="o"/>
              <a:tabLst>
                <a:tab pos="914400" algn="l"/>
              </a:tabLst>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This step ensured that results became more accurate while maintaining an optimal element size across the model.</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98C7123A-15AD-32FE-9E9B-47C12A803F49}"/>
              </a:ext>
            </a:extLst>
          </p:cNvPr>
          <p:cNvPicPr>
            <a:picLocks noChangeAspect="1"/>
          </p:cNvPicPr>
          <p:nvPr/>
        </p:nvPicPr>
        <p:blipFill>
          <a:blip r:embed="rId2"/>
          <a:stretch>
            <a:fillRect/>
          </a:stretch>
        </p:blipFill>
        <p:spPr>
          <a:xfrm>
            <a:off x="3390476" y="1981199"/>
            <a:ext cx="4153323" cy="3705415"/>
          </a:xfrm>
          <a:prstGeom prst="rect">
            <a:avLst/>
          </a:prstGeom>
        </p:spPr>
      </p:pic>
      <p:pic>
        <p:nvPicPr>
          <p:cNvPr id="11" name="Picture 10">
            <a:extLst>
              <a:ext uri="{FF2B5EF4-FFF2-40B4-BE49-F238E27FC236}">
                <a16:creationId xmlns:a16="http://schemas.microsoft.com/office/drawing/2014/main" id="{FD721319-3103-7684-DC5A-62A6E554B447}"/>
              </a:ext>
            </a:extLst>
          </p:cNvPr>
          <p:cNvPicPr>
            <a:picLocks noChangeAspect="1"/>
          </p:cNvPicPr>
          <p:nvPr/>
        </p:nvPicPr>
        <p:blipFill>
          <a:blip r:embed="rId3"/>
          <a:stretch>
            <a:fillRect/>
          </a:stretch>
        </p:blipFill>
        <p:spPr>
          <a:xfrm>
            <a:off x="7655013" y="2009774"/>
            <a:ext cx="4050871" cy="3581400"/>
          </a:xfrm>
          <a:prstGeom prst="rect">
            <a:avLst/>
          </a:prstGeom>
        </p:spPr>
      </p:pic>
    </p:spTree>
    <p:extLst>
      <p:ext uri="{BB962C8B-B14F-4D97-AF65-F5344CB8AC3E}">
        <p14:creationId xmlns:p14="http://schemas.microsoft.com/office/powerpoint/2010/main" val="2505122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7FDBC-E876-EE3F-ECCB-8D5CA34AE1D8}"/>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289BF17E-260D-AA26-F0DE-168E1E16A484}"/>
              </a:ext>
            </a:extLst>
          </p:cNvPr>
          <p:cNvGrpSpPr/>
          <p:nvPr/>
        </p:nvGrpSpPr>
        <p:grpSpPr>
          <a:xfrm>
            <a:off x="1905" y="0"/>
            <a:ext cx="12190095" cy="6858000"/>
            <a:chOff x="0" y="-355"/>
            <a:chExt cx="12190095" cy="6858000"/>
          </a:xfrm>
        </p:grpSpPr>
        <p:sp>
          <p:nvSpPr>
            <p:cNvPr id="3" name="object 3">
              <a:extLst>
                <a:ext uri="{FF2B5EF4-FFF2-40B4-BE49-F238E27FC236}">
                  <a16:creationId xmlns:a16="http://schemas.microsoft.com/office/drawing/2014/main" id="{4F0A6829-EAC1-E8B3-4178-1A9EC9ED545E}"/>
                </a:ext>
              </a:extLst>
            </p:cNvPr>
            <p:cNvSpPr/>
            <p:nvPr/>
          </p:nvSpPr>
          <p:spPr>
            <a:xfrm>
              <a:off x="0" y="-355"/>
              <a:ext cx="12190095" cy="6858000"/>
            </a:xfrm>
            <a:custGeom>
              <a:avLst/>
              <a:gdLst/>
              <a:ahLst/>
              <a:cxnLst/>
              <a:rect l="l" t="t" r="r" b="b"/>
              <a:pathLst>
                <a:path w="12190095" h="6858000">
                  <a:moveTo>
                    <a:pt x="12189599" y="0"/>
                  </a:moveTo>
                  <a:lnTo>
                    <a:pt x="0" y="0"/>
                  </a:lnTo>
                  <a:lnTo>
                    <a:pt x="0" y="6857631"/>
                  </a:lnTo>
                  <a:lnTo>
                    <a:pt x="6094806" y="6857631"/>
                  </a:lnTo>
                  <a:lnTo>
                    <a:pt x="12189599" y="6857631"/>
                  </a:lnTo>
                  <a:lnTo>
                    <a:pt x="12189599" y="0"/>
                  </a:lnTo>
                  <a:close/>
                </a:path>
              </a:pathLst>
            </a:custGeom>
            <a:solidFill>
              <a:srgbClr val="222021"/>
            </a:solidFill>
          </p:spPr>
          <p:txBody>
            <a:bodyPr wrap="square" lIns="0" tIns="0" rIns="0" bIns="0" rtlCol="0"/>
            <a:lstStyle/>
            <a:p>
              <a:endParaRPr dirty="0"/>
            </a:p>
          </p:txBody>
        </p:sp>
        <p:sp>
          <p:nvSpPr>
            <p:cNvPr id="4" name="object 4">
              <a:extLst>
                <a:ext uri="{FF2B5EF4-FFF2-40B4-BE49-F238E27FC236}">
                  <a16:creationId xmlns:a16="http://schemas.microsoft.com/office/drawing/2014/main" id="{29E4E6AF-44B1-1A05-EB41-9B479BA7253F}"/>
                </a:ext>
              </a:extLst>
            </p:cNvPr>
            <p:cNvSpPr/>
            <p:nvPr/>
          </p:nvSpPr>
          <p:spPr>
            <a:xfrm>
              <a:off x="191160" y="-355"/>
              <a:ext cx="1515110" cy="1026160"/>
            </a:xfrm>
            <a:custGeom>
              <a:avLst/>
              <a:gdLst/>
              <a:ahLst/>
              <a:cxnLst/>
              <a:rect l="l" t="t" r="r" b="b"/>
              <a:pathLst>
                <a:path w="1515110" h="1026160">
                  <a:moveTo>
                    <a:pt x="1514881" y="0"/>
                  </a:moveTo>
                  <a:lnTo>
                    <a:pt x="0" y="0"/>
                  </a:lnTo>
                  <a:lnTo>
                    <a:pt x="0" y="1025639"/>
                  </a:lnTo>
                  <a:lnTo>
                    <a:pt x="757440" y="1025639"/>
                  </a:lnTo>
                  <a:lnTo>
                    <a:pt x="1514881" y="1025639"/>
                  </a:lnTo>
                  <a:lnTo>
                    <a:pt x="1514881" y="0"/>
                  </a:lnTo>
                  <a:close/>
                </a:path>
              </a:pathLst>
            </a:custGeom>
            <a:solidFill>
              <a:srgbClr val="453E31"/>
            </a:solidFill>
          </p:spPr>
          <p:txBody>
            <a:bodyPr wrap="square" lIns="0" tIns="0" rIns="0" bIns="0" rtlCol="0"/>
            <a:lstStyle/>
            <a:p>
              <a:endParaRPr/>
            </a:p>
          </p:txBody>
        </p:sp>
      </p:grpSp>
      <p:sp>
        <p:nvSpPr>
          <p:cNvPr id="5" name="object 5">
            <a:extLst>
              <a:ext uri="{FF2B5EF4-FFF2-40B4-BE49-F238E27FC236}">
                <a16:creationId xmlns:a16="http://schemas.microsoft.com/office/drawing/2014/main" id="{00964616-14CA-FAD6-E328-436FCC602750}"/>
              </a:ext>
            </a:extLst>
          </p:cNvPr>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FEA Results and Validation</a:t>
            </a:r>
          </a:p>
        </p:txBody>
      </p:sp>
      <p:grpSp>
        <p:nvGrpSpPr>
          <p:cNvPr id="6" name="object 6">
            <a:extLst>
              <a:ext uri="{FF2B5EF4-FFF2-40B4-BE49-F238E27FC236}">
                <a16:creationId xmlns:a16="http://schemas.microsoft.com/office/drawing/2014/main" id="{F12CC90E-FF1B-CE74-7843-3483FAB44D32}"/>
              </a:ext>
            </a:extLst>
          </p:cNvPr>
          <p:cNvGrpSpPr/>
          <p:nvPr/>
        </p:nvGrpSpPr>
        <p:grpSpPr>
          <a:xfrm>
            <a:off x="361315" y="762000"/>
            <a:ext cx="11469370" cy="5721350"/>
            <a:chOff x="360362" y="793927"/>
            <a:chExt cx="11469370" cy="5721350"/>
          </a:xfrm>
        </p:grpSpPr>
        <p:sp>
          <p:nvSpPr>
            <p:cNvPr id="7" name="object 7">
              <a:extLst>
                <a:ext uri="{FF2B5EF4-FFF2-40B4-BE49-F238E27FC236}">
                  <a16:creationId xmlns:a16="http://schemas.microsoft.com/office/drawing/2014/main" id="{5106A5DB-56D3-E7EC-368E-F15E9ADC3B0C}"/>
                </a:ext>
              </a:extLst>
            </p:cNvPr>
            <p:cNvSpPr/>
            <p:nvPr/>
          </p:nvSpPr>
          <p:spPr>
            <a:xfrm>
              <a:off x="1287005" y="800277"/>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sp>
          <p:nvSpPr>
            <p:cNvPr id="8" name="object 8">
              <a:extLst>
                <a:ext uri="{FF2B5EF4-FFF2-40B4-BE49-F238E27FC236}">
                  <a16:creationId xmlns:a16="http://schemas.microsoft.com/office/drawing/2014/main" id="{9F42100B-7A21-3C3D-844D-387D3CD7457C}"/>
                </a:ext>
              </a:extLst>
            </p:cNvPr>
            <p:cNvSpPr/>
            <p:nvPr/>
          </p:nvSpPr>
          <p:spPr>
            <a:xfrm>
              <a:off x="360362" y="1436039"/>
              <a:ext cx="11469370" cy="5079365"/>
            </a:xfrm>
            <a:custGeom>
              <a:avLst/>
              <a:gdLst/>
              <a:ahLst/>
              <a:cxnLst/>
              <a:rect l="l" t="t" r="r" b="b"/>
              <a:pathLst>
                <a:path w="11469370" h="5079365">
                  <a:moveTo>
                    <a:pt x="11468874" y="0"/>
                  </a:moveTo>
                  <a:lnTo>
                    <a:pt x="0" y="0"/>
                  </a:lnTo>
                  <a:lnTo>
                    <a:pt x="0" y="5079238"/>
                  </a:lnTo>
                  <a:lnTo>
                    <a:pt x="5734443" y="5079238"/>
                  </a:lnTo>
                  <a:lnTo>
                    <a:pt x="11468874" y="5079238"/>
                  </a:lnTo>
                  <a:lnTo>
                    <a:pt x="11468874" y="0"/>
                  </a:lnTo>
                  <a:close/>
                </a:path>
              </a:pathLst>
            </a:custGeom>
            <a:solidFill>
              <a:srgbClr val="453E31"/>
            </a:solidFill>
          </p:spPr>
          <p:txBody>
            <a:bodyPr wrap="square" lIns="0" tIns="0" rIns="0" bIns="0" rtlCol="0"/>
            <a:lstStyle/>
            <a:p>
              <a:endParaRPr/>
            </a:p>
          </p:txBody>
        </p:sp>
        <p:sp>
          <p:nvSpPr>
            <p:cNvPr id="9" name="object 9">
              <a:extLst>
                <a:ext uri="{FF2B5EF4-FFF2-40B4-BE49-F238E27FC236}">
                  <a16:creationId xmlns:a16="http://schemas.microsoft.com/office/drawing/2014/main" id="{2BC05EBE-A96B-491E-B1AB-0930B1394656}"/>
                </a:ext>
              </a:extLst>
            </p:cNvPr>
            <p:cNvSpPr/>
            <p:nvPr/>
          </p:nvSpPr>
          <p:spPr>
            <a:xfrm>
              <a:off x="1429194" y="2228405"/>
              <a:ext cx="2653665" cy="1346200"/>
            </a:xfrm>
            <a:custGeom>
              <a:avLst/>
              <a:gdLst/>
              <a:ahLst/>
              <a:cxnLst/>
              <a:rect l="l" t="t" r="r" b="b"/>
              <a:pathLst>
                <a:path w="2653665" h="1346200">
                  <a:moveTo>
                    <a:pt x="2653207" y="0"/>
                  </a:moveTo>
                  <a:lnTo>
                    <a:pt x="0" y="0"/>
                  </a:lnTo>
                  <a:lnTo>
                    <a:pt x="0" y="1345679"/>
                  </a:lnTo>
                  <a:lnTo>
                    <a:pt x="1326603" y="1345679"/>
                  </a:lnTo>
                  <a:lnTo>
                    <a:pt x="2653207" y="1345679"/>
                  </a:lnTo>
                  <a:lnTo>
                    <a:pt x="2653207" y="0"/>
                  </a:lnTo>
                  <a:close/>
                </a:path>
              </a:pathLst>
            </a:custGeom>
            <a:solidFill>
              <a:srgbClr val="22202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F287BF25-4BF0-D1E7-2438-D874DB07BEFD}"/>
              </a:ext>
            </a:extLst>
          </p:cNvPr>
          <p:cNvSpPr txBox="1"/>
          <p:nvPr/>
        </p:nvSpPr>
        <p:spPr>
          <a:xfrm>
            <a:off x="250101" y="1269465"/>
            <a:ext cx="2958465" cy="3916265"/>
          </a:xfrm>
          <a:prstGeom prst="rect">
            <a:avLst/>
          </a:prstGeom>
          <a:noFill/>
        </p:spPr>
        <p:txBody>
          <a:bodyPr wrap="square" rtlCol="0">
            <a:spAutoFit/>
          </a:bodyPr>
          <a:lstStyle/>
          <a:p>
            <a:pPr marR="0" lvl="0" algn="l">
              <a:lnSpc>
                <a:spcPct val="150000"/>
              </a:lnSpc>
              <a:spcBef>
                <a:spcPts val="600"/>
              </a:spcBef>
              <a:spcAft>
                <a:spcPts val="600"/>
              </a:spcAft>
              <a:tabLst>
                <a:tab pos="457200" algn="l"/>
              </a:tabLst>
            </a:pPr>
            <a:r>
              <a:rPr lang="en-US" sz="1400" b="1" u="sng"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2.High-Quality Global Mesh Refinement</a:t>
            </a:r>
            <a:endParaRPr lang="en-US" sz="1400" u="sng"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pPr marL="742950" marR="0" lvl="1" indent="-285750" algn="l">
              <a:lnSpc>
                <a:spcPct val="150000"/>
              </a:lnSpc>
              <a:spcBef>
                <a:spcPts val="600"/>
              </a:spcBef>
              <a:spcAft>
                <a:spcPts val="600"/>
              </a:spcAft>
              <a:buSzPts val="1000"/>
              <a:buFont typeface="Courier New" panose="02070309020205020404" pitchFamily="49" charset="0"/>
              <a:buChar char="o"/>
              <a:tabLst>
                <a:tab pos="914400" algn="l"/>
              </a:tabLst>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 mesh was then globally refined to improve the resolution of stress and strain distribution.</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gn="l">
              <a:lnSpc>
                <a:spcPct val="150000"/>
              </a:lnSpc>
              <a:spcBef>
                <a:spcPts val="600"/>
              </a:spcBef>
              <a:spcAft>
                <a:spcPts val="600"/>
              </a:spcAft>
              <a:buSzPts val="1000"/>
              <a:buFont typeface="Courier New" panose="02070309020205020404" pitchFamily="49" charset="0"/>
              <a:buChar char="o"/>
              <a:tabLst>
                <a:tab pos="914400" algn="l"/>
              </a:tabLst>
            </a:pP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This step ensured that results became more accurate while maintaining an optimal element size across the model.</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33E05B38-F5B9-3505-D0E9-FF0FD21E4124}"/>
              </a:ext>
            </a:extLst>
          </p:cNvPr>
          <p:cNvPicPr>
            <a:picLocks noChangeAspect="1"/>
          </p:cNvPicPr>
          <p:nvPr/>
        </p:nvPicPr>
        <p:blipFill>
          <a:blip r:embed="rId3"/>
          <a:stretch>
            <a:fillRect/>
          </a:stretch>
        </p:blipFill>
        <p:spPr>
          <a:xfrm>
            <a:off x="3352800" y="1698478"/>
            <a:ext cx="3292125" cy="3688400"/>
          </a:xfrm>
          <a:prstGeom prst="rect">
            <a:avLst/>
          </a:prstGeom>
        </p:spPr>
      </p:pic>
      <p:pic>
        <p:nvPicPr>
          <p:cNvPr id="13" name="Picture 12">
            <a:extLst>
              <a:ext uri="{FF2B5EF4-FFF2-40B4-BE49-F238E27FC236}">
                <a16:creationId xmlns:a16="http://schemas.microsoft.com/office/drawing/2014/main" id="{66BB74EC-782A-8808-0AB8-C6ADAF98E5AC}"/>
              </a:ext>
            </a:extLst>
          </p:cNvPr>
          <p:cNvPicPr>
            <a:picLocks noChangeAspect="1"/>
          </p:cNvPicPr>
          <p:nvPr/>
        </p:nvPicPr>
        <p:blipFill>
          <a:blip r:embed="rId4"/>
          <a:stretch>
            <a:fillRect/>
          </a:stretch>
        </p:blipFill>
        <p:spPr>
          <a:xfrm>
            <a:off x="7322391" y="1447800"/>
            <a:ext cx="3830828" cy="4582234"/>
          </a:xfrm>
          <a:prstGeom prst="rect">
            <a:avLst/>
          </a:prstGeom>
        </p:spPr>
      </p:pic>
      <p:sp>
        <p:nvSpPr>
          <p:cNvPr id="14" name="TextBox 13">
            <a:extLst>
              <a:ext uri="{FF2B5EF4-FFF2-40B4-BE49-F238E27FC236}">
                <a16:creationId xmlns:a16="http://schemas.microsoft.com/office/drawing/2014/main" id="{65A37134-0053-98A6-7573-5EB528481A79}"/>
              </a:ext>
            </a:extLst>
          </p:cNvPr>
          <p:cNvSpPr txBox="1"/>
          <p:nvPr/>
        </p:nvSpPr>
        <p:spPr>
          <a:xfrm>
            <a:off x="7567612" y="1034979"/>
            <a:ext cx="3352800" cy="523220"/>
          </a:xfrm>
          <a:prstGeom prst="rect">
            <a:avLst/>
          </a:prstGeom>
          <a:noFill/>
        </p:spPr>
        <p:txBody>
          <a:bodyPr wrap="square" rtlCol="0">
            <a:spAutoFit/>
          </a:bodyPr>
          <a:lstStyle/>
          <a:p>
            <a:pPr algn="ctr"/>
            <a:r>
              <a:rPr lang="en-US" sz="14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 maximum stress result in MPa:</a:t>
            </a:r>
            <a:endParaRPr lang="en-US" sz="14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pPr algn="ctr"/>
            <a:endParaRPr lang="en-US" sz="1400" dirty="0">
              <a:solidFill>
                <a:schemeClr val="bg1"/>
              </a:solidFill>
            </a:endParaRPr>
          </a:p>
        </p:txBody>
      </p:sp>
    </p:spTree>
    <p:extLst>
      <p:ext uri="{BB962C8B-B14F-4D97-AF65-F5344CB8AC3E}">
        <p14:creationId xmlns:p14="http://schemas.microsoft.com/office/powerpoint/2010/main" val="34637189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C66AB-D113-01EB-BB60-4753E0F0686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82385C3-2409-1135-1BE2-285E44172A7A}"/>
              </a:ext>
            </a:extLst>
          </p:cNvPr>
          <p:cNvGrpSpPr/>
          <p:nvPr/>
        </p:nvGrpSpPr>
        <p:grpSpPr>
          <a:xfrm>
            <a:off x="1905" y="0"/>
            <a:ext cx="12190095" cy="6858000"/>
            <a:chOff x="0" y="-355"/>
            <a:chExt cx="12190095" cy="6858000"/>
          </a:xfrm>
        </p:grpSpPr>
        <p:sp>
          <p:nvSpPr>
            <p:cNvPr id="3" name="object 3">
              <a:extLst>
                <a:ext uri="{FF2B5EF4-FFF2-40B4-BE49-F238E27FC236}">
                  <a16:creationId xmlns:a16="http://schemas.microsoft.com/office/drawing/2014/main" id="{1C5EA138-444B-A8C2-70EE-35745A4FE28F}"/>
                </a:ext>
              </a:extLst>
            </p:cNvPr>
            <p:cNvSpPr/>
            <p:nvPr/>
          </p:nvSpPr>
          <p:spPr>
            <a:xfrm>
              <a:off x="0" y="-355"/>
              <a:ext cx="12190095" cy="6858000"/>
            </a:xfrm>
            <a:custGeom>
              <a:avLst/>
              <a:gdLst/>
              <a:ahLst/>
              <a:cxnLst/>
              <a:rect l="l" t="t" r="r" b="b"/>
              <a:pathLst>
                <a:path w="12190095" h="6858000">
                  <a:moveTo>
                    <a:pt x="12189599" y="0"/>
                  </a:moveTo>
                  <a:lnTo>
                    <a:pt x="0" y="0"/>
                  </a:lnTo>
                  <a:lnTo>
                    <a:pt x="0" y="6857631"/>
                  </a:lnTo>
                  <a:lnTo>
                    <a:pt x="6094806" y="6857631"/>
                  </a:lnTo>
                  <a:lnTo>
                    <a:pt x="12189599" y="6857631"/>
                  </a:lnTo>
                  <a:lnTo>
                    <a:pt x="12189599" y="0"/>
                  </a:lnTo>
                  <a:close/>
                </a:path>
              </a:pathLst>
            </a:custGeom>
            <a:solidFill>
              <a:srgbClr val="222021"/>
            </a:solidFill>
          </p:spPr>
          <p:txBody>
            <a:bodyPr wrap="square" lIns="0" tIns="0" rIns="0" bIns="0" rtlCol="0"/>
            <a:lstStyle/>
            <a:p>
              <a:endParaRPr dirty="0"/>
            </a:p>
          </p:txBody>
        </p:sp>
        <p:sp>
          <p:nvSpPr>
            <p:cNvPr id="4" name="object 4">
              <a:extLst>
                <a:ext uri="{FF2B5EF4-FFF2-40B4-BE49-F238E27FC236}">
                  <a16:creationId xmlns:a16="http://schemas.microsoft.com/office/drawing/2014/main" id="{E2560178-8324-6839-36ED-384D98178694}"/>
                </a:ext>
              </a:extLst>
            </p:cNvPr>
            <p:cNvSpPr/>
            <p:nvPr/>
          </p:nvSpPr>
          <p:spPr>
            <a:xfrm>
              <a:off x="191160" y="-355"/>
              <a:ext cx="1515110" cy="1026160"/>
            </a:xfrm>
            <a:custGeom>
              <a:avLst/>
              <a:gdLst/>
              <a:ahLst/>
              <a:cxnLst/>
              <a:rect l="l" t="t" r="r" b="b"/>
              <a:pathLst>
                <a:path w="1515110" h="1026160">
                  <a:moveTo>
                    <a:pt x="1514881" y="0"/>
                  </a:moveTo>
                  <a:lnTo>
                    <a:pt x="0" y="0"/>
                  </a:lnTo>
                  <a:lnTo>
                    <a:pt x="0" y="1025639"/>
                  </a:lnTo>
                  <a:lnTo>
                    <a:pt x="757440" y="1025639"/>
                  </a:lnTo>
                  <a:lnTo>
                    <a:pt x="1514881" y="1025639"/>
                  </a:lnTo>
                  <a:lnTo>
                    <a:pt x="1514881" y="0"/>
                  </a:lnTo>
                  <a:close/>
                </a:path>
              </a:pathLst>
            </a:custGeom>
            <a:solidFill>
              <a:srgbClr val="453E31"/>
            </a:solidFill>
          </p:spPr>
          <p:txBody>
            <a:bodyPr wrap="square" lIns="0" tIns="0" rIns="0" bIns="0" rtlCol="0"/>
            <a:lstStyle/>
            <a:p>
              <a:endParaRPr/>
            </a:p>
          </p:txBody>
        </p:sp>
      </p:grpSp>
      <p:sp>
        <p:nvSpPr>
          <p:cNvPr id="5" name="object 5">
            <a:extLst>
              <a:ext uri="{FF2B5EF4-FFF2-40B4-BE49-F238E27FC236}">
                <a16:creationId xmlns:a16="http://schemas.microsoft.com/office/drawing/2014/main" id="{5521B1EA-C16C-0B41-B1BC-E6AD025088BB}"/>
              </a:ext>
            </a:extLst>
          </p:cNvPr>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FEA Results and Validation</a:t>
            </a:r>
          </a:p>
        </p:txBody>
      </p:sp>
      <p:grpSp>
        <p:nvGrpSpPr>
          <p:cNvPr id="6" name="object 6">
            <a:extLst>
              <a:ext uri="{FF2B5EF4-FFF2-40B4-BE49-F238E27FC236}">
                <a16:creationId xmlns:a16="http://schemas.microsoft.com/office/drawing/2014/main" id="{045E0960-E0F9-EE64-05F7-F44B9EC5A9E4}"/>
              </a:ext>
            </a:extLst>
          </p:cNvPr>
          <p:cNvGrpSpPr/>
          <p:nvPr/>
        </p:nvGrpSpPr>
        <p:grpSpPr>
          <a:xfrm>
            <a:off x="361315" y="762000"/>
            <a:ext cx="11469370" cy="5721350"/>
            <a:chOff x="360362" y="793927"/>
            <a:chExt cx="11469370" cy="5721350"/>
          </a:xfrm>
        </p:grpSpPr>
        <p:sp>
          <p:nvSpPr>
            <p:cNvPr id="7" name="object 7">
              <a:extLst>
                <a:ext uri="{FF2B5EF4-FFF2-40B4-BE49-F238E27FC236}">
                  <a16:creationId xmlns:a16="http://schemas.microsoft.com/office/drawing/2014/main" id="{DB7AE036-8DDD-3E86-362E-603C186A1BE7}"/>
                </a:ext>
              </a:extLst>
            </p:cNvPr>
            <p:cNvSpPr/>
            <p:nvPr/>
          </p:nvSpPr>
          <p:spPr>
            <a:xfrm>
              <a:off x="1287005" y="800277"/>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sp>
          <p:nvSpPr>
            <p:cNvPr id="8" name="object 8">
              <a:extLst>
                <a:ext uri="{FF2B5EF4-FFF2-40B4-BE49-F238E27FC236}">
                  <a16:creationId xmlns:a16="http://schemas.microsoft.com/office/drawing/2014/main" id="{57DEAF65-A72E-A648-B103-4DADEAE7C85F}"/>
                </a:ext>
              </a:extLst>
            </p:cNvPr>
            <p:cNvSpPr/>
            <p:nvPr/>
          </p:nvSpPr>
          <p:spPr>
            <a:xfrm>
              <a:off x="360362" y="1436039"/>
              <a:ext cx="11469370" cy="5079365"/>
            </a:xfrm>
            <a:custGeom>
              <a:avLst/>
              <a:gdLst/>
              <a:ahLst/>
              <a:cxnLst/>
              <a:rect l="l" t="t" r="r" b="b"/>
              <a:pathLst>
                <a:path w="11469370" h="5079365">
                  <a:moveTo>
                    <a:pt x="11468874" y="0"/>
                  </a:moveTo>
                  <a:lnTo>
                    <a:pt x="0" y="0"/>
                  </a:lnTo>
                  <a:lnTo>
                    <a:pt x="0" y="5079238"/>
                  </a:lnTo>
                  <a:lnTo>
                    <a:pt x="5734443" y="5079238"/>
                  </a:lnTo>
                  <a:lnTo>
                    <a:pt x="11468874" y="5079238"/>
                  </a:lnTo>
                  <a:lnTo>
                    <a:pt x="11468874" y="0"/>
                  </a:lnTo>
                  <a:close/>
                </a:path>
              </a:pathLst>
            </a:custGeom>
            <a:solidFill>
              <a:srgbClr val="453E31"/>
            </a:solidFill>
          </p:spPr>
          <p:txBody>
            <a:bodyPr wrap="square" lIns="0" tIns="0" rIns="0" bIns="0" rtlCol="0"/>
            <a:lstStyle/>
            <a:p>
              <a:endParaRPr/>
            </a:p>
          </p:txBody>
        </p:sp>
        <p:sp>
          <p:nvSpPr>
            <p:cNvPr id="9" name="object 9">
              <a:extLst>
                <a:ext uri="{FF2B5EF4-FFF2-40B4-BE49-F238E27FC236}">
                  <a16:creationId xmlns:a16="http://schemas.microsoft.com/office/drawing/2014/main" id="{A21A2BBD-053B-CC6F-0246-7E4DA631C32C}"/>
                </a:ext>
              </a:extLst>
            </p:cNvPr>
            <p:cNvSpPr/>
            <p:nvPr/>
          </p:nvSpPr>
          <p:spPr>
            <a:xfrm>
              <a:off x="1429194" y="2228405"/>
              <a:ext cx="2653665" cy="1346200"/>
            </a:xfrm>
            <a:custGeom>
              <a:avLst/>
              <a:gdLst/>
              <a:ahLst/>
              <a:cxnLst/>
              <a:rect l="l" t="t" r="r" b="b"/>
              <a:pathLst>
                <a:path w="2653665" h="1346200">
                  <a:moveTo>
                    <a:pt x="2653207" y="0"/>
                  </a:moveTo>
                  <a:lnTo>
                    <a:pt x="0" y="0"/>
                  </a:lnTo>
                  <a:lnTo>
                    <a:pt x="0" y="1345679"/>
                  </a:lnTo>
                  <a:lnTo>
                    <a:pt x="1326603" y="1345679"/>
                  </a:lnTo>
                  <a:lnTo>
                    <a:pt x="2653207" y="1345679"/>
                  </a:lnTo>
                  <a:lnTo>
                    <a:pt x="2653207" y="0"/>
                  </a:lnTo>
                  <a:close/>
                </a:path>
              </a:pathLst>
            </a:custGeom>
            <a:solidFill>
              <a:srgbClr val="22202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6C6637E4-0B0D-3BF9-1697-6F55F46725EB}"/>
              </a:ext>
            </a:extLst>
          </p:cNvPr>
          <p:cNvSpPr txBox="1"/>
          <p:nvPr/>
        </p:nvSpPr>
        <p:spPr>
          <a:xfrm>
            <a:off x="250101" y="1269465"/>
            <a:ext cx="2958465" cy="5408981"/>
          </a:xfrm>
          <a:prstGeom prst="rect">
            <a:avLst/>
          </a:prstGeom>
          <a:noFill/>
        </p:spPr>
        <p:txBody>
          <a:bodyPr wrap="square" rtlCol="0">
            <a:spAutoFit/>
          </a:bodyPr>
          <a:lstStyle/>
          <a:p>
            <a:pPr>
              <a:buNone/>
            </a:pPr>
            <a:r>
              <a:rPr lang="en-US" sz="1400" b="1" u="sng" dirty="0">
                <a:solidFill>
                  <a:schemeClr val="bg1"/>
                </a:solidFill>
              </a:rPr>
              <a:t>3. Localized Mesh Control for Critical Areas</a:t>
            </a:r>
            <a:br>
              <a:rPr lang="en-US" sz="1400" dirty="0">
                <a:solidFill>
                  <a:schemeClr val="bg1"/>
                </a:solidFill>
              </a:rPr>
            </a:br>
            <a:r>
              <a:rPr lang="en-US" sz="1400" dirty="0">
                <a:solidFill>
                  <a:schemeClr val="bg1"/>
                </a:solidFill>
              </a:rPr>
              <a:t>To improve accuracy, fine mesh controls were applied to regions with high stress identified in the initial analysis. This targeted refinement allowed:</a:t>
            </a:r>
          </a:p>
          <a:p>
            <a:pPr>
              <a:buNone/>
            </a:pPr>
            <a:endParaRPr lang="en-US" sz="1400" dirty="0">
              <a:solidFill>
                <a:schemeClr val="bg1"/>
              </a:solidFill>
            </a:endParaRPr>
          </a:p>
          <a:p>
            <a:pPr>
              <a:buFont typeface="Arial" panose="020B0604020202020204" pitchFamily="34" charset="0"/>
              <a:buChar char="•"/>
            </a:pPr>
            <a:r>
              <a:rPr lang="en-US" sz="1400" dirty="0">
                <a:solidFill>
                  <a:schemeClr val="bg1"/>
                </a:solidFill>
              </a:rPr>
              <a:t>More precise evaluation of stress distribution</a:t>
            </a:r>
          </a:p>
          <a:p>
            <a:pPr>
              <a:buFont typeface="Arial" panose="020B0604020202020204" pitchFamily="34" charset="0"/>
              <a:buChar char="•"/>
            </a:pPr>
            <a:endParaRPr lang="en-US" sz="1400" dirty="0">
              <a:solidFill>
                <a:schemeClr val="bg1"/>
              </a:solidFill>
            </a:endParaRPr>
          </a:p>
          <a:p>
            <a:pPr>
              <a:buFont typeface="Arial" panose="020B0604020202020204" pitchFamily="34" charset="0"/>
              <a:buChar char="•"/>
            </a:pPr>
            <a:r>
              <a:rPr lang="en-US" sz="1400" dirty="0">
                <a:solidFill>
                  <a:schemeClr val="bg1"/>
                </a:solidFill>
              </a:rPr>
              <a:t>Better insight into the performance of critical components</a:t>
            </a:r>
          </a:p>
          <a:p>
            <a:pPr>
              <a:buFont typeface="Arial" panose="020B0604020202020204" pitchFamily="34" charset="0"/>
              <a:buChar char="•"/>
            </a:pPr>
            <a:endParaRPr lang="en-US" sz="1400" dirty="0">
              <a:solidFill>
                <a:schemeClr val="bg1"/>
              </a:solidFill>
            </a:endParaRPr>
          </a:p>
          <a:p>
            <a:pPr>
              <a:buNone/>
            </a:pPr>
            <a:r>
              <a:rPr lang="en-US" sz="1400" dirty="0">
                <a:solidFill>
                  <a:schemeClr val="bg1"/>
                </a:solidFill>
              </a:rPr>
              <a:t>By combining coarse and fine meshes strategically, the simulation achieved a strong balance between accuracy, efficiency, and reliability.</a:t>
            </a:r>
          </a:p>
          <a:p>
            <a:r>
              <a:rPr lang="en-US" sz="1400" dirty="0">
                <a:solidFill>
                  <a:schemeClr val="bg1"/>
                </a:solidFill>
              </a:rPr>
              <a:t>The next section presents FEA result images showing the effects of mesh refinement on stress and deformation.</a:t>
            </a:r>
          </a:p>
          <a:p>
            <a:pPr marR="0" lvl="0" algn="l">
              <a:lnSpc>
                <a:spcPct val="150000"/>
              </a:lnSpc>
              <a:spcBef>
                <a:spcPts val="600"/>
              </a:spcBef>
              <a:spcAft>
                <a:spcPts val="600"/>
              </a:spcAft>
              <a:tabLst>
                <a:tab pos="457200" algn="l"/>
              </a:tabLst>
            </a:pP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2B57139D-C12A-A65F-3864-66BABBE49CAB}"/>
              </a:ext>
            </a:extLst>
          </p:cNvPr>
          <p:cNvPicPr>
            <a:picLocks noChangeAspect="1"/>
          </p:cNvPicPr>
          <p:nvPr/>
        </p:nvPicPr>
        <p:blipFill>
          <a:blip r:embed="rId3"/>
          <a:stretch>
            <a:fillRect/>
          </a:stretch>
        </p:blipFill>
        <p:spPr>
          <a:xfrm>
            <a:off x="6694239" y="523570"/>
            <a:ext cx="5212532" cy="2883658"/>
          </a:xfrm>
          <a:prstGeom prst="rect">
            <a:avLst/>
          </a:prstGeom>
        </p:spPr>
      </p:pic>
      <p:pic>
        <p:nvPicPr>
          <p:cNvPr id="11" name="Picture 10">
            <a:extLst>
              <a:ext uri="{FF2B5EF4-FFF2-40B4-BE49-F238E27FC236}">
                <a16:creationId xmlns:a16="http://schemas.microsoft.com/office/drawing/2014/main" id="{3FEC3CF2-7332-3DAB-2982-00C123B3AD51}"/>
              </a:ext>
            </a:extLst>
          </p:cNvPr>
          <p:cNvPicPr>
            <a:picLocks noChangeAspect="1"/>
          </p:cNvPicPr>
          <p:nvPr/>
        </p:nvPicPr>
        <p:blipFill>
          <a:blip r:embed="rId4"/>
          <a:stretch>
            <a:fillRect/>
          </a:stretch>
        </p:blipFill>
        <p:spPr>
          <a:xfrm>
            <a:off x="3568331" y="3490664"/>
            <a:ext cx="5386530" cy="3127460"/>
          </a:xfrm>
          <a:prstGeom prst="rect">
            <a:avLst/>
          </a:prstGeom>
        </p:spPr>
      </p:pic>
    </p:spTree>
    <p:extLst>
      <p:ext uri="{BB962C8B-B14F-4D97-AF65-F5344CB8AC3E}">
        <p14:creationId xmlns:p14="http://schemas.microsoft.com/office/powerpoint/2010/main" val="3607573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6D86A-94F4-BA61-09E9-258AD73D2AD2}"/>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B7018926-DA6A-C1AB-9FD8-CD8B8B592E23}"/>
              </a:ext>
            </a:extLst>
          </p:cNvPr>
          <p:cNvGrpSpPr/>
          <p:nvPr/>
        </p:nvGrpSpPr>
        <p:grpSpPr>
          <a:xfrm>
            <a:off x="1905" y="0"/>
            <a:ext cx="12190095" cy="6858000"/>
            <a:chOff x="0" y="-355"/>
            <a:chExt cx="12190095" cy="6858000"/>
          </a:xfrm>
        </p:grpSpPr>
        <p:sp>
          <p:nvSpPr>
            <p:cNvPr id="3" name="object 3">
              <a:extLst>
                <a:ext uri="{FF2B5EF4-FFF2-40B4-BE49-F238E27FC236}">
                  <a16:creationId xmlns:a16="http://schemas.microsoft.com/office/drawing/2014/main" id="{0FEEA977-3FD0-978A-1D92-E2290314020E}"/>
                </a:ext>
              </a:extLst>
            </p:cNvPr>
            <p:cNvSpPr/>
            <p:nvPr/>
          </p:nvSpPr>
          <p:spPr>
            <a:xfrm>
              <a:off x="0" y="-355"/>
              <a:ext cx="12190095" cy="6858000"/>
            </a:xfrm>
            <a:custGeom>
              <a:avLst/>
              <a:gdLst/>
              <a:ahLst/>
              <a:cxnLst/>
              <a:rect l="l" t="t" r="r" b="b"/>
              <a:pathLst>
                <a:path w="12190095" h="6858000">
                  <a:moveTo>
                    <a:pt x="12189599" y="0"/>
                  </a:moveTo>
                  <a:lnTo>
                    <a:pt x="0" y="0"/>
                  </a:lnTo>
                  <a:lnTo>
                    <a:pt x="0" y="6857631"/>
                  </a:lnTo>
                  <a:lnTo>
                    <a:pt x="6094806" y="6857631"/>
                  </a:lnTo>
                  <a:lnTo>
                    <a:pt x="12189599" y="6857631"/>
                  </a:lnTo>
                  <a:lnTo>
                    <a:pt x="12189599" y="0"/>
                  </a:lnTo>
                  <a:close/>
                </a:path>
              </a:pathLst>
            </a:custGeom>
            <a:solidFill>
              <a:srgbClr val="222021"/>
            </a:solidFill>
          </p:spPr>
          <p:txBody>
            <a:bodyPr wrap="square" lIns="0" tIns="0" rIns="0" bIns="0" rtlCol="0"/>
            <a:lstStyle/>
            <a:p>
              <a:endParaRPr dirty="0"/>
            </a:p>
          </p:txBody>
        </p:sp>
        <p:sp>
          <p:nvSpPr>
            <p:cNvPr id="4" name="object 4">
              <a:extLst>
                <a:ext uri="{FF2B5EF4-FFF2-40B4-BE49-F238E27FC236}">
                  <a16:creationId xmlns:a16="http://schemas.microsoft.com/office/drawing/2014/main" id="{44C30246-1EA0-70DC-B514-8F80DAD69EB7}"/>
                </a:ext>
              </a:extLst>
            </p:cNvPr>
            <p:cNvSpPr/>
            <p:nvPr/>
          </p:nvSpPr>
          <p:spPr>
            <a:xfrm>
              <a:off x="191160" y="-355"/>
              <a:ext cx="1515110" cy="1026160"/>
            </a:xfrm>
            <a:custGeom>
              <a:avLst/>
              <a:gdLst/>
              <a:ahLst/>
              <a:cxnLst/>
              <a:rect l="l" t="t" r="r" b="b"/>
              <a:pathLst>
                <a:path w="1515110" h="1026160">
                  <a:moveTo>
                    <a:pt x="1514881" y="0"/>
                  </a:moveTo>
                  <a:lnTo>
                    <a:pt x="0" y="0"/>
                  </a:lnTo>
                  <a:lnTo>
                    <a:pt x="0" y="1025639"/>
                  </a:lnTo>
                  <a:lnTo>
                    <a:pt x="757440" y="1025639"/>
                  </a:lnTo>
                  <a:lnTo>
                    <a:pt x="1514881" y="1025639"/>
                  </a:lnTo>
                  <a:lnTo>
                    <a:pt x="1514881" y="0"/>
                  </a:lnTo>
                  <a:close/>
                </a:path>
              </a:pathLst>
            </a:custGeom>
            <a:solidFill>
              <a:srgbClr val="453E31"/>
            </a:solidFill>
          </p:spPr>
          <p:txBody>
            <a:bodyPr wrap="square" lIns="0" tIns="0" rIns="0" bIns="0" rtlCol="0"/>
            <a:lstStyle/>
            <a:p>
              <a:endParaRPr/>
            </a:p>
          </p:txBody>
        </p:sp>
      </p:grpSp>
      <p:sp>
        <p:nvSpPr>
          <p:cNvPr id="5" name="object 5">
            <a:extLst>
              <a:ext uri="{FF2B5EF4-FFF2-40B4-BE49-F238E27FC236}">
                <a16:creationId xmlns:a16="http://schemas.microsoft.com/office/drawing/2014/main" id="{2B42406E-AEB1-218C-3380-AD5597B4D6F1}"/>
              </a:ext>
            </a:extLst>
          </p:cNvPr>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FEA Results and Validation</a:t>
            </a:r>
          </a:p>
        </p:txBody>
      </p:sp>
      <p:grpSp>
        <p:nvGrpSpPr>
          <p:cNvPr id="6" name="object 6">
            <a:extLst>
              <a:ext uri="{FF2B5EF4-FFF2-40B4-BE49-F238E27FC236}">
                <a16:creationId xmlns:a16="http://schemas.microsoft.com/office/drawing/2014/main" id="{59C26736-6B43-1B58-07AE-F0F569AC9136}"/>
              </a:ext>
            </a:extLst>
          </p:cNvPr>
          <p:cNvGrpSpPr/>
          <p:nvPr/>
        </p:nvGrpSpPr>
        <p:grpSpPr>
          <a:xfrm>
            <a:off x="361315" y="762000"/>
            <a:ext cx="11469370" cy="5721350"/>
            <a:chOff x="360362" y="793927"/>
            <a:chExt cx="11469370" cy="5721350"/>
          </a:xfrm>
        </p:grpSpPr>
        <p:sp>
          <p:nvSpPr>
            <p:cNvPr id="7" name="object 7">
              <a:extLst>
                <a:ext uri="{FF2B5EF4-FFF2-40B4-BE49-F238E27FC236}">
                  <a16:creationId xmlns:a16="http://schemas.microsoft.com/office/drawing/2014/main" id="{9B3BAB20-8323-59D0-F0B6-DD049AD641F8}"/>
                </a:ext>
              </a:extLst>
            </p:cNvPr>
            <p:cNvSpPr/>
            <p:nvPr/>
          </p:nvSpPr>
          <p:spPr>
            <a:xfrm>
              <a:off x="1287005" y="800277"/>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sp>
          <p:nvSpPr>
            <p:cNvPr id="8" name="object 8">
              <a:extLst>
                <a:ext uri="{FF2B5EF4-FFF2-40B4-BE49-F238E27FC236}">
                  <a16:creationId xmlns:a16="http://schemas.microsoft.com/office/drawing/2014/main" id="{CB76AC3A-5713-BD27-CDCD-7E661F2F3B5F}"/>
                </a:ext>
              </a:extLst>
            </p:cNvPr>
            <p:cNvSpPr/>
            <p:nvPr/>
          </p:nvSpPr>
          <p:spPr>
            <a:xfrm>
              <a:off x="360362" y="1436039"/>
              <a:ext cx="11469370" cy="5079365"/>
            </a:xfrm>
            <a:custGeom>
              <a:avLst/>
              <a:gdLst/>
              <a:ahLst/>
              <a:cxnLst/>
              <a:rect l="l" t="t" r="r" b="b"/>
              <a:pathLst>
                <a:path w="11469370" h="5079365">
                  <a:moveTo>
                    <a:pt x="11468874" y="0"/>
                  </a:moveTo>
                  <a:lnTo>
                    <a:pt x="0" y="0"/>
                  </a:lnTo>
                  <a:lnTo>
                    <a:pt x="0" y="5079238"/>
                  </a:lnTo>
                  <a:lnTo>
                    <a:pt x="5734443" y="5079238"/>
                  </a:lnTo>
                  <a:lnTo>
                    <a:pt x="11468874" y="5079238"/>
                  </a:lnTo>
                  <a:lnTo>
                    <a:pt x="11468874" y="0"/>
                  </a:lnTo>
                  <a:close/>
                </a:path>
              </a:pathLst>
            </a:custGeom>
            <a:solidFill>
              <a:srgbClr val="453E31"/>
            </a:solidFill>
          </p:spPr>
          <p:txBody>
            <a:bodyPr wrap="square" lIns="0" tIns="0" rIns="0" bIns="0" rtlCol="0"/>
            <a:lstStyle/>
            <a:p>
              <a:endParaRPr/>
            </a:p>
          </p:txBody>
        </p:sp>
        <p:sp>
          <p:nvSpPr>
            <p:cNvPr id="9" name="object 9">
              <a:extLst>
                <a:ext uri="{FF2B5EF4-FFF2-40B4-BE49-F238E27FC236}">
                  <a16:creationId xmlns:a16="http://schemas.microsoft.com/office/drawing/2014/main" id="{F6E316EA-FB2C-B0E4-1DB3-A53FA355913F}"/>
                </a:ext>
              </a:extLst>
            </p:cNvPr>
            <p:cNvSpPr/>
            <p:nvPr/>
          </p:nvSpPr>
          <p:spPr>
            <a:xfrm>
              <a:off x="1429194" y="2228405"/>
              <a:ext cx="2653665" cy="1346200"/>
            </a:xfrm>
            <a:custGeom>
              <a:avLst/>
              <a:gdLst/>
              <a:ahLst/>
              <a:cxnLst/>
              <a:rect l="l" t="t" r="r" b="b"/>
              <a:pathLst>
                <a:path w="2653665" h="1346200">
                  <a:moveTo>
                    <a:pt x="2653207" y="0"/>
                  </a:moveTo>
                  <a:lnTo>
                    <a:pt x="0" y="0"/>
                  </a:lnTo>
                  <a:lnTo>
                    <a:pt x="0" y="1345679"/>
                  </a:lnTo>
                  <a:lnTo>
                    <a:pt x="1326603" y="1345679"/>
                  </a:lnTo>
                  <a:lnTo>
                    <a:pt x="2653207" y="1345679"/>
                  </a:lnTo>
                  <a:lnTo>
                    <a:pt x="2653207" y="0"/>
                  </a:lnTo>
                  <a:close/>
                </a:path>
              </a:pathLst>
            </a:custGeom>
            <a:solidFill>
              <a:srgbClr val="22202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AAC6B64B-C854-0D94-5974-CB8486DC9446}"/>
              </a:ext>
            </a:extLst>
          </p:cNvPr>
          <p:cNvSpPr txBox="1"/>
          <p:nvPr/>
        </p:nvSpPr>
        <p:spPr>
          <a:xfrm>
            <a:off x="250101" y="1269465"/>
            <a:ext cx="2958465" cy="738664"/>
          </a:xfrm>
          <a:prstGeom prst="rect">
            <a:avLst/>
          </a:prstGeom>
          <a:noFill/>
        </p:spPr>
        <p:txBody>
          <a:bodyPr wrap="square" rtlCol="0">
            <a:spAutoFit/>
          </a:bodyPr>
          <a:lstStyle/>
          <a:p>
            <a:pPr>
              <a:buNone/>
            </a:pPr>
            <a:r>
              <a:rPr lang="en-US" sz="1400" b="1" u="sng" dirty="0">
                <a:solidFill>
                  <a:schemeClr val="bg1"/>
                </a:solidFill>
              </a:rPr>
              <a:t>3. Localized Mesh Control for Critical Areas</a:t>
            </a:r>
            <a:br>
              <a:rPr lang="en-US" sz="1400" dirty="0">
                <a:solidFill>
                  <a:schemeClr val="bg1"/>
                </a:solidFill>
              </a:rPr>
            </a:b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C95DAF9D-D51B-AA8E-8A22-4895851565FD}"/>
              </a:ext>
            </a:extLst>
          </p:cNvPr>
          <p:cNvPicPr>
            <a:picLocks noChangeAspect="1"/>
          </p:cNvPicPr>
          <p:nvPr/>
        </p:nvPicPr>
        <p:blipFill>
          <a:blip r:embed="rId3"/>
          <a:stretch>
            <a:fillRect/>
          </a:stretch>
        </p:blipFill>
        <p:spPr>
          <a:xfrm>
            <a:off x="894489" y="2057971"/>
            <a:ext cx="3724979" cy="3243353"/>
          </a:xfrm>
          <a:prstGeom prst="rect">
            <a:avLst/>
          </a:prstGeom>
        </p:spPr>
      </p:pic>
      <p:pic>
        <p:nvPicPr>
          <p:cNvPr id="14" name="Picture 13">
            <a:extLst>
              <a:ext uri="{FF2B5EF4-FFF2-40B4-BE49-F238E27FC236}">
                <a16:creationId xmlns:a16="http://schemas.microsoft.com/office/drawing/2014/main" id="{10588053-6F72-F457-BC71-E4AB6C153165}"/>
              </a:ext>
            </a:extLst>
          </p:cNvPr>
          <p:cNvPicPr>
            <a:picLocks noChangeAspect="1"/>
          </p:cNvPicPr>
          <p:nvPr/>
        </p:nvPicPr>
        <p:blipFill>
          <a:blip r:embed="rId4"/>
          <a:stretch>
            <a:fillRect/>
          </a:stretch>
        </p:blipFill>
        <p:spPr>
          <a:xfrm>
            <a:off x="5562600" y="1479509"/>
            <a:ext cx="4737370" cy="4749710"/>
          </a:xfrm>
          <a:prstGeom prst="rect">
            <a:avLst/>
          </a:prstGeom>
        </p:spPr>
      </p:pic>
    </p:spTree>
    <p:extLst>
      <p:ext uri="{BB962C8B-B14F-4D97-AF65-F5344CB8AC3E}">
        <p14:creationId xmlns:p14="http://schemas.microsoft.com/office/powerpoint/2010/main" val="2105765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E2E1-3279-0472-5048-BFEAABD90EF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A1C8D46D-340C-7E1D-2F93-556BCD4F4B2E}"/>
              </a:ext>
            </a:extLst>
          </p:cNvPr>
          <p:cNvGrpSpPr/>
          <p:nvPr/>
        </p:nvGrpSpPr>
        <p:grpSpPr>
          <a:xfrm>
            <a:off x="0" y="228600"/>
            <a:ext cx="12190095" cy="6858000"/>
            <a:chOff x="0" y="-355"/>
            <a:chExt cx="12190095" cy="6858000"/>
          </a:xfrm>
        </p:grpSpPr>
        <p:sp>
          <p:nvSpPr>
            <p:cNvPr id="3" name="object 3">
              <a:extLst>
                <a:ext uri="{FF2B5EF4-FFF2-40B4-BE49-F238E27FC236}">
                  <a16:creationId xmlns:a16="http://schemas.microsoft.com/office/drawing/2014/main" id="{09D39113-8E48-3900-04FA-A4C9F3BE18DA}"/>
                </a:ext>
              </a:extLst>
            </p:cNvPr>
            <p:cNvSpPr/>
            <p:nvPr/>
          </p:nvSpPr>
          <p:spPr>
            <a:xfrm>
              <a:off x="0" y="-355"/>
              <a:ext cx="12190095" cy="6858000"/>
            </a:xfrm>
            <a:custGeom>
              <a:avLst/>
              <a:gdLst/>
              <a:ahLst/>
              <a:cxnLst/>
              <a:rect l="l" t="t" r="r" b="b"/>
              <a:pathLst>
                <a:path w="12190095" h="6858000">
                  <a:moveTo>
                    <a:pt x="12189599" y="0"/>
                  </a:moveTo>
                  <a:lnTo>
                    <a:pt x="0" y="0"/>
                  </a:lnTo>
                  <a:lnTo>
                    <a:pt x="0" y="6857631"/>
                  </a:lnTo>
                  <a:lnTo>
                    <a:pt x="6094806" y="6857631"/>
                  </a:lnTo>
                  <a:lnTo>
                    <a:pt x="12189599" y="6857631"/>
                  </a:lnTo>
                  <a:lnTo>
                    <a:pt x="12189599" y="0"/>
                  </a:lnTo>
                  <a:close/>
                </a:path>
              </a:pathLst>
            </a:custGeom>
            <a:solidFill>
              <a:srgbClr val="222021"/>
            </a:solidFill>
          </p:spPr>
          <p:txBody>
            <a:bodyPr wrap="square" lIns="0" tIns="0" rIns="0" bIns="0" rtlCol="0"/>
            <a:lstStyle/>
            <a:p>
              <a:endParaRPr dirty="0"/>
            </a:p>
          </p:txBody>
        </p:sp>
        <p:sp>
          <p:nvSpPr>
            <p:cNvPr id="4" name="object 4">
              <a:extLst>
                <a:ext uri="{FF2B5EF4-FFF2-40B4-BE49-F238E27FC236}">
                  <a16:creationId xmlns:a16="http://schemas.microsoft.com/office/drawing/2014/main" id="{3BA7EF6E-4547-EBDA-FD4A-340A11CACC62}"/>
                </a:ext>
              </a:extLst>
            </p:cNvPr>
            <p:cNvSpPr/>
            <p:nvPr/>
          </p:nvSpPr>
          <p:spPr>
            <a:xfrm>
              <a:off x="191160" y="-355"/>
              <a:ext cx="1515110" cy="1026160"/>
            </a:xfrm>
            <a:custGeom>
              <a:avLst/>
              <a:gdLst/>
              <a:ahLst/>
              <a:cxnLst/>
              <a:rect l="l" t="t" r="r" b="b"/>
              <a:pathLst>
                <a:path w="1515110" h="1026160">
                  <a:moveTo>
                    <a:pt x="1514881" y="0"/>
                  </a:moveTo>
                  <a:lnTo>
                    <a:pt x="0" y="0"/>
                  </a:lnTo>
                  <a:lnTo>
                    <a:pt x="0" y="1025639"/>
                  </a:lnTo>
                  <a:lnTo>
                    <a:pt x="757440" y="1025639"/>
                  </a:lnTo>
                  <a:lnTo>
                    <a:pt x="1514881" y="1025639"/>
                  </a:lnTo>
                  <a:lnTo>
                    <a:pt x="1514881" y="0"/>
                  </a:lnTo>
                  <a:close/>
                </a:path>
              </a:pathLst>
            </a:custGeom>
            <a:solidFill>
              <a:srgbClr val="453E31"/>
            </a:solidFill>
          </p:spPr>
          <p:txBody>
            <a:bodyPr wrap="square" lIns="0" tIns="0" rIns="0" bIns="0" rtlCol="0"/>
            <a:lstStyle/>
            <a:p>
              <a:endParaRPr/>
            </a:p>
          </p:txBody>
        </p:sp>
      </p:grpSp>
      <p:sp>
        <p:nvSpPr>
          <p:cNvPr id="5" name="object 5">
            <a:extLst>
              <a:ext uri="{FF2B5EF4-FFF2-40B4-BE49-F238E27FC236}">
                <a16:creationId xmlns:a16="http://schemas.microsoft.com/office/drawing/2014/main" id="{5D4EFACB-B60C-91A3-21C5-EC0442577E8B}"/>
              </a:ext>
            </a:extLst>
          </p:cNvPr>
          <p:cNvSpPr txBox="1">
            <a:spLocks noGrp="1"/>
          </p:cNvSpPr>
          <p:nvPr>
            <p:ph type="title"/>
          </p:nvPr>
        </p:nvSpPr>
        <p:spPr>
          <a:xfrm>
            <a:off x="250101" y="203301"/>
            <a:ext cx="11698147" cy="566822"/>
          </a:xfrm>
          <a:prstGeom prst="rect">
            <a:avLst/>
          </a:prstGeom>
        </p:spPr>
        <p:txBody>
          <a:bodyPr vert="horz" wrap="square" lIns="0" tIns="12700" rIns="0" bIns="0" rtlCol="0">
            <a:spAutoFit/>
          </a:bodyPr>
          <a:lstStyle/>
          <a:p>
            <a:pPr marL="12700">
              <a:lnSpc>
                <a:spcPct val="100000"/>
              </a:lnSpc>
              <a:spcBef>
                <a:spcPts val="100"/>
              </a:spcBef>
            </a:pPr>
            <a:r>
              <a:rPr lang="en-US" sz="3600" dirty="0"/>
              <a:t>FEA Stress Analysis &amp; Validation</a:t>
            </a:r>
            <a:endParaRPr sz="3600" dirty="0"/>
          </a:p>
        </p:txBody>
      </p:sp>
      <p:grpSp>
        <p:nvGrpSpPr>
          <p:cNvPr id="6" name="object 6">
            <a:extLst>
              <a:ext uri="{FF2B5EF4-FFF2-40B4-BE49-F238E27FC236}">
                <a16:creationId xmlns:a16="http://schemas.microsoft.com/office/drawing/2014/main" id="{1926194C-1FE5-7544-8360-9E24429A683B}"/>
              </a:ext>
            </a:extLst>
          </p:cNvPr>
          <p:cNvGrpSpPr/>
          <p:nvPr/>
        </p:nvGrpSpPr>
        <p:grpSpPr>
          <a:xfrm>
            <a:off x="361315" y="762000"/>
            <a:ext cx="11469370" cy="5721350"/>
            <a:chOff x="360362" y="793927"/>
            <a:chExt cx="11469370" cy="5721350"/>
          </a:xfrm>
        </p:grpSpPr>
        <p:sp>
          <p:nvSpPr>
            <p:cNvPr id="7" name="object 7">
              <a:extLst>
                <a:ext uri="{FF2B5EF4-FFF2-40B4-BE49-F238E27FC236}">
                  <a16:creationId xmlns:a16="http://schemas.microsoft.com/office/drawing/2014/main" id="{D314F992-0CC7-75EB-3888-9B3F0FB96303}"/>
                </a:ext>
              </a:extLst>
            </p:cNvPr>
            <p:cNvSpPr/>
            <p:nvPr/>
          </p:nvSpPr>
          <p:spPr>
            <a:xfrm>
              <a:off x="1287005" y="800277"/>
              <a:ext cx="1400175" cy="0"/>
            </a:xfrm>
            <a:custGeom>
              <a:avLst/>
              <a:gdLst/>
              <a:ahLst/>
              <a:cxnLst/>
              <a:rect l="l" t="t" r="r" b="b"/>
              <a:pathLst>
                <a:path w="1400175">
                  <a:moveTo>
                    <a:pt x="1399679" y="0"/>
                  </a:moveTo>
                  <a:lnTo>
                    <a:pt x="0" y="0"/>
                  </a:lnTo>
                </a:path>
              </a:pathLst>
            </a:custGeom>
            <a:ln w="12599">
              <a:solidFill>
                <a:srgbClr val="FFFFFF"/>
              </a:solidFill>
            </a:ln>
          </p:spPr>
          <p:txBody>
            <a:bodyPr wrap="square" lIns="0" tIns="0" rIns="0" bIns="0" rtlCol="0"/>
            <a:lstStyle/>
            <a:p>
              <a:endParaRPr/>
            </a:p>
          </p:txBody>
        </p:sp>
        <p:sp>
          <p:nvSpPr>
            <p:cNvPr id="8" name="object 8">
              <a:extLst>
                <a:ext uri="{FF2B5EF4-FFF2-40B4-BE49-F238E27FC236}">
                  <a16:creationId xmlns:a16="http://schemas.microsoft.com/office/drawing/2014/main" id="{38A2EDD1-9555-DD5F-9DBC-AD8BACB469FB}"/>
                </a:ext>
              </a:extLst>
            </p:cNvPr>
            <p:cNvSpPr/>
            <p:nvPr/>
          </p:nvSpPr>
          <p:spPr>
            <a:xfrm>
              <a:off x="360362" y="1436039"/>
              <a:ext cx="11469370" cy="5079365"/>
            </a:xfrm>
            <a:custGeom>
              <a:avLst/>
              <a:gdLst/>
              <a:ahLst/>
              <a:cxnLst/>
              <a:rect l="l" t="t" r="r" b="b"/>
              <a:pathLst>
                <a:path w="11469370" h="5079365">
                  <a:moveTo>
                    <a:pt x="11468874" y="0"/>
                  </a:moveTo>
                  <a:lnTo>
                    <a:pt x="0" y="0"/>
                  </a:lnTo>
                  <a:lnTo>
                    <a:pt x="0" y="5079238"/>
                  </a:lnTo>
                  <a:lnTo>
                    <a:pt x="5734443" y="5079238"/>
                  </a:lnTo>
                  <a:lnTo>
                    <a:pt x="11468874" y="5079238"/>
                  </a:lnTo>
                  <a:lnTo>
                    <a:pt x="11468874" y="0"/>
                  </a:lnTo>
                  <a:close/>
                </a:path>
              </a:pathLst>
            </a:custGeom>
            <a:solidFill>
              <a:srgbClr val="453E31"/>
            </a:solidFill>
          </p:spPr>
          <p:txBody>
            <a:bodyPr wrap="square" lIns="0" tIns="0" rIns="0" bIns="0" rtlCol="0"/>
            <a:lstStyle/>
            <a:p>
              <a:endParaRPr/>
            </a:p>
          </p:txBody>
        </p:sp>
        <p:sp>
          <p:nvSpPr>
            <p:cNvPr id="9" name="object 9">
              <a:extLst>
                <a:ext uri="{FF2B5EF4-FFF2-40B4-BE49-F238E27FC236}">
                  <a16:creationId xmlns:a16="http://schemas.microsoft.com/office/drawing/2014/main" id="{27C73B70-F65F-2BF1-BCD9-EA12879773D6}"/>
                </a:ext>
              </a:extLst>
            </p:cNvPr>
            <p:cNvSpPr/>
            <p:nvPr/>
          </p:nvSpPr>
          <p:spPr>
            <a:xfrm>
              <a:off x="1429194" y="2228405"/>
              <a:ext cx="2653665" cy="1346200"/>
            </a:xfrm>
            <a:custGeom>
              <a:avLst/>
              <a:gdLst/>
              <a:ahLst/>
              <a:cxnLst/>
              <a:rect l="l" t="t" r="r" b="b"/>
              <a:pathLst>
                <a:path w="2653665" h="1346200">
                  <a:moveTo>
                    <a:pt x="2653207" y="0"/>
                  </a:moveTo>
                  <a:lnTo>
                    <a:pt x="0" y="0"/>
                  </a:lnTo>
                  <a:lnTo>
                    <a:pt x="0" y="1345679"/>
                  </a:lnTo>
                  <a:lnTo>
                    <a:pt x="1326603" y="1345679"/>
                  </a:lnTo>
                  <a:lnTo>
                    <a:pt x="2653207" y="1345679"/>
                  </a:lnTo>
                  <a:lnTo>
                    <a:pt x="2653207" y="0"/>
                  </a:lnTo>
                  <a:close/>
                </a:path>
              </a:pathLst>
            </a:custGeom>
            <a:solidFill>
              <a:srgbClr val="22202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D9D98A52-4537-B4A6-02D8-603CCAD191A7}"/>
              </a:ext>
            </a:extLst>
          </p:cNvPr>
          <p:cNvSpPr txBox="1"/>
          <p:nvPr/>
        </p:nvSpPr>
        <p:spPr>
          <a:xfrm>
            <a:off x="6477000" y="1828800"/>
            <a:ext cx="4572000" cy="3539430"/>
          </a:xfrm>
          <a:prstGeom prst="rect">
            <a:avLst/>
          </a:prstGeom>
          <a:noFill/>
        </p:spPr>
        <p:txBody>
          <a:bodyPr wrap="square" rtlCol="0">
            <a:spAutoFit/>
          </a:bodyPr>
          <a:lstStyle/>
          <a:p>
            <a:pPr>
              <a:buNone/>
            </a:pPr>
            <a:r>
              <a:rPr lang="en-US" sz="1400" dirty="0">
                <a:solidFill>
                  <a:schemeClr val="bg1"/>
                </a:solidFill>
              </a:rPr>
              <a:t>The Finite Element Analysis showed a </a:t>
            </a:r>
            <a:r>
              <a:rPr lang="en-US" sz="1400" b="1" dirty="0">
                <a:solidFill>
                  <a:schemeClr val="bg1"/>
                </a:solidFill>
              </a:rPr>
              <a:t>maximum stress of 118 MPa</a:t>
            </a:r>
            <a:r>
              <a:rPr lang="en-US" sz="1400" dirty="0">
                <a:solidFill>
                  <a:schemeClr val="bg1"/>
                </a:solidFill>
              </a:rPr>
              <a:t> in the suspension system.</a:t>
            </a:r>
          </a:p>
          <a:p>
            <a:pPr>
              <a:buNone/>
            </a:pPr>
            <a:endParaRPr lang="en-US" sz="1400" dirty="0">
              <a:solidFill>
                <a:schemeClr val="bg1"/>
              </a:solidFill>
            </a:endParaRPr>
          </a:p>
          <a:p>
            <a:pPr>
              <a:buNone/>
            </a:pPr>
            <a:r>
              <a:rPr lang="en-US" sz="1400" b="1" dirty="0">
                <a:solidFill>
                  <a:schemeClr val="bg1"/>
                </a:solidFill>
              </a:rPr>
              <a:t>Material Properties Used:</a:t>
            </a:r>
            <a:endParaRPr lang="en-US" sz="1400" dirty="0">
              <a:solidFill>
                <a:schemeClr val="bg1"/>
              </a:solidFill>
            </a:endParaRPr>
          </a:p>
          <a:p>
            <a:pPr>
              <a:buFont typeface="Arial" panose="020B0604020202020204" pitchFamily="34" charset="0"/>
              <a:buChar char="•"/>
            </a:pPr>
            <a:r>
              <a:rPr lang="en-US" sz="1400" b="1" dirty="0">
                <a:solidFill>
                  <a:schemeClr val="bg1"/>
                </a:solidFill>
              </a:rPr>
              <a:t>Yield Strength:</a:t>
            </a:r>
            <a:r>
              <a:rPr lang="en-US" sz="1400" dirty="0">
                <a:solidFill>
                  <a:schemeClr val="bg1"/>
                </a:solidFill>
              </a:rPr>
              <a:t> </a:t>
            </a:r>
            <a:r>
              <a:rPr lang="en-US" sz="1400" i="1" dirty="0">
                <a:solidFill>
                  <a:schemeClr val="bg1"/>
                </a:solidFill>
              </a:rPr>
              <a:t>e.g., 250 MPa</a:t>
            </a:r>
            <a:endParaRPr lang="en-US" sz="1400" dirty="0">
              <a:solidFill>
                <a:schemeClr val="bg1"/>
              </a:solidFill>
            </a:endParaRPr>
          </a:p>
          <a:p>
            <a:pPr>
              <a:buFont typeface="Arial" panose="020B0604020202020204" pitchFamily="34" charset="0"/>
              <a:buChar char="•"/>
            </a:pPr>
            <a:r>
              <a:rPr lang="en-US" sz="1400" b="1" dirty="0">
                <a:solidFill>
                  <a:schemeClr val="bg1"/>
                </a:solidFill>
              </a:rPr>
              <a:t>Ultimate Tensile Strength (UTS):</a:t>
            </a:r>
            <a:r>
              <a:rPr lang="en-US" sz="1400" dirty="0">
                <a:solidFill>
                  <a:schemeClr val="bg1"/>
                </a:solidFill>
              </a:rPr>
              <a:t> </a:t>
            </a:r>
            <a:r>
              <a:rPr lang="en-US" sz="1400" i="1" dirty="0">
                <a:solidFill>
                  <a:schemeClr val="bg1"/>
                </a:solidFill>
              </a:rPr>
              <a:t>e.g., 400 </a:t>
            </a:r>
            <a:r>
              <a:rPr lang="en-US" sz="1400" i="1" dirty="0" err="1">
                <a:solidFill>
                  <a:schemeClr val="bg1"/>
                </a:solidFill>
              </a:rPr>
              <a:t>Mpa</a:t>
            </a:r>
            <a:endParaRPr lang="en-US" sz="1400" i="1" dirty="0">
              <a:solidFill>
                <a:schemeClr val="bg1"/>
              </a:solidFill>
            </a:endParaRPr>
          </a:p>
          <a:p>
            <a:pPr>
              <a:buFont typeface="Arial" panose="020B0604020202020204" pitchFamily="34" charset="0"/>
              <a:buChar char="•"/>
            </a:pPr>
            <a:endParaRPr lang="en-US" sz="1400" dirty="0">
              <a:solidFill>
                <a:schemeClr val="bg1"/>
              </a:solidFill>
            </a:endParaRPr>
          </a:p>
          <a:p>
            <a:pPr>
              <a:buNone/>
            </a:pPr>
            <a:r>
              <a:rPr lang="en-US" sz="1400" b="1" u="sng" dirty="0">
                <a:solidFill>
                  <a:schemeClr val="bg1"/>
                </a:solidFill>
              </a:rPr>
              <a:t>Conclusion:</a:t>
            </a:r>
            <a:endParaRPr lang="en-US" sz="1400" u="sng" dirty="0">
              <a:solidFill>
                <a:schemeClr val="bg1"/>
              </a:solidFill>
            </a:endParaRPr>
          </a:p>
          <a:p>
            <a:pPr>
              <a:buFont typeface="Arial" panose="020B0604020202020204" pitchFamily="34" charset="0"/>
              <a:buChar char="•"/>
            </a:pPr>
            <a:r>
              <a:rPr lang="en-US" sz="1400" dirty="0">
                <a:solidFill>
                  <a:schemeClr val="bg1"/>
                </a:solidFill>
              </a:rPr>
              <a:t>The stress is </a:t>
            </a:r>
            <a:r>
              <a:rPr lang="en-US" sz="1400" b="1" dirty="0">
                <a:solidFill>
                  <a:schemeClr val="bg1"/>
                </a:solidFill>
              </a:rPr>
              <a:t>well below the yield strength</a:t>
            </a:r>
            <a:r>
              <a:rPr lang="en-US" sz="1400" dirty="0">
                <a:solidFill>
                  <a:schemeClr val="bg1"/>
                </a:solidFill>
              </a:rPr>
              <a:t>, indicating the design remains in the elastic range</a:t>
            </a:r>
          </a:p>
          <a:p>
            <a:pPr>
              <a:buFont typeface="Arial" panose="020B0604020202020204" pitchFamily="34" charset="0"/>
              <a:buChar char="•"/>
            </a:pPr>
            <a:r>
              <a:rPr lang="en-US" sz="1400" dirty="0">
                <a:solidFill>
                  <a:schemeClr val="bg1"/>
                </a:solidFill>
              </a:rPr>
              <a:t>No permanent deformation is expected under normal conditions</a:t>
            </a:r>
          </a:p>
          <a:p>
            <a:pPr>
              <a:buFont typeface="Arial" panose="020B0604020202020204" pitchFamily="34" charset="0"/>
              <a:buChar char="•"/>
            </a:pPr>
            <a:r>
              <a:rPr lang="en-US" sz="1400" dirty="0">
                <a:solidFill>
                  <a:schemeClr val="bg1"/>
                </a:solidFill>
              </a:rPr>
              <a:t>With standard safety factors considered, the structure is </a:t>
            </a:r>
            <a:r>
              <a:rPr lang="en-US" sz="1400" b="1" dirty="0">
                <a:solidFill>
                  <a:schemeClr val="bg1"/>
                </a:solidFill>
              </a:rPr>
              <a:t>safe and reliable</a:t>
            </a:r>
            <a:endParaRPr lang="en-US" sz="1400" dirty="0">
              <a:solidFill>
                <a:schemeClr val="bg1"/>
              </a:solidFill>
            </a:endParaRPr>
          </a:p>
          <a:p>
            <a:r>
              <a:rPr lang="en-US" sz="1400" dirty="0">
                <a:solidFill>
                  <a:schemeClr val="bg1"/>
                </a:solidFill>
              </a:rPr>
              <a:t>The next section presents stress distribution images from the FEA results.</a:t>
            </a:r>
          </a:p>
        </p:txBody>
      </p:sp>
      <p:pic>
        <p:nvPicPr>
          <p:cNvPr id="10" name="Picture 9">
            <a:extLst>
              <a:ext uri="{FF2B5EF4-FFF2-40B4-BE49-F238E27FC236}">
                <a16:creationId xmlns:a16="http://schemas.microsoft.com/office/drawing/2014/main" id="{3BF846F3-4E4C-9FE6-963F-23B4AACBC7AC}"/>
              </a:ext>
            </a:extLst>
          </p:cNvPr>
          <p:cNvPicPr>
            <a:picLocks noChangeAspect="1"/>
          </p:cNvPicPr>
          <p:nvPr/>
        </p:nvPicPr>
        <p:blipFill>
          <a:blip r:embed="rId3"/>
          <a:stretch>
            <a:fillRect/>
          </a:stretch>
        </p:blipFill>
        <p:spPr>
          <a:xfrm>
            <a:off x="986815" y="2057400"/>
            <a:ext cx="5182049" cy="2200847"/>
          </a:xfrm>
          <a:prstGeom prst="rect">
            <a:avLst/>
          </a:prstGeom>
        </p:spPr>
      </p:pic>
    </p:spTree>
    <p:extLst>
      <p:ext uri="{BB962C8B-B14F-4D97-AF65-F5344CB8AC3E}">
        <p14:creationId xmlns:p14="http://schemas.microsoft.com/office/powerpoint/2010/main" val="1627770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04800" y="884555"/>
            <a:ext cx="10857865" cy="4906645"/>
          </a:xfrm>
          <a:custGeom>
            <a:avLst/>
            <a:gdLst/>
            <a:ahLst/>
            <a:cxnLst/>
            <a:rect l="l" t="t" r="r" b="b"/>
            <a:pathLst>
              <a:path w="10857865" h="4906645">
                <a:moveTo>
                  <a:pt x="10857242" y="0"/>
                </a:moveTo>
                <a:lnTo>
                  <a:pt x="0" y="0"/>
                </a:lnTo>
                <a:lnTo>
                  <a:pt x="0" y="4906441"/>
                </a:lnTo>
                <a:lnTo>
                  <a:pt x="5428805" y="4906441"/>
                </a:lnTo>
                <a:lnTo>
                  <a:pt x="10857242" y="4906441"/>
                </a:lnTo>
                <a:lnTo>
                  <a:pt x="10857242" y="0"/>
                </a:lnTo>
                <a:close/>
              </a:path>
            </a:pathLst>
          </a:custGeom>
          <a:solidFill>
            <a:srgbClr val="453E31">
              <a:alpha val="92999"/>
            </a:srgbClr>
          </a:solidFill>
        </p:spPr>
        <p:txBody>
          <a:bodyPr wrap="square" lIns="0" tIns="0" rIns="0" bIns="0" rtlCol="0"/>
          <a:lstStyle/>
          <a:p>
            <a:endParaRPr dirty="0"/>
          </a:p>
        </p:txBody>
      </p:sp>
      <p:sp>
        <p:nvSpPr>
          <p:cNvPr id="29" name="object 29"/>
          <p:cNvSpPr txBox="1">
            <a:spLocks noGrp="1"/>
          </p:cNvSpPr>
          <p:nvPr>
            <p:ph type="title"/>
          </p:nvPr>
        </p:nvSpPr>
        <p:spPr>
          <a:xfrm>
            <a:off x="250101" y="203301"/>
            <a:ext cx="11698147" cy="615553"/>
          </a:xfrm>
          <a:prstGeom prst="rect">
            <a:avLst/>
          </a:prstGeom>
        </p:spPr>
        <p:txBody>
          <a:bodyPr vert="horz" wrap="square" lIns="0" tIns="12700" rIns="0" bIns="0" rtlCol="0">
            <a:spAutoFit/>
          </a:bodyPr>
          <a:lstStyle/>
          <a:p>
            <a:pPr marL="12700">
              <a:lnSpc>
                <a:spcPts val="4730"/>
              </a:lnSpc>
              <a:spcBef>
                <a:spcPts val="100"/>
              </a:spcBef>
            </a:pPr>
            <a:r>
              <a:rPr dirty="0"/>
              <a:t>Safety Factor and Displacement Analysis</a:t>
            </a:r>
          </a:p>
        </p:txBody>
      </p:sp>
      <p:sp>
        <p:nvSpPr>
          <p:cNvPr id="30" name="object 30"/>
          <p:cNvSpPr/>
          <p:nvPr/>
        </p:nvSpPr>
        <p:spPr>
          <a:xfrm>
            <a:off x="0" y="6530403"/>
            <a:ext cx="1702435" cy="0"/>
          </a:xfrm>
          <a:custGeom>
            <a:avLst/>
            <a:gdLst/>
            <a:ahLst/>
            <a:cxnLst/>
            <a:rect l="l" t="t" r="r" b="b"/>
            <a:pathLst>
              <a:path w="1702435">
                <a:moveTo>
                  <a:pt x="0" y="0"/>
                </a:moveTo>
                <a:lnTo>
                  <a:pt x="1702435" y="0"/>
                </a:lnTo>
              </a:path>
            </a:pathLst>
          </a:custGeom>
          <a:ln w="12599">
            <a:solidFill>
              <a:srgbClr val="FFFFFF"/>
            </a:solidFill>
          </a:ln>
        </p:spPr>
        <p:txBody>
          <a:bodyPr wrap="square" lIns="0" tIns="0" rIns="0" bIns="0" rtlCol="0"/>
          <a:lstStyle/>
          <a:p>
            <a:endParaRPr/>
          </a:p>
        </p:txBody>
      </p:sp>
      <p:sp>
        <p:nvSpPr>
          <p:cNvPr id="49" name="TextBox 48">
            <a:extLst>
              <a:ext uri="{FF2B5EF4-FFF2-40B4-BE49-F238E27FC236}">
                <a16:creationId xmlns:a16="http://schemas.microsoft.com/office/drawing/2014/main" id="{6FEDD208-FF2F-592D-6DAD-66168B0EC965}"/>
              </a:ext>
            </a:extLst>
          </p:cNvPr>
          <p:cNvSpPr txBox="1"/>
          <p:nvPr/>
        </p:nvSpPr>
        <p:spPr>
          <a:xfrm>
            <a:off x="381000" y="884555"/>
            <a:ext cx="10439400" cy="2462213"/>
          </a:xfrm>
          <a:prstGeom prst="rect">
            <a:avLst/>
          </a:prstGeom>
          <a:noFill/>
        </p:spPr>
        <p:txBody>
          <a:bodyPr wrap="square" rtlCol="0">
            <a:spAutoFit/>
          </a:bodyPr>
          <a:lstStyle/>
          <a:p>
            <a:pPr>
              <a:buNone/>
            </a:pPr>
            <a:r>
              <a:rPr lang="en-US" sz="1400" b="1" dirty="0">
                <a:solidFill>
                  <a:schemeClr val="bg1"/>
                </a:solidFill>
              </a:rPr>
              <a:t>Safety Factor &amp; Displacement Analysis</a:t>
            </a:r>
            <a:br>
              <a:rPr lang="en-US" sz="1400" dirty="0">
                <a:solidFill>
                  <a:schemeClr val="bg1"/>
                </a:solidFill>
              </a:rPr>
            </a:br>
            <a:r>
              <a:rPr lang="en-US" sz="1400" dirty="0">
                <a:solidFill>
                  <a:schemeClr val="bg1"/>
                </a:solidFill>
              </a:rPr>
              <a:t>Alongside stress evaluation, safety factor and displacement analyses were performed to verify structural reliability:</a:t>
            </a:r>
          </a:p>
          <a:p>
            <a:pPr>
              <a:buFont typeface="Arial" panose="020B0604020202020204" pitchFamily="34" charset="0"/>
              <a:buChar char="•"/>
            </a:pPr>
            <a:r>
              <a:rPr lang="en-US" sz="1400" b="1" dirty="0">
                <a:solidFill>
                  <a:schemeClr val="bg1"/>
                </a:solidFill>
              </a:rPr>
              <a:t>Safety Factor (SF):</a:t>
            </a: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Calculated as yield strength ÷ maximum stress</a:t>
            </a:r>
          </a:p>
          <a:p>
            <a:pPr marL="742950" lvl="1" indent="-285750">
              <a:buFont typeface="Arial" panose="020B0604020202020204" pitchFamily="34" charset="0"/>
              <a:buChar char="•"/>
            </a:pPr>
            <a:r>
              <a:rPr lang="en-US" sz="1400" dirty="0">
                <a:solidFill>
                  <a:schemeClr val="bg1"/>
                </a:solidFill>
              </a:rPr>
              <a:t>Results show the </a:t>
            </a:r>
            <a:r>
              <a:rPr lang="en-US" sz="1400" b="1" dirty="0">
                <a:solidFill>
                  <a:schemeClr val="bg1"/>
                </a:solidFill>
              </a:rPr>
              <a:t>minimum SF is within safe limits</a:t>
            </a:r>
            <a:r>
              <a:rPr lang="en-US" sz="1400" dirty="0">
                <a:solidFill>
                  <a:schemeClr val="bg1"/>
                </a:solidFill>
              </a:rPr>
              <a:t>, confirming the design can withstand applied loads without yielding</a:t>
            </a:r>
          </a:p>
          <a:p>
            <a:pPr marL="742950" lvl="1" indent="-285750">
              <a:buFont typeface="Arial" panose="020B0604020202020204" pitchFamily="34" charset="0"/>
              <a:buChar char="•"/>
            </a:pPr>
            <a:endParaRPr lang="en-US" sz="1400" dirty="0">
              <a:solidFill>
                <a:schemeClr val="bg1"/>
              </a:solidFill>
            </a:endParaRPr>
          </a:p>
          <a:p>
            <a:pPr>
              <a:buFont typeface="Arial" panose="020B0604020202020204" pitchFamily="34" charset="0"/>
              <a:buChar char="•"/>
            </a:pPr>
            <a:r>
              <a:rPr lang="en-US" sz="1400" b="1" dirty="0">
                <a:solidFill>
                  <a:schemeClr val="bg1"/>
                </a:solidFill>
              </a:rPr>
              <a:t>Displacement:</a:t>
            </a: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Measures how much components deflect under load</a:t>
            </a:r>
          </a:p>
          <a:p>
            <a:pPr marL="742950" lvl="1" indent="-285750">
              <a:buFont typeface="Arial" panose="020B0604020202020204" pitchFamily="34" charset="0"/>
              <a:buChar char="•"/>
            </a:pPr>
            <a:r>
              <a:rPr lang="en-US" sz="1400" dirty="0">
                <a:solidFill>
                  <a:schemeClr val="bg1"/>
                </a:solidFill>
              </a:rPr>
              <a:t>Results indicate </a:t>
            </a:r>
            <a:r>
              <a:rPr lang="en-US" sz="1400" b="1" dirty="0">
                <a:solidFill>
                  <a:schemeClr val="bg1"/>
                </a:solidFill>
              </a:rPr>
              <a:t>displacement is minimal and acceptable</a:t>
            </a:r>
            <a:r>
              <a:rPr lang="en-US" sz="1400" dirty="0">
                <a:solidFill>
                  <a:schemeClr val="bg1"/>
                </a:solidFill>
              </a:rPr>
              <a:t>, ensuring proper stiffness and performance</a:t>
            </a:r>
          </a:p>
          <a:p>
            <a:r>
              <a:rPr lang="en-US" sz="1400" dirty="0">
                <a:solidFill>
                  <a:schemeClr val="bg1"/>
                </a:solidFill>
              </a:rPr>
              <a:t>These findings confirm the suspension system is structurally sound and maintains its integrity under expected conditions.</a:t>
            </a:r>
          </a:p>
          <a:p>
            <a:endParaRPr lang="en-US" sz="1400" dirty="0">
              <a:solidFill>
                <a:schemeClr val="bg1"/>
              </a:solidFill>
            </a:endParaRPr>
          </a:p>
        </p:txBody>
      </p:sp>
      <p:pic>
        <p:nvPicPr>
          <p:cNvPr id="50" name="Picture 49">
            <a:extLst>
              <a:ext uri="{FF2B5EF4-FFF2-40B4-BE49-F238E27FC236}">
                <a16:creationId xmlns:a16="http://schemas.microsoft.com/office/drawing/2014/main" id="{A705DD0D-276C-1C4C-956A-1114B05A53DD}"/>
              </a:ext>
            </a:extLst>
          </p:cNvPr>
          <p:cNvPicPr>
            <a:picLocks noChangeAspect="1"/>
          </p:cNvPicPr>
          <p:nvPr/>
        </p:nvPicPr>
        <p:blipFill>
          <a:blip r:embed="rId2"/>
          <a:stretch>
            <a:fillRect/>
          </a:stretch>
        </p:blipFill>
        <p:spPr>
          <a:xfrm>
            <a:off x="1219200" y="3511233"/>
            <a:ext cx="5212532" cy="2743438"/>
          </a:xfrm>
          <a:prstGeom prst="rect">
            <a:avLst/>
          </a:prstGeom>
        </p:spPr>
      </p:pic>
      <p:pic>
        <p:nvPicPr>
          <p:cNvPr id="51" name="Picture 50">
            <a:extLst>
              <a:ext uri="{FF2B5EF4-FFF2-40B4-BE49-F238E27FC236}">
                <a16:creationId xmlns:a16="http://schemas.microsoft.com/office/drawing/2014/main" id="{97C800E6-48ED-CA10-032D-5CCA29106E5D}"/>
              </a:ext>
            </a:extLst>
          </p:cNvPr>
          <p:cNvPicPr>
            <a:picLocks noChangeAspect="1"/>
          </p:cNvPicPr>
          <p:nvPr/>
        </p:nvPicPr>
        <p:blipFill>
          <a:blip r:embed="rId3"/>
          <a:stretch>
            <a:fillRect/>
          </a:stretch>
        </p:blipFill>
        <p:spPr>
          <a:xfrm>
            <a:off x="6892766" y="3265028"/>
            <a:ext cx="4192225" cy="338967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B97CF2-DB6D-2B81-78ED-89A80AE29A0D}"/>
              </a:ext>
            </a:extLst>
          </p:cNvPr>
          <p:cNvSpPr>
            <a:spLocks noGrp="1"/>
          </p:cNvSpPr>
          <p:nvPr>
            <p:ph type="body" idx="1"/>
          </p:nvPr>
        </p:nvSpPr>
        <p:spPr>
          <a:xfrm>
            <a:off x="457201" y="457200"/>
            <a:ext cx="3200400" cy="3877985"/>
          </a:xfrm>
        </p:spPr>
        <p:txBody>
          <a:bodyPr/>
          <a:lstStyle/>
          <a:p>
            <a:pPr>
              <a:buNone/>
            </a:pPr>
            <a:r>
              <a:rPr lang="en-US" sz="2400" b="1" dirty="0">
                <a:solidFill>
                  <a:schemeClr val="bg1"/>
                </a:solidFill>
              </a:rPr>
              <a:t>Design Update &amp; Stress Reduction</a:t>
            </a:r>
            <a:endParaRPr lang="en-US" sz="2400" dirty="0">
              <a:solidFill>
                <a:schemeClr val="bg1"/>
              </a:solidFill>
            </a:endParaRPr>
          </a:p>
          <a:p>
            <a:pPr>
              <a:buNone/>
            </a:pPr>
            <a:endParaRPr lang="en-US" sz="2400" dirty="0">
              <a:solidFill>
                <a:schemeClr val="bg1"/>
              </a:solidFill>
            </a:endParaRPr>
          </a:p>
          <a:p>
            <a:r>
              <a:rPr lang="en-US" dirty="0">
                <a:solidFill>
                  <a:schemeClr val="bg1"/>
                </a:solidFill>
              </a:rPr>
              <a:t>I redesigned the areas in the assembly where the highest stress was concentrated. As a result, the maximum stress decreased from 118 MPa to 103 MPa. This improves the overall strength and reliability of the structure by reducing stress concentrations and increasing durability.</a:t>
            </a:r>
          </a:p>
          <a:p>
            <a:endParaRPr lang="en-US" dirty="0">
              <a:solidFill>
                <a:schemeClr val="bg1"/>
              </a:solidFill>
            </a:endParaRPr>
          </a:p>
        </p:txBody>
      </p:sp>
      <p:pic>
        <p:nvPicPr>
          <p:cNvPr id="4" name="Picture 3" descr="A blue and black object with a blue strip&#10;&#10;AI-generated content may be incorrect.">
            <a:extLst>
              <a:ext uri="{FF2B5EF4-FFF2-40B4-BE49-F238E27FC236}">
                <a16:creationId xmlns:a16="http://schemas.microsoft.com/office/drawing/2014/main" id="{A88BEA36-8D1E-6283-334E-497B362F7DE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62400" y="436266"/>
            <a:ext cx="3743960" cy="1999615"/>
          </a:xfrm>
          <a:prstGeom prst="rect">
            <a:avLst/>
          </a:prstGeom>
          <a:noFill/>
          <a:ln>
            <a:noFill/>
          </a:ln>
        </p:spPr>
      </p:pic>
      <p:pic>
        <p:nvPicPr>
          <p:cNvPr id="5" name="Picture 4">
            <a:extLst>
              <a:ext uri="{FF2B5EF4-FFF2-40B4-BE49-F238E27FC236}">
                <a16:creationId xmlns:a16="http://schemas.microsoft.com/office/drawing/2014/main" id="{F9A8E77E-0263-C55B-774C-A3692F77621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4335185"/>
            <a:ext cx="3903980" cy="2240915"/>
          </a:xfrm>
          <a:prstGeom prst="rect">
            <a:avLst/>
          </a:prstGeom>
          <a:noFill/>
          <a:ln>
            <a:noFill/>
          </a:ln>
        </p:spPr>
      </p:pic>
      <p:pic>
        <p:nvPicPr>
          <p:cNvPr id="6" name="Picture 5">
            <a:extLst>
              <a:ext uri="{FF2B5EF4-FFF2-40B4-BE49-F238E27FC236}">
                <a16:creationId xmlns:a16="http://schemas.microsoft.com/office/drawing/2014/main" id="{6073AE0E-8414-743C-0C01-ABFC10665C1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19865" y="304800"/>
            <a:ext cx="4050344" cy="2568258"/>
          </a:xfrm>
          <a:prstGeom prst="rect">
            <a:avLst/>
          </a:prstGeom>
          <a:noFill/>
          <a:ln>
            <a:noFill/>
          </a:ln>
        </p:spPr>
      </p:pic>
      <p:pic>
        <p:nvPicPr>
          <p:cNvPr id="7" name="Picture 6">
            <a:extLst>
              <a:ext uri="{FF2B5EF4-FFF2-40B4-BE49-F238E27FC236}">
                <a16:creationId xmlns:a16="http://schemas.microsoft.com/office/drawing/2014/main" id="{133B145B-26B7-BC3B-5A25-01E30F829790}"/>
              </a:ext>
            </a:extLst>
          </p:cNvPr>
          <p:cNvPicPr>
            <a:picLocks noChangeAspect="1"/>
          </p:cNvPicPr>
          <p:nvPr/>
        </p:nvPicPr>
        <p:blipFill>
          <a:blip r:embed="rId5"/>
          <a:stretch>
            <a:fillRect/>
          </a:stretch>
        </p:blipFill>
        <p:spPr>
          <a:xfrm>
            <a:off x="5257800" y="3309698"/>
            <a:ext cx="5218628" cy="3298222"/>
          </a:xfrm>
          <a:prstGeom prst="rect">
            <a:avLst/>
          </a:prstGeom>
        </p:spPr>
      </p:pic>
    </p:spTree>
    <p:extLst>
      <p:ext uri="{BB962C8B-B14F-4D97-AF65-F5344CB8AC3E}">
        <p14:creationId xmlns:p14="http://schemas.microsoft.com/office/powerpoint/2010/main" val="1397688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MATLAB Simscape Modeling and PID Control</a:t>
            </a:r>
          </a:p>
        </p:txBody>
      </p:sp>
      <p:grpSp>
        <p:nvGrpSpPr>
          <p:cNvPr id="3" name="object 3"/>
          <p:cNvGrpSpPr/>
          <p:nvPr/>
        </p:nvGrpSpPr>
        <p:grpSpPr>
          <a:xfrm>
            <a:off x="-355" y="990358"/>
            <a:ext cx="9946829" cy="5867654"/>
            <a:chOff x="-355" y="990358"/>
            <a:chExt cx="9946829" cy="5867654"/>
          </a:xfrm>
        </p:grpSpPr>
        <p:sp>
          <p:nvSpPr>
            <p:cNvPr id="4" name="object 4"/>
            <p:cNvSpPr/>
            <p:nvPr/>
          </p:nvSpPr>
          <p:spPr>
            <a:xfrm>
              <a:off x="4820754" y="6188760"/>
              <a:ext cx="5125720" cy="262255"/>
            </a:xfrm>
            <a:custGeom>
              <a:avLst/>
              <a:gdLst/>
              <a:ahLst/>
              <a:cxnLst/>
              <a:rect l="l" t="t" r="r" b="b"/>
              <a:pathLst>
                <a:path w="5125720" h="262254">
                  <a:moveTo>
                    <a:pt x="5125681" y="0"/>
                  </a:moveTo>
                  <a:lnTo>
                    <a:pt x="0" y="0"/>
                  </a:lnTo>
                  <a:lnTo>
                    <a:pt x="0" y="262077"/>
                  </a:lnTo>
                  <a:lnTo>
                    <a:pt x="2562847" y="262077"/>
                  </a:lnTo>
                  <a:lnTo>
                    <a:pt x="5125681" y="262077"/>
                  </a:lnTo>
                  <a:lnTo>
                    <a:pt x="5125681" y="0"/>
                  </a:lnTo>
                  <a:close/>
                </a:path>
              </a:pathLst>
            </a:custGeom>
            <a:solidFill>
              <a:srgbClr val="453E31">
                <a:alpha val="92999"/>
              </a:srgbClr>
            </a:solidFill>
          </p:spPr>
          <p:txBody>
            <a:bodyPr wrap="square" lIns="0" tIns="0" rIns="0" bIns="0" rtlCol="0"/>
            <a:lstStyle/>
            <a:p>
              <a:endParaRPr/>
            </a:p>
          </p:txBody>
        </p:sp>
        <p:sp>
          <p:nvSpPr>
            <p:cNvPr id="6" name="object 6"/>
            <p:cNvSpPr/>
            <p:nvPr/>
          </p:nvSpPr>
          <p:spPr>
            <a:xfrm>
              <a:off x="7963204" y="1713242"/>
              <a:ext cx="0" cy="5144770"/>
            </a:xfrm>
            <a:custGeom>
              <a:avLst/>
              <a:gdLst/>
              <a:ahLst/>
              <a:cxnLst/>
              <a:rect l="l" t="t" r="r" b="b"/>
              <a:pathLst>
                <a:path h="5144770">
                  <a:moveTo>
                    <a:pt x="0" y="0"/>
                  </a:moveTo>
                  <a:lnTo>
                    <a:pt x="0" y="5144757"/>
                  </a:lnTo>
                </a:path>
              </a:pathLst>
            </a:custGeom>
            <a:ln w="12599">
              <a:solidFill>
                <a:srgbClr val="FFFFFF"/>
              </a:solidFill>
            </a:ln>
          </p:spPr>
          <p:txBody>
            <a:bodyPr wrap="square" lIns="0" tIns="0" rIns="0" bIns="0" rtlCol="0"/>
            <a:lstStyle/>
            <a:p>
              <a:endParaRPr/>
            </a:p>
          </p:txBody>
        </p:sp>
        <p:sp>
          <p:nvSpPr>
            <p:cNvPr id="7" name="object 7"/>
            <p:cNvSpPr/>
            <p:nvPr/>
          </p:nvSpPr>
          <p:spPr>
            <a:xfrm>
              <a:off x="-355" y="990358"/>
              <a:ext cx="1882775" cy="702310"/>
            </a:xfrm>
            <a:custGeom>
              <a:avLst/>
              <a:gdLst/>
              <a:ahLst/>
              <a:cxnLst/>
              <a:rect l="l" t="t" r="r" b="b"/>
              <a:pathLst>
                <a:path w="1882775" h="702310">
                  <a:moveTo>
                    <a:pt x="1882432" y="0"/>
                  </a:moveTo>
                  <a:lnTo>
                    <a:pt x="0" y="0"/>
                  </a:lnTo>
                  <a:lnTo>
                    <a:pt x="0" y="702005"/>
                  </a:lnTo>
                  <a:lnTo>
                    <a:pt x="941400" y="702005"/>
                  </a:lnTo>
                  <a:lnTo>
                    <a:pt x="1882432" y="702005"/>
                  </a:lnTo>
                  <a:lnTo>
                    <a:pt x="1882432" y="0"/>
                  </a:lnTo>
                  <a:close/>
                </a:path>
              </a:pathLst>
            </a:custGeom>
            <a:solidFill>
              <a:srgbClr val="453E31">
                <a:alpha val="92999"/>
              </a:srgbClr>
            </a:solidFill>
          </p:spPr>
          <p:txBody>
            <a:bodyPr wrap="square" lIns="0" tIns="0" rIns="0" bIns="0" rtlCol="0"/>
            <a:lstStyle/>
            <a:p>
              <a:endParaRPr/>
            </a:p>
          </p:txBody>
        </p:sp>
        <p:sp>
          <p:nvSpPr>
            <p:cNvPr id="8" name="object 8"/>
            <p:cNvSpPr/>
            <p:nvPr/>
          </p:nvSpPr>
          <p:spPr>
            <a:xfrm>
              <a:off x="0" y="1180439"/>
              <a:ext cx="2516505" cy="0"/>
            </a:xfrm>
            <a:custGeom>
              <a:avLst/>
              <a:gdLst/>
              <a:ahLst/>
              <a:cxnLst/>
              <a:rect l="l" t="t" r="r" b="b"/>
              <a:pathLst>
                <a:path w="2516505">
                  <a:moveTo>
                    <a:pt x="0" y="0"/>
                  </a:moveTo>
                  <a:lnTo>
                    <a:pt x="2516403" y="0"/>
                  </a:lnTo>
                </a:path>
              </a:pathLst>
            </a:custGeom>
            <a:ln w="12599">
              <a:solidFill>
                <a:srgbClr val="FFFFFF"/>
              </a:solidFill>
            </a:ln>
          </p:spPr>
          <p:txBody>
            <a:bodyPr wrap="square" lIns="0" tIns="0" rIns="0" bIns="0" rtlCol="0"/>
            <a:lstStyle/>
            <a:p>
              <a:endParaRPr/>
            </a:p>
          </p:txBody>
        </p:sp>
        <p:sp>
          <p:nvSpPr>
            <p:cNvPr id="9" name="object 9"/>
            <p:cNvSpPr/>
            <p:nvPr/>
          </p:nvSpPr>
          <p:spPr>
            <a:xfrm>
              <a:off x="7760881" y="1536839"/>
              <a:ext cx="403225" cy="403225"/>
            </a:xfrm>
            <a:custGeom>
              <a:avLst/>
              <a:gdLst/>
              <a:ahLst/>
              <a:cxnLst/>
              <a:rect l="l" t="t" r="r" b="b"/>
              <a:pathLst>
                <a:path w="403225" h="403225">
                  <a:moveTo>
                    <a:pt x="201599" y="0"/>
                  </a:moveTo>
                  <a:lnTo>
                    <a:pt x="160921" y="4317"/>
                  </a:lnTo>
                  <a:lnTo>
                    <a:pt x="122034" y="16560"/>
                  </a:lnTo>
                  <a:lnTo>
                    <a:pt x="86398" y="36360"/>
                  </a:lnTo>
                  <a:lnTo>
                    <a:pt x="55435" y="63004"/>
                  </a:lnTo>
                  <a:lnTo>
                    <a:pt x="30594" y="95034"/>
                  </a:lnTo>
                  <a:lnTo>
                    <a:pt x="9359" y="141477"/>
                  </a:lnTo>
                  <a:lnTo>
                    <a:pt x="1511" y="180365"/>
                  </a:lnTo>
                  <a:lnTo>
                    <a:pt x="1435" y="181076"/>
                  </a:lnTo>
                  <a:lnTo>
                    <a:pt x="772" y="190804"/>
                  </a:lnTo>
                  <a:lnTo>
                    <a:pt x="723" y="191515"/>
                  </a:lnTo>
                  <a:lnTo>
                    <a:pt x="368" y="201244"/>
                  </a:lnTo>
                  <a:lnTo>
                    <a:pt x="355" y="201599"/>
                  </a:lnTo>
                  <a:lnTo>
                    <a:pt x="0" y="201599"/>
                  </a:lnTo>
                  <a:lnTo>
                    <a:pt x="343" y="211683"/>
                  </a:lnTo>
                  <a:lnTo>
                    <a:pt x="6746" y="253441"/>
                  </a:lnTo>
                  <a:lnTo>
                    <a:pt x="6832" y="253796"/>
                  </a:lnTo>
                  <a:lnTo>
                    <a:pt x="21958" y="293039"/>
                  </a:lnTo>
                  <a:lnTo>
                    <a:pt x="44996" y="328320"/>
                  </a:lnTo>
                  <a:lnTo>
                    <a:pt x="74879" y="357835"/>
                  </a:lnTo>
                  <a:lnTo>
                    <a:pt x="110159" y="380885"/>
                  </a:lnTo>
                  <a:lnTo>
                    <a:pt x="149402" y="395998"/>
                  </a:lnTo>
                  <a:lnTo>
                    <a:pt x="191160" y="402475"/>
                  </a:lnTo>
                  <a:lnTo>
                    <a:pt x="201599" y="402843"/>
                  </a:lnTo>
                  <a:lnTo>
                    <a:pt x="212039" y="402475"/>
                  </a:lnTo>
                  <a:lnTo>
                    <a:pt x="253796" y="395998"/>
                  </a:lnTo>
                  <a:lnTo>
                    <a:pt x="293039" y="380885"/>
                  </a:lnTo>
                  <a:lnTo>
                    <a:pt x="328320" y="357835"/>
                  </a:lnTo>
                  <a:lnTo>
                    <a:pt x="357835" y="327964"/>
                  </a:lnTo>
                  <a:lnTo>
                    <a:pt x="380873" y="292684"/>
                  </a:lnTo>
                  <a:lnTo>
                    <a:pt x="395897" y="253796"/>
                  </a:lnTo>
                  <a:lnTo>
                    <a:pt x="395998" y="253441"/>
                  </a:lnTo>
                  <a:lnTo>
                    <a:pt x="398427" y="243357"/>
                  </a:lnTo>
                  <a:lnTo>
                    <a:pt x="398513" y="243001"/>
                  </a:lnTo>
                  <a:lnTo>
                    <a:pt x="400316" y="232917"/>
                  </a:lnTo>
                  <a:lnTo>
                    <a:pt x="401716" y="222478"/>
                  </a:lnTo>
                  <a:lnTo>
                    <a:pt x="401764" y="222122"/>
                  </a:lnTo>
                  <a:lnTo>
                    <a:pt x="402451" y="212039"/>
                  </a:lnTo>
                  <a:lnTo>
                    <a:pt x="402831" y="201599"/>
                  </a:lnTo>
                  <a:lnTo>
                    <a:pt x="402844" y="201244"/>
                  </a:lnTo>
                  <a:lnTo>
                    <a:pt x="402500" y="191515"/>
                  </a:lnTo>
                  <a:lnTo>
                    <a:pt x="395998" y="149034"/>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a:p>
          </p:txBody>
        </p:sp>
        <p:sp>
          <p:nvSpPr>
            <p:cNvPr id="10" name="object 10"/>
            <p:cNvSpPr/>
            <p:nvPr/>
          </p:nvSpPr>
          <p:spPr>
            <a:xfrm>
              <a:off x="7760881" y="1536839"/>
              <a:ext cx="403225" cy="403225"/>
            </a:xfrm>
            <a:custGeom>
              <a:avLst/>
              <a:gdLst/>
              <a:ahLst/>
              <a:cxnLst/>
              <a:rect l="l" t="t" r="r" b="b"/>
              <a:pathLst>
                <a:path w="403225" h="403225">
                  <a:moveTo>
                    <a:pt x="355" y="201599"/>
                  </a:moveTo>
                  <a:lnTo>
                    <a:pt x="723" y="191515"/>
                  </a:lnTo>
                  <a:lnTo>
                    <a:pt x="1435" y="181076"/>
                  </a:lnTo>
                  <a:lnTo>
                    <a:pt x="9359" y="141477"/>
                  </a:lnTo>
                  <a:lnTo>
                    <a:pt x="25565" y="104038"/>
                  </a:lnTo>
                  <a:lnTo>
                    <a:pt x="42481" y="78485"/>
                  </a:lnTo>
                  <a:lnTo>
                    <a:pt x="48602" y="70561"/>
                  </a:lnTo>
                  <a:lnTo>
                    <a:pt x="78117" y="42481"/>
                  </a:lnTo>
                  <a:lnTo>
                    <a:pt x="112674" y="20878"/>
                  </a:lnTo>
                  <a:lnTo>
                    <a:pt x="151193" y="6476"/>
                  </a:lnTo>
                  <a:lnTo>
                    <a:pt x="191516" y="355"/>
                  </a:lnTo>
                  <a:lnTo>
                    <a:pt x="201599" y="0"/>
                  </a:lnTo>
                  <a:lnTo>
                    <a:pt x="243357" y="4317"/>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3"/>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11" name="object 11"/>
          <p:cNvSpPr txBox="1"/>
          <p:nvPr/>
        </p:nvSpPr>
        <p:spPr>
          <a:xfrm>
            <a:off x="7914500" y="1624215"/>
            <a:ext cx="9842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1</a:t>
            </a:r>
            <a:endParaRPr sz="1400">
              <a:latin typeface="Trebuchet MS"/>
              <a:cs typeface="Trebuchet MS"/>
            </a:endParaRPr>
          </a:p>
        </p:txBody>
      </p:sp>
      <p:grpSp>
        <p:nvGrpSpPr>
          <p:cNvPr id="12" name="object 12"/>
          <p:cNvGrpSpPr/>
          <p:nvPr/>
        </p:nvGrpSpPr>
        <p:grpSpPr>
          <a:xfrm>
            <a:off x="7754531" y="1706892"/>
            <a:ext cx="1149985" cy="1550035"/>
            <a:chOff x="7754531" y="1706892"/>
            <a:chExt cx="1149985" cy="1550035"/>
          </a:xfrm>
        </p:grpSpPr>
        <p:sp>
          <p:nvSpPr>
            <p:cNvPr id="13" name="object 13"/>
            <p:cNvSpPr/>
            <p:nvPr/>
          </p:nvSpPr>
          <p:spPr>
            <a:xfrm>
              <a:off x="8441283" y="1713242"/>
              <a:ext cx="457200" cy="53975"/>
            </a:xfrm>
            <a:custGeom>
              <a:avLst/>
              <a:gdLst/>
              <a:ahLst/>
              <a:cxnLst/>
              <a:rect l="l" t="t" r="r" b="b"/>
              <a:pathLst>
                <a:path w="457200" h="53975">
                  <a:moveTo>
                    <a:pt x="228600" y="53632"/>
                  </a:moveTo>
                  <a:lnTo>
                    <a:pt x="0" y="53632"/>
                  </a:lnTo>
                  <a:lnTo>
                    <a:pt x="0" y="0"/>
                  </a:lnTo>
                  <a:lnTo>
                    <a:pt x="456831" y="0"/>
                  </a:lnTo>
                  <a:lnTo>
                    <a:pt x="456831" y="53632"/>
                  </a:lnTo>
                  <a:lnTo>
                    <a:pt x="228600" y="53632"/>
                  </a:lnTo>
                  <a:close/>
                </a:path>
              </a:pathLst>
            </a:custGeom>
            <a:ln w="12599">
              <a:solidFill>
                <a:srgbClr val="FFFFFF"/>
              </a:solidFill>
            </a:ln>
          </p:spPr>
          <p:txBody>
            <a:bodyPr wrap="square" lIns="0" tIns="0" rIns="0" bIns="0" rtlCol="0"/>
            <a:lstStyle/>
            <a:p>
              <a:endParaRPr/>
            </a:p>
          </p:txBody>
        </p:sp>
        <p:sp>
          <p:nvSpPr>
            <p:cNvPr id="14" name="object 14"/>
            <p:cNvSpPr/>
            <p:nvPr/>
          </p:nvSpPr>
          <p:spPr>
            <a:xfrm>
              <a:off x="7760881" y="2847238"/>
              <a:ext cx="403225" cy="403225"/>
            </a:xfrm>
            <a:custGeom>
              <a:avLst/>
              <a:gdLst/>
              <a:ahLst/>
              <a:cxnLst/>
              <a:rect l="l" t="t" r="r" b="b"/>
              <a:pathLst>
                <a:path w="403225" h="403225">
                  <a:moveTo>
                    <a:pt x="201599" y="0"/>
                  </a:moveTo>
                  <a:lnTo>
                    <a:pt x="160921" y="4317"/>
                  </a:lnTo>
                  <a:lnTo>
                    <a:pt x="122034" y="16560"/>
                  </a:lnTo>
                  <a:lnTo>
                    <a:pt x="86398" y="36360"/>
                  </a:lnTo>
                  <a:lnTo>
                    <a:pt x="55435" y="63004"/>
                  </a:lnTo>
                  <a:lnTo>
                    <a:pt x="30594" y="95046"/>
                  </a:lnTo>
                  <a:lnTo>
                    <a:pt x="9359" y="141477"/>
                  </a:lnTo>
                  <a:lnTo>
                    <a:pt x="1511" y="180365"/>
                  </a:lnTo>
                  <a:lnTo>
                    <a:pt x="1435" y="181076"/>
                  </a:lnTo>
                  <a:lnTo>
                    <a:pt x="772" y="190804"/>
                  </a:lnTo>
                  <a:lnTo>
                    <a:pt x="723" y="191515"/>
                  </a:lnTo>
                  <a:lnTo>
                    <a:pt x="368" y="201244"/>
                  </a:lnTo>
                  <a:lnTo>
                    <a:pt x="355" y="201599"/>
                  </a:lnTo>
                  <a:lnTo>
                    <a:pt x="0" y="201599"/>
                  </a:lnTo>
                  <a:lnTo>
                    <a:pt x="343" y="211683"/>
                  </a:lnTo>
                  <a:lnTo>
                    <a:pt x="6746" y="253441"/>
                  </a:lnTo>
                  <a:lnTo>
                    <a:pt x="21958" y="293039"/>
                  </a:lnTo>
                  <a:lnTo>
                    <a:pt x="44996" y="328320"/>
                  </a:lnTo>
                  <a:lnTo>
                    <a:pt x="74879" y="357847"/>
                  </a:lnTo>
                  <a:lnTo>
                    <a:pt x="110159" y="380885"/>
                  </a:lnTo>
                  <a:lnTo>
                    <a:pt x="149402" y="395998"/>
                  </a:lnTo>
                  <a:lnTo>
                    <a:pt x="191160" y="402475"/>
                  </a:lnTo>
                  <a:lnTo>
                    <a:pt x="201599" y="402843"/>
                  </a:lnTo>
                  <a:lnTo>
                    <a:pt x="212039" y="402475"/>
                  </a:lnTo>
                  <a:lnTo>
                    <a:pt x="253796" y="395998"/>
                  </a:lnTo>
                  <a:lnTo>
                    <a:pt x="293039" y="380885"/>
                  </a:lnTo>
                  <a:lnTo>
                    <a:pt x="328320" y="357847"/>
                  </a:lnTo>
                  <a:lnTo>
                    <a:pt x="357835" y="327964"/>
                  </a:lnTo>
                  <a:lnTo>
                    <a:pt x="380873" y="292684"/>
                  </a:lnTo>
                  <a:lnTo>
                    <a:pt x="395897" y="253796"/>
                  </a:lnTo>
                  <a:lnTo>
                    <a:pt x="395998" y="253441"/>
                  </a:lnTo>
                  <a:lnTo>
                    <a:pt x="398427" y="243357"/>
                  </a:lnTo>
                  <a:lnTo>
                    <a:pt x="398513" y="243001"/>
                  </a:lnTo>
                  <a:lnTo>
                    <a:pt x="400316" y="232917"/>
                  </a:lnTo>
                  <a:lnTo>
                    <a:pt x="401716" y="222478"/>
                  </a:lnTo>
                  <a:lnTo>
                    <a:pt x="401764" y="222123"/>
                  </a:lnTo>
                  <a:lnTo>
                    <a:pt x="402451" y="212039"/>
                  </a:lnTo>
                  <a:lnTo>
                    <a:pt x="402831" y="201599"/>
                  </a:lnTo>
                  <a:lnTo>
                    <a:pt x="402844" y="201244"/>
                  </a:lnTo>
                  <a:lnTo>
                    <a:pt x="402500" y="191515"/>
                  </a:lnTo>
                  <a:lnTo>
                    <a:pt x="395998" y="149047"/>
                  </a:lnTo>
                  <a:lnTo>
                    <a:pt x="380873" y="109804"/>
                  </a:lnTo>
                  <a:lnTo>
                    <a:pt x="357835" y="74523"/>
                  </a:lnTo>
                  <a:lnTo>
                    <a:pt x="327964" y="44996"/>
                  </a:lnTo>
                  <a:lnTo>
                    <a:pt x="293039" y="21958"/>
                  </a:lnTo>
                  <a:lnTo>
                    <a:pt x="253796" y="6845"/>
                  </a:lnTo>
                  <a:lnTo>
                    <a:pt x="212039" y="355"/>
                  </a:lnTo>
                  <a:lnTo>
                    <a:pt x="201599" y="0"/>
                  </a:lnTo>
                  <a:close/>
                </a:path>
              </a:pathLst>
            </a:custGeom>
            <a:solidFill>
              <a:srgbClr val="222021"/>
            </a:solidFill>
          </p:spPr>
          <p:txBody>
            <a:bodyPr wrap="square" lIns="0" tIns="0" rIns="0" bIns="0" rtlCol="0"/>
            <a:lstStyle/>
            <a:p>
              <a:endParaRPr/>
            </a:p>
          </p:txBody>
        </p:sp>
        <p:sp>
          <p:nvSpPr>
            <p:cNvPr id="15" name="object 15"/>
            <p:cNvSpPr/>
            <p:nvPr/>
          </p:nvSpPr>
          <p:spPr>
            <a:xfrm>
              <a:off x="7760881" y="2847238"/>
              <a:ext cx="403225" cy="403225"/>
            </a:xfrm>
            <a:custGeom>
              <a:avLst/>
              <a:gdLst/>
              <a:ahLst/>
              <a:cxnLst/>
              <a:rect l="l" t="t" r="r" b="b"/>
              <a:pathLst>
                <a:path w="403225" h="403225">
                  <a:moveTo>
                    <a:pt x="355" y="201599"/>
                  </a:moveTo>
                  <a:lnTo>
                    <a:pt x="723" y="191515"/>
                  </a:lnTo>
                  <a:lnTo>
                    <a:pt x="1435" y="181076"/>
                  </a:lnTo>
                  <a:lnTo>
                    <a:pt x="9359" y="141477"/>
                  </a:lnTo>
                  <a:lnTo>
                    <a:pt x="25565" y="104038"/>
                  </a:lnTo>
                  <a:lnTo>
                    <a:pt x="42481" y="78486"/>
                  </a:lnTo>
                  <a:lnTo>
                    <a:pt x="48602" y="70561"/>
                  </a:lnTo>
                  <a:lnTo>
                    <a:pt x="78117" y="42481"/>
                  </a:lnTo>
                  <a:lnTo>
                    <a:pt x="112674" y="20878"/>
                  </a:lnTo>
                  <a:lnTo>
                    <a:pt x="151193" y="6476"/>
                  </a:lnTo>
                  <a:lnTo>
                    <a:pt x="191516" y="355"/>
                  </a:lnTo>
                  <a:lnTo>
                    <a:pt x="201599" y="0"/>
                  </a:lnTo>
                  <a:lnTo>
                    <a:pt x="243357" y="4317"/>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3"/>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16" name="object 16"/>
          <p:cNvSpPr txBox="1"/>
          <p:nvPr/>
        </p:nvSpPr>
        <p:spPr>
          <a:xfrm>
            <a:off x="9213736" y="1357464"/>
            <a:ext cx="2543175" cy="1205458"/>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System Integration</a:t>
            </a:r>
            <a:endParaRPr sz="1800">
              <a:latin typeface="Trebuchet MS"/>
              <a:cs typeface="Trebuchet MS"/>
            </a:endParaRPr>
          </a:p>
          <a:p>
            <a:pPr marL="12700" marR="5080">
              <a:lnSpc>
                <a:spcPct val="100000"/>
              </a:lnSpc>
              <a:spcBef>
                <a:spcPts val="919"/>
              </a:spcBef>
            </a:pPr>
            <a:r>
              <a:rPr sz="1300" dirty="0">
                <a:solidFill>
                  <a:srgbClr val="FFFFFF"/>
                </a:solidFill>
                <a:latin typeface="Trebuchet MS"/>
                <a:cs typeface="Trebuchet MS"/>
              </a:rPr>
              <a:t>Seamlessly integrate various components of electromechanical suspension using MATLAB for enhanced design efficiency.</a:t>
            </a:r>
            <a:endParaRPr sz="1300">
              <a:latin typeface="Trebuchet MS"/>
              <a:cs typeface="Trebuchet MS"/>
            </a:endParaRPr>
          </a:p>
        </p:txBody>
      </p:sp>
      <p:sp>
        <p:nvSpPr>
          <p:cNvPr id="17" name="object 17"/>
          <p:cNvSpPr txBox="1"/>
          <p:nvPr/>
        </p:nvSpPr>
        <p:spPr>
          <a:xfrm>
            <a:off x="7914500" y="2931020"/>
            <a:ext cx="9842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2</a:t>
            </a:r>
            <a:endParaRPr sz="1400">
              <a:latin typeface="Trebuchet MS"/>
              <a:cs typeface="Trebuchet MS"/>
            </a:endParaRPr>
          </a:p>
        </p:txBody>
      </p:sp>
      <p:grpSp>
        <p:nvGrpSpPr>
          <p:cNvPr id="18" name="object 18"/>
          <p:cNvGrpSpPr/>
          <p:nvPr/>
        </p:nvGrpSpPr>
        <p:grpSpPr>
          <a:xfrm>
            <a:off x="7754531" y="3017291"/>
            <a:ext cx="1149985" cy="1557020"/>
            <a:chOff x="7754531" y="3017291"/>
            <a:chExt cx="1149985" cy="1557020"/>
          </a:xfrm>
        </p:grpSpPr>
        <p:sp>
          <p:nvSpPr>
            <p:cNvPr id="19" name="object 19"/>
            <p:cNvSpPr/>
            <p:nvPr/>
          </p:nvSpPr>
          <p:spPr>
            <a:xfrm>
              <a:off x="8441283" y="3023641"/>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20" name="object 20"/>
            <p:cNvSpPr/>
            <p:nvPr/>
          </p:nvSpPr>
          <p:spPr>
            <a:xfrm>
              <a:off x="7760881" y="4164838"/>
              <a:ext cx="403225" cy="403225"/>
            </a:xfrm>
            <a:custGeom>
              <a:avLst/>
              <a:gdLst/>
              <a:ahLst/>
              <a:cxnLst/>
              <a:rect l="l" t="t" r="r" b="b"/>
              <a:pathLst>
                <a:path w="403225" h="403225">
                  <a:moveTo>
                    <a:pt x="201599" y="0"/>
                  </a:moveTo>
                  <a:lnTo>
                    <a:pt x="160921" y="4318"/>
                  </a:lnTo>
                  <a:lnTo>
                    <a:pt x="122034" y="16560"/>
                  </a:lnTo>
                  <a:lnTo>
                    <a:pt x="86398" y="36360"/>
                  </a:lnTo>
                  <a:lnTo>
                    <a:pt x="55435" y="63004"/>
                  </a:lnTo>
                  <a:lnTo>
                    <a:pt x="30594" y="95046"/>
                  </a:lnTo>
                  <a:lnTo>
                    <a:pt x="9359" y="141478"/>
                  </a:lnTo>
                  <a:lnTo>
                    <a:pt x="1511" y="180365"/>
                  </a:lnTo>
                  <a:lnTo>
                    <a:pt x="1435" y="181076"/>
                  </a:lnTo>
                  <a:lnTo>
                    <a:pt x="772" y="190804"/>
                  </a:lnTo>
                  <a:lnTo>
                    <a:pt x="723" y="191516"/>
                  </a:lnTo>
                  <a:lnTo>
                    <a:pt x="368" y="201244"/>
                  </a:lnTo>
                  <a:lnTo>
                    <a:pt x="355" y="201599"/>
                  </a:lnTo>
                  <a:lnTo>
                    <a:pt x="0" y="201599"/>
                  </a:lnTo>
                  <a:lnTo>
                    <a:pt x="343" y="211683"/>
                  </a:lnTo>
                  <a:lnTo>
                    <a:pt x="6746" y="253441"/>
                  </a:lnTo>
                  <a:lnTo>
                    <a:pt x="6832" y="253796"/>
                  </a:lnTo>
                  <a:lnTo>
                    <a:pt x="21958" y="293039"/>
                  </a:lnTo>
                  <a:lnTo>
                    <a:pt x="44996" y="328320"/>
                  </a:lnTo>
                  <a:lnTo>
                    <a:pt x="74879" y="357847"/>
                  </a:lnTo>
                  <a:lnTo>
                    <a:pt x="110159" y="380885"/>
                  </a:lnTo>
                  <a:lnTo>
                    <a:pt x="149402" y="395998"/>
                  </a:lnTo>
                  <a:lnTo>
                    <a:pt x="191160" y="402475"/>
                  </a:lnTo>
                  <a:lnTo>
                    <a:pt x="201599" y="402844"/>
                  </a:lnTo>
                  <a:lnTo>
                    <a:pt x="212039" y="402475"/>
                  </a:lnTo>
                  <a:lnTo>
                    <a:pt x="253796" y="395998"/>
                  </a:lnTo>
                  <a:lnTo>
                    <a:pt x="293039" y="380885"/>
                  </a:lnTo>
                  <a:lnTo>
                    <a:pt x="328320" y="357847"/>
                  </a:lnTo>
                  <a:lnTo>
                    <a:pt x="357835" y="327964"/>
                  </a:lnTo>
                  <a:lnTo>
                    <a:pt x="380873" y="292684"/>
                  </a:lnTo>
                  <a:lnTo>
                    <a:pt x="395897" y="253796"/>
                  </a:lnTo>
                  <a:lnTo>
                    <a:pt x="395998" y="253441"/>
                  </a:lnTo>
                  <a:lnTo>
                    <a:pt x="398427" y="243357"/>
                  </a:lnTo>
                  <a:lnTo>
                    <a:pt x="398513" y="243001"/>
                  </a:lnTo>
                  <a:lnTo>
                    <a:pt x="400316" y="232918"/>
                  </a:lnTo>
                  <a:lnTo>
                    <a:pt x="401716" y="222478"/>
                  </a:lnTo>
                  <a:lnTo>
                    <a:pt x="401764" y="222123"/>
                  </a:lnTo>
                  <a:lnTo>
                    <a:pt x="402451" y="212039"/>
                  </a:lnTo>
                  <a:lnTo>
                    <a:pt x="402831" y="201599"/>
                  </a:lnTo>
                  <a:lnTo>
                    <a:pt x="402844" y="201244"/>
                  </a:lnTo>
                  <a:lnTo>
                    <a:pt x="402500" y="191516"/>
                  </a:lnTo>
                  <a:lnTo>
                    <a:pt x="395998" y="149047"/>
                  </a:lnTo>
                  <a:lnTo>
                    <a:pt x="380873" y="109804"/>
                  </a:lnTo>
                  <a:lnTo>
                    <a:pt x="357835" y="74523"/>
                  </a:lnTo>
                  <a:lnTo>
                    <a:pt x="327964" y="44996"/>
                  </a:lnTo>
                  <a:lnTo>
                    <a:pt x="293039" y="21958"/>
                  </a:lnTo>
                  <a:lnTo>
                    <a:pt x="253796" y="6845"/>
                  </a:lnTo>
                  <a:lnTo>
                    <a:pt x="212039" y="368"/>
                  </a:lnTo>
                  <a:lnTo>
                    <a:pt x="201599" y="0"/>
                  </a:lnTo>
                  <a:close/>
                </a:path>
              </a:pathLst>
            </a:custGeom>
            <a:solidFill>
              <a:srgbClr val="222021"/>
            </a:solidFill>
          </p:spPr>
          <p:txBody>
            <a:bodyPr wrap="square" lIns="0" tIns="0" rIns="0" bIns="0" rtlCol="0"/>
            <a:lstStyle/>
            <a:p>
              <a:endParaRPr/>
            </a:p>
          </p:txBody>
        </p:sp>
        <p:sp>
          <p:nvSpPr>
            <p:cNvPr id="21" name="object 21"/>
            <p:cNvSpPr/>
            <p:nvPr/>
          </p:nvSpPr>
          <p:spPr>
            <a:xfrm>
              <a:off x="7760881" y="4164838"/>
              <a:ext cx="403225" cy="403225"/>
            </a:xfrm>
            <a:custGeom>
              <a:avLst/>
              <a:gdLst/>
              <a:ahLst/>
              <a:cxnLst/>
              <a:rect l="l" t="t" r="r" b="b"/>
              <a:pathLst>
                <a:path w="403225" h="403225">
                  <a:moveTo>
                    <a:pt x="355" y="201599"/>
                  </a:moveTo>
                  <a:lnTo>
                    <a:pt x="723" y="191516"/>
                  </a:lnTo>
                  <a:lnTo>
                    <a:pt x="1435" y="181076"/>
                  </a:lnTo>
                  <a:lnTo>
                    <a:pt x="9359" y="141478"/>
                  </a:lnTo>
                  <a:lnTo>
                    <a:pt x="25565" y="104038"/>
                  </a:lnTo>
                  <a:lnTo>
                    <a:pt x="42481" y="78486"/>
                  </a:lnTo>
                  <a:lnTo>
                    <a:pt x="48602" y="70561"/>
                  </a:lnTo>
                  <a:lnTo>
                    <a:pt x="78117" y="42481"/>
                  </a:lnTo>
                  <a:lnTo>
                    <a:pt x="112674" y="20878"/>
                  </a:lnTo>
                  <a:lnTo>
                    <a:pt x="151193" y="6476"/>
                  </a:lnTo>
                  <a:lnTo>
                    <a:pt x="191516" y="368"/>
                  </a:lnTo>
                  <a:lnTo>
                    <a:pt x="201599" y="0"/>
                  </a:lnTo>
                  <a:lnTo>
                    <a:pt x="243357" y="4318"/>
                  </a:lnTo>
                  <a:lnTo>
                    <a:pt x="283324" y="17284"/>
                  </a:lnTo>
                  <a:lnTo>
                    <a:pt x="319684" y="38519"/>
                  </a:lnTo>
                  <a:lnTo>
                    <a:pt x="351002" y="66598"/>
                  </a:lnTo>
                  <a:lnTo>
                    <a:pt x="375843" y="100444"/>
                  </a:lnTo>
                  <a:lnTo>
                    <a:pt x="392760" y="138963"/>
                  </a:lnTo>
                  <a:lnTo>
                    <a:pt x="401764" y="180365"/>
                  </a:lnTo>
                  <a:lnTo>
                    <a:pt x="402844" y="201244"/>
                  </a:lnTo>
                  <a:lnTo>
                    <a:pt x="398513" y="243001"/>
                  </a:lnTo>
                  <a:lnTo>
                    <a:pt x="385559" y="283324"/>
                  </a:lnTo>
                  <a:lnTo>
                    <a:pt x="364324" y="319684"/>
                  </a:lnTo>
                  <a:lnTo>
                    <a:pt x="336245" y="351002"/>
                  </a:lnTo>
                  <a:lnTo>
                    <a:pt x="302399" y="375843"/>
                  </a:lnTo>
                  <a:lnTo>
                    <a:pt x="263880" y="392760"/>
                  </a:lnTo>
                  <a:lnTo>
                    <a:pt x="222478" y="401764"/>
                  </a:lnTo>
                  <a:lnTo>
                    <a:pt x="201599" y="402844"/>
                  </a:lnTo>
                  <a:lnTo>
                    <a:pt x="159842" y="398525"/>
                  </a:lnTo>
                  <a:lnTo>
                    <a:pt x="119519" y="385559"/>
                  </a:lnTo>
                  <a:lnTo>
                    <a:pt x="83159" y="364324"/>
                  </a:lnTo>
                  <a:lnTo>
                    <a:pt x="51841" y="336245"/>
                  </a:lnTo>
                  <a:lnTo>
                    <a:pt x="27000" y="302399"/>
                  </a:lnTo>
                  <a:lnTo>
                    <a:pt x="10083" y="263880"/>
                  </a:lnTo>
                  <a:lnTo>
                    <a:pt x="1079" y="22247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22" name="object 22"/>
          <p:cNvSpPr txBox="1"/>
          <p:nvPr/>
        </p:nvSpPr>
        <p:spPr>
          <a:xfrm>
            <a:off x="9213736" y="2517824"/>
            <a:ext cx="2672715" cy="1359988"/>
          </a:xfrm>
          <a:prstGeom prst="rect">
            <a:avLst/>
          </a:prstGeom>
        </p:spPr>
        <p:txBody>
          <a:bodyPr vert="horz" wrap="square" lIns="0" tIns="165735" rIns="0" bIns="0" rtlCol="0">
            <a:spAutoFit/>
          </a:bodyPr>
          <a:lstStyle/>
          <a:p>
            <a:pPr marL="12700">
              <a:lnSpc>
                <a:spcPct val="100000"/>
              </a:lnSpc>
              <a:spcBef>
                <a:spcPts val="1305"/>
              </a:spcBef>
            </a:pPr>
            <a:r>
              <a:rPr sz="1800" dirty="0">
                <a:solidFill>
                  <a:srgbClr val="FFFFFF"/>
                </a:solidFill>
                <a:latin typeface="Trebuchet MS"/>
                <a:cs typeface="Trebuchet MS"/>
              </a:rPr>
              <a:t>Real-Time Simulation</a:t>
            </a:r>
            <a:endParaRPr sz="1800">
              <a:latin typeface="Trebuchet MS"/>
              <a:cs typeface="Trebuchet MS"/>
            </a:endParaRPr>
          </a:p>
          <a:p>
            <a:pPr marL="12700" marR="5080">
              <a:lnSpc>
                <a:spcPct val="100000"/>
              </a:lnSpc>
              <a:spcBef>
                <a:spcPts val="869"/>
              </a:spcBef>
            </a:pPr>
            <a:r>
              <a:rPr sz="1300" dirty="0">
                <a:solidFill>
                  <a:srgbClr val="FFFFFF"/>
                </a:solidFill>
                <a:latin typeface="Trebuchet MS"/>
                <a:cs typeface="Trebuchet MS"/>
              </a:rPr>
              <a:t>Conduct real-time simulations to assess suspension dynamics, improving design accuracy and performance.</a:t>
            </a:r>
            <a:endParaRPr sz="1300">
              <a:latin typeface="Trebuchet MS"/>
              <a:cs typeface="Trebuchet MS"/>
            </a:endParaRPr>
          </a:p>
        </p:txBody>
      </p:sp>
      <p:sp>
        <p:nvSpPr>
          <p:cNvPr id="23" name="object 23"/>
          <p:cNvSpPr txBox="1"/>
          <p:nvPr/>
        </p:nvSpPr>
        <p:spPr>
          <a:xfrm>
            <a:off x="7914500" y="4248264"/>
            <a:ext cx="9842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3</a:t>
            </a:r>
            <a:endParaRPr sz="1400">
              <a:latin typeface="Trebuchet MS"/>
              <a:cs typeface="Trebuchet MS"/>
            </a:endParaRPr>
          </a:p>
        </p:txBody>
      </p:sp>
      <p:grpSp>
        <p:nvGrpSpPr>
          <p:cNvPr id="24" name="object 24"/>
          <p:cNvGrpSpPr/>
          <p:nvPr/>
        </p:nvGrpSpPr>
        <p:grpSpPr>
          <a:xfrm>
            <a:off x="7754531" y="4331284"/>
            <a:ext cx="1149985" cy="1557020"/>
            <a:chOff x="7754531" y="4331284"/>
            <a:chExt cx="1149985" cy="1557020"/>
          </a:xfrm>
        </p:grpSpPr>
        <p:sp>
          <p:nvSpPr>
            <p:cNvPr id="25" name="object 25"/>
            <p:cNvSpPr/>
            <p:nvPr/>
          </p:nvSpPr>
          <p:spPr>
            <a:xfrm>
              <a:off x="8441283" y="4337634"/>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26" name="object 26"/>
            <p:cNvSpPr/>
            <p:nvPr/>
          </p:nvSpPr>
          <p:spPr>
            <a:xfrm>
              <a:off x="7760881" y="5478843"/>
              <a:ext cx="403225" cy="403225"/>
            </a:xfrm>
            <a:custGeom>
              <a:avLst/>
              <a:gdLst/>
              <a:ahLst/>
              <a:cxnLst/>
              <a:rect l="l" t="t" r="r" b="b"/>
              <a:pathLst>
                <a:path w="403225" h="403225">
                  <a:moveTo>
                    <a:pt x="201599" y="0"/>
                  </a:moveTo>
                  <a:lnTo>
                    <a:pt x="160921" y="4318"/>
                  </a:lnTo>
                  <a:lnTo>
                    <a:pt x="122034" y="16560"/>
                  </a:lnTo>
                  <a:lnTo>
                    <a:pt x="86398" y="36360"/>
                  </a:lnTo>
                  <a:lnTo>
                    <a:pt x="55435" y="62992"/>
                  </a:lnTo>
                  <a:lnTo>
                    <a:pt x="30594" y="95034"/>
                  </a:lnTo>
                  <a:lnTo>
                    <a:pt x="9359" y="141478"/>
                  </a:lnTo>
                  <a:lnTo>
                    <a:pt x="1512" y="180352"/>
                  </a:lnTo>
                  <a:lnTo>
                    <a:pt x="1435" y="181076"/>
                  </a:lnTo>
                  <a:lnTo>
                    <a:pt x="773" y="190792"/>
                  </a:lnTo>
                  <a:lnTo>
                    <a:pt x="723" y="191516"/>
                  </a:lnTo>
                  <a:lnTo>
                    <a:pt x="369" y="201231"/>
                  </a:lnTo>
                  <a:lnTo>
                    <a:pt x="355" y="201599"/>
                  </a:lnTo>
                  <a:lnTo>
                    <a:pt x="0" y="201599"/>
                  </a:lnTo>
                  <a:lnTo>
                    <a:pt x="343" y="211670"/>
                  </a:lnTo>
                  <a:lnTo>
                    <a:pt x="6746" y="253441"/>
                  </a:lnTo>
                  <a:lnTo>
                    <a:pt x="21958" y="293039"/>
                  </a:lnTo>
                  <a:lnTo>
                    <a:pt x="44996" y="328320"/>
                  </a:lnTo>
                  <a:lnTo>
                    <a:pt x="74879" y="357835"/>
                  </a:lnTo>
                  <a:lnTo>
                    <a:pt x="110159" y="380873"/>
                  </a:lnTo>
                  <a:lnTo>
                    <a:pt x="149402" y="395998"/>
                  </a:lnTo>
                  <a:lnTo>
                    <a:pt x="191160" y="402475"/>
                  </a:lnTo>
                  <a:lnTo>
                    <a:pt x="201599" y="402831"/>
                  </a:lnTo>
                  <a:lnTo>
                    <a:pt x="212039" y="402475"/>
                  </a:lnTo>
                  <a:lnTo>
                    <a:pt x="253796" y="395998"/>
                  </a:lnTo>
                  <a:lnTo>
                    <a:pt x="293039" y="380873"/>
                  </a:lnTo>
                  <a:lnTo>
                    <a:pt x="328320" y="357835"/>
                  </a:lnTo>
                  <a:lnTo>
                    <a:pt x="357835" y="327952"/>
                  </a:lnTo>
                  <a:lnTo>
                    <a:pt x="380873" y="292671"/>
                  </a:lnTo>
                  <a:lnTo>
                    <a:pt x="395896" y="253796"/>
                  </a:lnTo>
                  <a:lnTo>
                    <a:pt x="398427" y="243357"/>
                  </a:lnTo>
                  <a:lnTo>
                    <a:pt x="398513" y="243001"/>
                  </a:lnTo>
                  <a:lnTo>
                    <a:pt x="402831" y="201599"/>
                  </a:lnTo>
                  <a:lnTo>
                    <a:pt x="402844" y="201231"/>
                  </a:lnTo>
                  <a:lnTo>
                    <a:pt x="402501" y="191516"/>
                  </a:lnTo>
                  <a:lnTo>
                    <a:pt x="402475" y="190792"/>
                  </a:lnTo>
                  <a:lnTo>
                    <a:pt x="395998" y="149034"/>
                  </a:lnTo>
                  <a:lnTo>
                    <a:pt x="380873" y="109791"/>
                  </a:lnTo>
                  <a:lnTo>
                    <a:pt x="357835" y="74510"/>
                  </a:lnTo>
                  <a:lnTo>
                    <a:pt x="327964" y="44996"/>
                  </a:lnTo>
                  <a:lnTo>
                    <a:pt x="293039" y="21958"/>
                  </a:lnTo>
                  <a:lnTo>
                    <a:pt x="253796" y="6832"/>
                  </a:lnTo>
                  <a:lnTo>
                    <a:pt x="212039" y="355"/>
                  </a:lnTo>
                  <a:lnTo>
                    <a:pt x="201599" y="0"/>
                  </a:lnTo>
                  <a:close/>
                </a:path>
              </a:pathLst>
            </a:custGeom>
            <a:solidFill>
              <a:srgbClr val="222021"/>
            </a:solidFill>
          </p:spPr>
          <p:txBody>
            <a:bodyPr wrap="square" lIns="0" tIns="0" rIns="0" bIns="0" rtlCol="0"/>
            <a:lstStyle/>
            <a:p>
              <a:endParaRPr/>
            </a:p>
          </p:txBody>
        </p:sp>
        <p:sp>
          <p:nvSpPr>
            <p:cNvPr id="27" name="object 27"/>
            <p:cNvSpPr/>
            <p:nvPr/>
          </p:nvSpPr>
          <p:spPr>
            <a:xfrm>
              <a:off x="7760881" y="5478843"/>
              <a:ext cx="403225" cy="403225"/>
            </a:xfrm>
            <a:custGeom>
              <a:avLst/>
              <a:gdLst/>
              <a:ahLst/>
              <a:cxnLst/>
              <a:rect l="l" t="t" r="r" b="b"/>
              <a:pathLst>
                <a:path w="403225" h="403225">
                  <a:moveTo>
                    <a:pt x="355" y="201599"/>
                  </a:moveTo>
                  <a:lnTo>
                    <a:pt x="723" y="191516"/>
                  </a:lnTo>
                  <a:lnTo>
                    <a:pt x="1435" y="181076"/>
                  </a:lnTo>
                  <a:lnTo>
                    <a:pt x="9359" y="141478"/>
                  </a:lnTo>
                  <a:lnTo>
                    <a:pt x="25565" y="104038"/>
                  </a:lnTo>
                  <a:lnTo>
                    <a:pt x="48602" y="70561"/>
                  </a:lnTo>
                  <a:lnTo>
                    <a:pt x="78117" y="42481"/>
                  </a:lnTo>
                  <a:lnTo>
                    <a:pt x="112674" y="20878"/>
                  </a:lnTo>
                  <a:lnTo>
                    <a:pt x="151193" y="6477"/>
                  </a:lnTo>
                  <a:lnTo>
                    <a:pt x="191516" y="355"/>
                  </a:lnTo>
                  <a:lnTo>
                    <a:pt x="201599" y="0"/>
                  </a:lnTo>
                  <a:lnTo>
                    <a:pt x="243357" y="4318"/>
                  </a:lnTo>
                  <a:lnTo>
                    <a:pt x="283324" y="17272"/>
                  </a:lnTo>
                  <a:lnTo>
                    <a:pt x="319684" y="38519"/>
                  </a:lnTo>
                  <a:lnTo>
                    <a:pt x="351002" y="66598"/>
                  </a:lnTo>
                  <a:lnTo>
                    <a:pt x="375843" y="100431"/>
                  </a:lnTo>
                  <a:lnTo>
                    <a:pt x="392760" y="138950"/>
                  </a:lnTo>
                  <a:lnTo>
                    <a:pt x="401764" y="180352"/>
                  </a:lnTo>
                  <a:lnTo>
                    <a:pt x="402844" y="201231"/>
                  </a:lnTo>
                  <a:lnTo>
                    <a:pt x="398513" y="243001"/>
                  </a:lnTo>
                  <a:lnTo>
                    <a:pt x="385559" y="283311"/>
                  </a:lnTo>
                  <a:lnTo>
                    <a:pt x="364324" y="319671"/>
                  </a:lnTo>
                  <a:lnTo>
                    <a:pt x="336245" y="351002"/>
                  </a:lnTo>
                  <a:lnTo>
                    <a:pt x="302399" y="375831"/>
                  </a:lnTo>
                  <a:lnTo>
                    <a:pt x="283324" y="385191"/>
                  </a:lnTo>
                  <a:lnTo>
                    <a:pt x="273596" y="389521"/>
                  </a:lnTo>
                  <a:lnTo>
                    <a:pt x="232918" y="400316"/>
                  </a:lnTo>
                  <a:lnTo>
                    <a:pt x="201599" y="402831"/>
                  </a:lnTo>
                  <a:lnTo>
                    <a:pt x="159842" y="398513"/>
                  </a:lnTo>
                  <a:lnTo>
                    <a:pt x="119519" y="385559"/>
                  </a:lnTo>
                  <a:lnTo>
                    <a:pt x="83159" y="364312"/>
                  </a:lnTo>
                  <a:lnTo>
                    <a:pt x="51841" y="336232"/>
                  </a:lnTo>
                  <a:lnTo>
                    <a:pt x="27000" y="302399"/>
                  </a:lnTo>
                  <a:lnTo>
                    <a:pt x="17640" y="283311"/>
                  </a:lnTo>
                  <a:lnTo>
                    <a:pt x="13322" y="273596"/>
                  </a:lnTo>
                  <a:lnTo>
                    <a:pt x="2514" y="232918"/>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28" name="object 28"/>
          <p:cNvSpPr txBox="1"/>
          <p:nvPr/>
        </p:nvSpPr>
        <p:spPr>
          <a:xfrm>
            <a:off x="9213736" y="3985094"/>
            <a:ext cx="2726690" cy="1205458"/>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Trebuchet MS"/>
                <a:cs typeface="Trebuchet MS"/>
              </a:rPr>
              <a:t>Control Optimization</a:t>
            </a:r>
            <a:endParaRPr sz="1800">
              <a:latin typeface="Trebuchet MS"/>
              <a:cs typeface="Trebuchet MS"/>
            </a:endParaRPr>
          </a:p>
          <a:p>
            <a:pPr marL="12700" marR="5080">
              <a:lnSpc>
                <a:spcPct val="100000"/>
              </a:lnSpc>
              <a:spcBef>
                <a:spcPts val="930"/>
              </a:spcBef>
            </a:pPr>
            <a:r>
              <a:rPr sz="1300" dirty="0">
                <a:solidFill>
                  <a:srgbClr val="FFFFFF"/>
                </a:solidFill>
                <a:latin typeface="Trebuchet MS"/>
                <a:cs typeface="Trebuchet MS"/>
              </a:rPr>
              <a:t>Utilize PID control optimization to enhance response times and stability in active suspension systems during operation.</a:t>
            </a:r>
            <a:endParaRPr sz="1300">
              <a:latin typeface="Trebuchet MS"/>
              <a:cs typeface="Trebuchet MS"/>
            </a:endParaRPr>
          </a:p>
        </p:txBody>
      </p:sp>
      <p:sp>
        <p:nvSpPr>
          <p:cNvPr id="29" name="object 29"/>
          <p:cNvSpPr txBox="1"/>
          <p:nvPr/>
        </p:nvSpPr>
        <p:spPr>
          <a:xfrm>
            <a:off x="7914500" y="5562625"/>
            <a:ext cx="98425"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Trebuchet MS"/>
                <a:cs typeface="Trebuchet MS"/>
              </a:rPr>
              <a:t>4</a:t>
            </a:r>
            <a:endParaRPr sz="1400">
              <a:latin typeface="Trebuchet MS"/>
              <a:cs typeface="Trebuchet MS"/>
            </a:endParaRPr>
          </a:p>
        </p:txBody>
      </p:sp>
      <p:sp>
        <p:nvSpPr>
          <p:cNvPr id="30" name="object 30"/>
          <p:cNvSpPr/>
          <p:nvPr/>
        </p:nvSpPr>
        <p:spPr>
          <a:xfrm>
            <a:off x="8441283" y="5651639"/>
            <a:ext cx="457200" cy="53975"/>
          </a:xfrm>
          <a:custGeom>
            <a:avLst/>
            <a:gdLst/>
            <a:ahLst/>
            <a:cxnLst/>
            <a:rect l="l" t="t" r="r" b="b"/>
            <a:pathLst>
              <a:path w="457200" h="53975">
                <a:moveTo>
                  <a:pt x="228600" y="53644"/>
                </a:moveTo>
                <a:lnTo>
                  <a:pt x="0" y="53644"/>
                </a:lnTo>
                <a:lnTo>
                  <a:pt x="0" y="0"/>
                </a:lnTo>
                <a:lnTo>
                  <a:pt x="456831" y="0"/>
                </a:lnTo>
                <a:lnTo>
                  <a:pt x="456831" y="53644"/>
                </a:lnTo>
                <a:lnTo>
                  <a:pt x="228600" y="53644"/>
                </a:lnTo>
                <a:close/>
              </a:path>
            </a:pathLst>
          </a:custGeom>
          <a:ln w="12599">
            <a:solidFill>
              <a:srgbClr val="FFFFFF"/>
            </a:solidFill>
          </a:ln>
        </p:spPr>
        <p:txBody>
          <a:bodyPr wrap="square" lIns="0" tIns="0" rIns="0" bIns="0" rtlCol="0"/>
          <a:lstStyle/>
          <a:p>
            <a:endParaRPr/>
          </a:p>
        </p:txBody>
      </p:sp>
      <p:sp>
        <p:nvSpPr>
          <p:cNvPr id="31" name="object 31"/>
          <p:cNvSpPr txBox="1"/>
          <p:nvPr/>
        </p:nvSpPr>
        <p:spPr>
          <a:xfrm>
            <a:off x="9213736" y="5138463"/>
            <a:ext cx="2658110" cy="1368323"/>
          </a:xfrm>
          <a:prstGeom prst="rect">
            <a:avLst/>
          </a:prstGeom>
        </p:spPr>
        <p:txBody>
          <a:bodyPr vert="horz" wrap="square" lIns="0" tIns="173990" rIns="0" bIns="0" rtlCol="0">
            <a:spAutoFit/>
          </a:bodyPr>
          <a:lstStyle/>
          <a:p>
            <a:pPr marL="12700">
              <a:lnSpc>
                <a:spcPct val="100000"/>
              </a:lnSpc>
              <a:spcBef>
                <a:spcPts val="1370"/>
              </a:spcBef>
            </a:pPr>
            <a:r>
              <a:rPr sz="1800" dirty="0">
                <a:solidFill>
                  <a:srgbClr val="FFFFFF"/>
                </a:solidFill>
                <a:latin typeface="Trebuchet MS"/>
                <a:cs typeface="Trebuchet MS"/>
              </a:rPr>
              <a:t>Performance Evaluation</a:t>
            </a:r>
            <a:endParaRPr sz="1800">
              <a:latin typeface="Trebuchet MS"/>
              <a:cs typeface="Trebuchet MS"/>
            </a:endParaRPr>
          </a:p>
          <a:p>
            <a:pPr marL="12700" marR="5080">
              <a:lnSpc>
                <a:spcPct val="100000"/>
              </a:lnSpc>
              <a:spcBef>
                <a:spcPts val="919"/>
              </a:spcBef>
            </a:pPr>
            <a:r>
              <a:rPr sz="1300" dirty="0">
                <a:solidFill>
                  <a:srgbClr val="FFFFFF"/>
                </a:solidFill>
                <a:latin typeface="Trebuchet MS"/>
                <a:cs typeface="Trebuchet MS"/>
              </a:rPr>
              <a:t>Evaluate the overall functionality and effectiveness of the active suspension system under different operational conditions.</a:t>
            </a:r>
            <a:endParaRPr sz="1300">
              <a:latin typeface="Trebuchet MS"/>
              <a:cs typeface="Trebuchet MS"/>
            </a:endParaRPr>
          </a:p>
        </p:txBody>
      </p:sp>
      <p:pic>
        <p:nvPicPr>
          <p:cNvPr id="32" name="Picture 31">
            <a:extLst>
              <a:ext uri="{FF2B5EF4-FFF2-40B4-BE49-F238E27FC236}">
                <a16:creationId xmlns:a16="http://schemas.microsoft.com/office/drawing/2014/main" id="{8BE9179C-7D23-CB8E-D25B-A3F41BE4AD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5776" y="1743451"/>
            <a:ext cx="7279441" cy="407917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3565" y="-355"/>
            <a:ext cx="1278255" cy="1994535"/>
          </a:xfrm>
          <a:custGeom>
            <a:avLst/>
            <a:gdLst/>
            <a:ahLst/>
            <a:cxnLst/>
            <a:rect l="l" t="t" r="r" b="b"/>
            <a:pathLst>
              <a:path w="1278255" h="1994535">
                <a:moveTo>
                  <a:pt x="1277988" y="0"/>
                </a:moveTo>
                <a:lnTo>
                  <a:pt x="0" y="0"/>
                </a:lnTo>
                <a:lnTo>
                  <a:pt x="0" y="1994039"/>
                </a:lnTo>
                <a:lnTo>
                  <a:pt x="638987" y="1994039"/>
                </a:lnTo>
                <a:lnTo>
                  <a:pt x="1277988" y="1994039"/>
                </a:lnTo>
                <a:lnTo>
                  <a:pt x="1277988" y="0"/>
                </a:lnTo>
                <a:close/>
              </a:path>
            </a:pathLst>
          </a:custGeom>
          <a:solidFill>
            <a:srgbClr val="453E31">
              <a:alpha val="92999"/>
            </a:srgbClr>
          </a:solidFill>
        </p:spPr>
        <p:txBody>
          <a:bodyPr wrap="square" lIns="0" tIns="0" rIns="0" bIns="0" rtlCol="0"/>
          <a:lstStyle/>
          <a:p>
            <a:endParaRPr/>
          </a:p>
        </p:txBody>
      </p:sp>
      <p:sp>
        <p:nvSpPr>
          <p:cNvPr id="3" name="object 3"/>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dirty="0"/>
              <a:t>Passive Suspension System Modelling</a:t>
            </a:r>
          </a:p>
        </p:txBody>
      </p:sp>
      <p:sp>
        <p:nvSpPr>
          <p:cNvPr id="4" name="object 4"/>
          <p:cNvSpPr/>
          <p:nvPr/>
        </p:nvSpPr>
        <p:spPr>
          <a:xfrm>
            <a:off x="905395" y="987844"/>
            <a:ext cx="1400175" cy="0"/>
          </a:xfrm>
          <a:custGeom>
            <a:avLst/>
            <a:gdLst/>
            <a:ahLst/>
            <a:cxnLst/>
            <a:rect l="l" t="t" r="r" b="b"/>
            <a:pathLst>
              <a:path w="1400175">
                <a:moveTo>
                  <a:pt x="1400048" y="0"/>
                </a:moveTo>
                <a:lnTo>
                  <a:pt x="0" y="0"/>
                </a:lnTo>
              </a:path>
            </a:pathLst>
          </a:custGeom>
          <a:ln w="12599">
            <a:solidFill>
              <a:srgbClr val="FFFFFF"/>
            </a:solidFill>
          </a:ln>
        </p:spPr>
        <p:txBody>
          <a:bodyPr wrap="square" lIns="0" tIns="0" rIns="0" bIns="0" rtlCol="0"/>
          <a:lstStyle/>
          <a:p>
            <a:endParaRPr/>
          </a:p>
        </p:txBody>
      </p:sp>
      <p:grpSp>
        <p:nvGrpSpPr>
          <p:cNvPr id="5" name="object 5"/>
          <p:cNvGrpSpPr/>
          <p:nvPr/>
        </p:nvGrpSpPr>
        <p:grpSpPr>
          <a:xfrm>
            <a:off x="9623158" y="0"/>
            <a:ext cx="2436495" cy="561340"/>
            <a:chOff x="9623158" y="0"/>
            <a:chExt cx="2436495" cy="561340"/>
          </a:xfrm>
        </p:grpSpPr>
        <p:sp>
          <p:nvSpPr>
            <p:cNvPr id="6" name="object 6"/>
            <p:cNvSpPr/>
            <p:nvPr/>
          </p:nvSpPr>
          <p:spPr>
            <a:xfrm>
              <a:off x="9623158" y="241198"/>
              <a:ext cx="2436495" cy="287655"/>
            </a:xfrm>
            <a:custGeom>
              <a:avLst/>
              <a:gdLst/>
              <a:ahLst/>
              <a:cxnLst/>
              <a:rect l="l" t="t" r="r" b="b"/>
              <a:pathLst>
                <a:path w="2436495" h="287655">
                  <a:moveTo>
                    <a:pt x="2436482" y="0"/>
                  </a:moveTo>
                  <a:lnTo>
                    <a:pt x="0" y="0"/>
                  </a:lnTo>
                  <a:lnTo>
                    <a:pt x="0" y="287642"/>
                  </a:lnTo>
                  <a:lnTo>
                    <a:pt x="1218247" y="287642"/>
                  </a:lnTo>
                  <a:lnTo>
                    <a:pt x="2436482" y="287642"/>
                  </a:lnTo>
                  <a:lnTo>
                    <a:pt x="2436482" y="0"/>
                  </a:lnTo>
                  <a:close/>
                </a:path>
              </a:pathLst>
            </a:custGeom>
            <a:solidFill>
              <a:srgbClr val="453E31">
                <a:alpha val="92999"/>
              </a:srgbClr>
            </a:solidFill>
          </p:spPr>
          <p:txBody>
            <a:bodyPr wrap="square" lIns="0" tIns="0" rIns="0" bIns="0" rtlCol="0"/>
            <a:lstStyle/>
            <a:p>
              <a:endParaRPr/>
            </a:p>
          </p:txBody>
        </p:sp>
        <p:sp>
          <p:nvSpPr>
            <p:cNvPr id="7" name="object 7"/>
            <p:cNvSpPr/>
            <p:nvPr/>
          </p:nvSpPr>
          <p:spPr>
            <a:xfrm>
              <a:off x="11922836" y="0"/>
              <a:ext cx="0" cy="561340"/>
            </a:xfrm>
            <a:custGeom>
              <a:avLst/>
              <a:gdLst/>
              <a:ahLst/>
              <a:cxnLst/>
              <a:rect l="l" t="t" r="r" b="b"/>
              <a:pathLst>
                <a:path h="561340">
                  <a:moveTo>
                    <a:pt x="0" y="0"/>
                  </a:moveTo>
                  <a:lnTo>
                    <a:pt x="0" y="561238"/>
                  </a:lnTo>
                </a:path>
              </a:pathLst>
            </a:custGeom>
            <a:ln w="12599">
              <a:solidFill>
                <a:srgbClr val="FFFFFF"/>
              </a:solidFill>
            </a:ln>
          </p:spPr>
          <p:txBody>
            <a:bodyPr wrap="square" lIns="0" tIns="0" rIns="0" bIns="0" rtlCol="0"/>
            <a:lstStyle/>
            <a:p>
              <a:endParaRPr/>
            </a:p>
          </p:txBody>
        </p:sp>
      </p:grpSp>
      <p:sp>
        <p:nvSpPr>
          <p:cNvPr id="16" name="TextBox 15">
            <a:extLst>
              <a:ext uri="{FF2B5EF4-FFF2-40B4-BE49-F238E27FC236}">
                <a16:creationId xmlns:a16="http://schemas.microsoft.com/office/drawing/2014/main" id="{A08D0F59-60D9-F315-11BA-E5D91E9FA1EC}"/>
              </a:ext>
            </a:extLst>
          </p:cNvPr>
          <p:cNvSpPr txBox="1"/>
          <p:nvPr/>
        </p:nvSpPr>
        <p:spPr>
          <a:xfrm>
            <a:off x="250101" y="1185801"/>
            <a:ext cx="3048000" cy="5693866"/>
          </a:xfrm>
          <a:prstGeom prst="rect">
            <a:avLst/>
          </a:prstGeom>
          <a:noFill/>
        </p:spPr>
        <p:txBody>
          <a:bodyPr wrap="square" rtlCol="0">
            <a:spAutoFit/>
          </a:bodyPr>
          <a:lstStyle/>
          <a:p>
            <a:pPr>
              <a:buNone/>
            </a:pPr>
            <a:r>
              <a:rPr lang="en-US" sz="1400" dirty="0">
                <a:solidFill>
                  <a:schemeClr val="bg1"/>
                </a:solidFill>
              </a:rPr>
              <a:t>A </a:t>
            </a:r>
            <a:r>
              <a:rPr lang="en-US" sz="1400" b="1" dirty="0">
                <a:solidFill>
                  <a:schemeClr val="bg1"/>
                </a:solidFill>
              </a:rPr>
              <a:t>passive suspension system</a:t>
            </a:r>
            <a:r>
              <a:rPr lang="en-US" sz="1400" dirty="0">
                <a:solidFill>
                  <a:schemeClr val="bg1"/>
                </a:solidFill>
              </a:rPr>
              <a:t> uses </a:t>
            </a:r>
            <a:r>
              <a:rPr lang="en-US" sz="1400" b="1" dirty="0">
                <a:solidFill>
                  <a:schemeClr val="bg1"/>
                </a:solidFill>
              </a:rPr>
              <a:t>springs and dampers</a:t>
            </a:r>
            <a:r>
              <a:rPr lang="en-US" sz="1400" dirty="0">
                <a:solidFill>
                  <a:schemeClr val="bg1"/>
                </a:solidFill>
              </a:rPr>
              <a:t> to absorb shocks and enhance ride comfort. It includes two key subsystems:</a:t>
            </a:r>
          </a:p>
          <a:p>
            <a:pPr>
              <a:buNone/>
            </a:pPr>
            <a:endParaRPr lang="en-US" sz="1400" dirty="0">
              <a:solidFill>
                <a:schemeClr val="bg1"/>
              </a:solidFill>
            </a:endParaRPr>
          </a:p>
          <a:p>
            <a:pPr>
              <a:buFont typeface="+mj-lt"/>
              <a:buAutoNum type="arabicPeriod"/>
            </a:pPr>
            <a:r>
              <a:rPr lang="en-US" sz="1400" b="1" dirty="0">
                <a:solidFill>
                  <a:schemeClr val="bg1"/>
                </a:solidFill>
              </a:rPr>
              <a:t>Suspension System (Body to Wheel)</a:t>
            </a:r>
            <a:endParaRPr lang="en-US" sz="1400" dirty="0">
              <a:solidFill>
                <a:schemeClr val="bg1"/>
              </a:solidFill>
            </a:endParaRPr>
          </a:p>
          <a:p>
            <a:pPr marL="742950" lvl="1" indent="-285750">
              <a:buFont typeface="+mj-lt"/>
              <a:buAutoNum type="arabicPeriod"/>
            </a:pPr>
            <a:r>
              <a:rPr lang="en-US" sz="1400" b="1" dirty="0">
                <a:solidFill>
                  <a:schemeClr val="bg1"/>
                </a:solidFill>
              </a:rPr>
              <a:t>Spring</a:t>
            </a:r>
            <a:r>
              <a:rPr lang="en-US" sz="1400" dirty="0">
                <a:solidFill>
                  <a:schemeClr val="bg1"/>
                </a:solidFill>
              </a:rPr>
              <a:t>: Supports vehicle weight and absorbs road impacts.</a:t>
            </a:r>
          </a:p>
          <a:p>
            <a:pPr marL="742950" lvl="1" indent="-285750">
              <a:buFont typeface="+mj-lt"/>
              <a:buAutoNum type="arabicPeriod"/>
            </a:pPr>
            <a:r>
              <a:rPr lang="en-US" sz="1400" b="1" dirty="0">
                <a:solidFill>
                  <a:schemeClr val="bg1"/>
                </a:solidFill>
              </a:rPr>
              <a:t>Damper</a:t>
            </a:r>
            <a:r>
              <a:rPr lang="en-US" sz="1400" dirty="0">
                <a:solidFill>
                  <a:schemeClr val="bg1"/>
                </a:solidFill>
              </a:rPr>
              <a:t>: Controls oscillations and dissipates energy.</a:t>
            </a:r>
          </a:p>
          <a:p>
            <a:pPr>
              <a:buFont typeface="+mj-lt"/>
              <a:buAutoNum type="arabicPeriod"/>
            </a:pPr>
            <a:r>
              <a:rPr lang="en-US" sz="1400" b="1" dirty="0">
                <a:solidFill>
                  <a:schemeClr val="bg1"/>
                </a:solidFill>
              </a:rPr>
              <a:t>Tire Model (Wheel to Road)</a:t>
            </a:r>
            <a:endParaRPr lang="en-US" sz="1400" dirty="0">
              <a:solidFill>
                <a:schemeClr val="bg1"/>
              </a:solidFill>
            </a:endParaRPr>
          </a:p>
          <a:p>
            <a:pPr marL="742950" lvl="1" indent="-285750">
              <a:buFont typeface="+mj-lt"/>
              <a:buAutoNum type="arabicPeriod"/>
            </a:pPr>
            <a:r>
              <a:rPr lang="en-US" sz="1400" b="1" dirty="0">
                <a:solidFill>
                  <a:schemeClr val="bg1"/>
                </a:solidFill>
              </a:rPr>
              <a:t>Tire Spring</a:t>
            </a:r>
            <a:r>
              <a:rPr lang="en-US" sz="1400" dirty="0">
                <a:solidFill>
                  <a:schemeClr val="bg1"/>
                </a:solidFill>
              </a:rPr>
              <a:t>: Models tire elasticity under load.</a:t>
            </a:r>
          </a:p>
          <a:p>
            <a:pPr marL="742950" lvl="1" indent="-285750">
              <a:buFont typeface="+mj-lt"/>
              <a:buAutoNum type="arabicPeriod"/>
            </a:pPr>
            <a:r>
              <a:rPr lang="en-US" sz="1400" b="1" dirty="0">
                <a:solidFill>
                  <a:schemeClr val="bg1"/>
                </a:solidFill>
              </a:rPr>
              <a:t>Tire Damper</a:t>
            </a:r>
            <a:r>
              <a:rPr lang="en-US" sz="1400" dirty="0">
                <a:solidFill>
                  <a:schemeClr val="bg1"/>
                </a:solidFill>
              </a:rPr>
              <a:t>: Represents energy loss and contact realism.</a:t>
            </a:r>
          </a:p>
          <a:p>
            <a:r>
              <a:rPr lang="en-US" sz="1400" dirty="0">
                <a:solidFill>
                  <a:schemeClr val="bg1"/>
                </a:solidFill>
              </a:rPr>
              <a:t>A </a:t>
            </a:r>
            <a:r>
              <a:rPr lang="en-US" sz="1400" b="1" dirty="0">
                <a:solidFill>
                  <a:schemeClr val="bg1"/>
                </a:solidFill>
              </a:rPr>
              <a:t>pulse generator</a:t>
            </a:r>
            <a:r>
              <a:rPr lang="en-US" sz="1400" dirty="0">
                <a:solidFill>
                  <a:schemeClr val="bg1"/>
                </a:solidFill>
              </a:rPr>
              <a:t> in MATLAB </a:t>
            </a:r>
            <a:r>
              <a:rPr lang="en-US" sz="1400" dirty="0" err="1">
                <a:solidFill>
                  <a:schemeClr val="bg1"/>
                </a:solidFill>
              </a:rPr>
              <a:t>Simscape</a:t>
            </a:r>
            <a:r>
              <a:rPr lang="en-US" sz="1400" dirty="0">
                <a:solidFill>
                  <a:schemeClr val="bg1"/>
                </a:solidFill>
              </a:rPr>
              <a:t> simulates a </a:t>
            </a:r>
            <a:r>
              <a:rPr lang="en-US" sz="1400" b="1" dirty="0">
                <a:solidFill>
                  <a:schemeClr val="bg1"/>
                </a:solidFill>
              </a:rPr>
              <a:t>10 cm road disturbance</a:t>
            </a:r>
            <a:r>
              <a:rPr lang="en-US" sz="1400" dirty="0">
                <a:solidFill>
                  <a:schemeClr val="bg1"/>
                </a:solidFill>
              </a:rPr>
              <a:t> (e.g., a bump), allowing assessment of system performance under sudden shocks.</a:t>
            </a:r>
          </a:p>
          <a:p>
            <a:endParaRPr lang="en-US" sz="1400" dirty="0">
              <a:solidFill>
                <a:schemeClr val="bg1"/>
              </a:solidFill>
            </a:endParaRPr>
          </a:p>
        </p:txBody>
      </p:sp>
      <p:pic>
        <p:nvPicPr>
          <p:cNvPr id="17" name="Picture 16">
            <a:extLst>
              <a:ext uri="{FF2B5EF4-FFF2-40B4-BE49-F238E27FC236}">
                <a16:creationId xmlns:a16="http://schemas.microsoft.com/office/drawing/2014/main" id="{E2EEE43E-D7C4-0E2B-9B6E-F4A4E3BA4916}"/>
              </a:ext>
            </a:extLst>
          </p:cNvPr>
          <p:cNvPicPr>
            <a:picLocks noChangeAspect="1"/>
          </p:cNvPicPr>
          <p:nvPr/>
        </p:nvPicPr>
        <p:blipFill>
          <a:blip r:embed="rId2"/>
          <a:stretch>
            <a:fillRect/>
          </a:stretch>
        </p:blipFill>
        <p:spPr>
          <a:xfrm>
            <a:off x="3251451" y="1417112"/>
            <a:ext cx="5218628" cy="4785775"/>
          </a:xfrm>
          <a:prstGeom prst="rect">
            <a:avLst/>
          </a:prstGeom>
        </p:spPr>
      </p:pic>
      <p:pic>
        <p:nvPicPr>
          <p:cNvPr id="18" name="Picture 17">
            <a:extLst>
              <a:ext uri="{FF2B5EF4-FFF2-40B4-BE49-F238E27FC236}">
                <a16:creationId xmlns:a16="http://schemas.microsoft.com/office/drawing/2014/main" id="{A78B6FD7-B520-296E-E0C7-B53E577B7AD5}"/>
              </a:ext>
            </a:extLst>
          </p:cNvPr>
          <p:cNvPicPr>
            <a:picLocks noChangeAspect="1"/>
          </p:cNvPicPr>
          <p:nvPr/>
        </p:nvPicPr>
        <p:blipFill>
          <a:blip r:embed="rId3"/>
          <a:stretch>
            <a:fillRect/>
          </a:stretch>
        </p:blipFill>
        <p:spPr>
          <a:xfrm>
            <a:off x="8610600" y="1417112"/>
            <a:ext cx="3219048" cy="1895238"/>
          </a:xfrm>
          <a:prstGeom prst="rect">
            <a:avLst/>
          </a:prstGeom>
        </p:spPr>
      </p:pic>
      <p:sp>
        <p:nvSpPr>
          <p:cNvPr id="19" name="TextBox 18">
            <a:extLst>
              <a:ext uri="{FF2B5EF4-FFF2-40B4-BE49-F238E27FC236}">
                <a16:creationId xmlns:a16="http://schemas.microsoft.com/office/drawing/2014/main" id="{F6F9279B-1FC5-34D3-0BF6-D8DE0E04D249}"/>
              </a:ext>
            </a:extLst>
          </p:cNvPr>
          <p:cNvSpPr txBox="1"/>
          <p:nvPr/>
        </p:nvSpPr>
        <p:spPr>
          <a:xfrm>
            <a:off x="8763000" y="3545651"/>
            <a:ext cx="2991853" cy="307777"/>
          </a:xfrm>
          <a:prstGeom prst="rect">
            <a:avLst/>
          </a:prstGeom>
          <a:noFill/>
        </p:spPr>
        <p:txBody>
          <a:bodyPr wrap="square" rtlCol="0">
            <a:spAutoFit/>
          </a:bodyPr>
          <a:lstStyle/>
          <a:p>
            <a:r>
              <a:rPr lang="en-US" sz="1400" dirty="0">
                <a:solidFill>
                  <a:schemeClr val="bg1"/>
                </a:solidFill>
              </a:rPr>
              <a:t>The displacement of car body (m):</a:t>
            </a:r>
          </a:p>
        </p:txBody>
      </p:sp>
      <p:pic>
        <p:nvPicPr>
          <p:cNvPr id="20" name="Picture 19">
            <a:extLst>
              <a:ext uri="{FF2B5EF4-FFF2-40B4-BE49-F238E27FC236}">
                <a16:creationId xmlns:a16="http://schemas.microsoft.com/office/drawing/2014/main" id="{A453BD2E-EBE4-0C1C-2BB5-01008CB7C407}"/>
              </a:ext>
            </a:extLst>
          </p:cNvPr>
          <p:cNvPicPr>
            <a:picLocks noChangeAspect="1"/>
          </p:cNvPicPr>
          <p:nvPr/>
        </p:nvPicPr>
        <p:blipFill>
          <a:blip r:embed="rId4"/>
          <a:stretch>
            <a:fillRect/>
          </a:stretch>
        </p:blipFill>
        <p:spPr>
          <a:xfrm>
            <a:off x="8785176" y="3923709"/>
            <a:ext cx="2869895" cy="252490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85204"/>
            <a:ext cx="11698147" cy="628377"/>
          </a:xfrm>
          <a:prstGeom prst="rect">
            <a:avLst/>
          </a:prstGeom>
        </p:spPr>
        <p:txBody>
          <a:bodyPr vert="horz" wrap="square" lIns="0" tIns="12700" rIns="0" bIns="0" rtlCol="0">
            <a:spAutoFit/>
          </a:bodyPr>
          <a:lstStyle/>
          <a:p>
            <a:pPr marL="2694940" algn="l">
              <a:lnSpc>
                <a:spcPct val="100000"/>
              </a:lnSpc>
              <a:spcBef>
                <a:spcPts val="100"/>
              </a:spcBef>
            </a:pPr>
            <a:r>
              <a:rPr dirty="0"/>
              <a:t>Transition to Active Suspension System</a:t>
            </a:r>
          </a:p>
        </p:txBody>
      </p:sp>
      <p:sp>
        <p:nvSpPr>
          <p:cNvPr id="3" name="object 3"/>
          <p:cNvSpPr/>
          <p:nvPr/>
        </p:nvSpPr>
        <p:spPr>
          <a:xfrm>
            <a:off x="0" y="6530403"/>
            <a:ext cx="1702435" cy="0"/>
          </a:xfrm>
          <a:custGeom>
            <a:avLst/>
            <a:gdLst/>
            <a:ahLst/>
            <a:cxnLst/>
            <a:rect l="l" t="t" r="r" b="b"/>
            <a:pathLst>
              <a:path w="1702435">
                <a:moveTo>
                  <a:pt x="0" y="0"/>
                </a:moveTo>
                <a:lnTo>
                  <a:pt x="1702435" y="0"/>
                </a:lnTo>
              </a:path>
            </a:pathLst>
          </a:custGeom>
          <a:ln w="12599">
            <a:solidFill>
              <a:srgbClr val="FFFFFF"/>
            </a:solidFill>
          </a:ln>
        </p:spPr>
        <p:txBody>
          <a:bodyPr wrap="square" lIns="0" tIns="0" rIns="0" bIns="0" rtlCol="0"/>
          <a:lstStyle/>
          <a:p>
            <a:endParaRPr/>
          </a:p>
        </p:txBody>
      </p:sp>
      <p:grpSp>
        <p:nvGrpSpPr>
          <p:cNvPr id="4" name="object 4"/>
          <p:cNvGrpSpPr/>
          <p:nvPr/>
        </p:nvGrpSpPr>
        <p:grpSpPr>
          <a:xfrm>
            <a:off x="871194" y="-355"/>
            <a:ext cx="11322571" cy="5821692"/>
            <a:chOff x="871194" y="-355"/>
            <a:chExt cx="11322571" cy="5821692"/>
          </a:xfrm>
        </p:grpSpPr>
        <p:sp>
          <p:nvSpPr>
            <p:cNvPr id="5" name="object 5"/>
            <p:cNvSpPr/>
            <p:nvPr/>
          </p:nvSpPr>
          <p:spPr>
            <a:xfrm>
              <a:off x="11138395" y="-355"/>
              <a:ext cx="1055370" cy="2790190"/>
            </a:xfrm>
            <a:custGeom>
              <a:avLst/>
              <a:gdLst/>
              <a:ahLst/>
              <a:cxnLst/>
              <a:rect l="l" t="t" r="r" b="b"/>
              <a:pathLst>
                <a:path w="1055370" h="2790190">
                  <a:moveTo>
                    <a:pt x="1054798" y="0"/>
                  </a:moveTo>
                  <a:lnTo>
                    <a:pt x="0" y="0"/>
                  </a:lnTo>
                  <a:lnTo>
                    <a:pt x="0" y="2789631"/>
                  </a:lnTo>
                  <a:lnTo>
                    <a:pt x="527405" y="2789631"/>
                  </a:lnTo>
                  <a:lnTo>
                    <a:pt x="1054798" y="2789631"/>
                  </a:lnTo>
                  <a:lnTo>
                    <a:pt x="1054798" y="0"/>
                  </a:lnTo>
                  <a:close/>
                </a:path>
              </a:pathLst>
            </a:custGeom>
            <a:solidFill>
              <a:srgbClr val="453E31">
                <a:alpha val="92999"/>
              </a:srgbClr>
            </a:solidFill>
          </p:spPr>
          <p:txBody>
            <a:bodyPr wrap="square" lIns="0" tIns="0" rIns="0" bIns="0" rtlCol="0"/>
            <a:lstStyle/>
            <a:p>
              <a:endParaRPr/>
            </a:p>
          </p:txBody>
        </p:sp>
        <p:sp>
          <p:nvSpPr>
            <p:cNvPr id="7" name="object 7"/>
            <p:cNvSpPr/>
            <p:nvPr/>
          </p:nvSpPr>
          <p:spPr>
            <a:xfrm>
              <a:off x="871194" y="1860842"/>
              <a:ext cx="10238105" cy="3960495"/>
            </a:xfrm>
            <a:custGeom>
              <a:avLst/>
              <a:gdLst/>
              <a:ahLst/>
              <a:cxnLst/>
              <a:rect l="l" t="t" r="r" b="b"/>
              <a:pathLst>
                <a:path w="10238105" h="3960495">
                  <a:moveTo>
                    <a:pt x="10238041" y="0"/>
                  </a:moveTo>
                  <a:lnTo>
                    <a:pt x="0" y="0"/>
                  </a:lnTo>
                  <a:lnTo>
                    <a:pt x="0" y="3959999"/>
                  </a:lnTo>
                  <a:lnTo>
                    <a:pt x="5119204" y="3959999"/>
                  </a:lnTo>
                  <a:lnTo>
                    <a:pt x="10238041" y="3959999"/>
                  </a:lnTo>
                  <a:lnTo>
                    <a:pt x="10238041" y="0"/>
                  </a:lnTo>
                  <a:close/>
                </a:path>
              </a:pathLst>
            </a:custGeom>
            <a:solidFill>
              <a:srgbClr val="453E31">
                <a:alpha val="92999"/>
              </a:srgbClr>
            </a:solidFill>
          </p:spPr>
          <p:txBody>
            <a:bodyPr wrap="square" lIns="0" tIns="0" rIns="0" bIns="0" rtlCol="0"/>
            <a:lstStyle/>
            <a:p>
              <a:endParaRPr/>
            </a:p>
          </p:txBody>
        </p:sp>
        <p:sp>
          <p:nvSpPr>
            <p:cNvPr id="8" name="object 8"/>
            <p:cNvSpPr/>
            <p:nvPr/>
          </p:nvSpPr>
          <p:spPr>
            <a:xfrm>
              <a:off x="1115275" y="3844798"/>
              <a:ext cx="9748520" cy="0"/>
            </a:xfrm>
            <a:custGeom>
              <a:avLst/>
              <a:gdLst/>
              <a:ahLst/>
              <a:cxnLst/>
              <a:rect l="l" t="t" r="r" b="b"/>
              <a:pathLst>
                <a:path w="9748520">
                  <a:moveTo>
                    <a:pt x="0" y="0"/>
                  </a:moveTo>
                  <a:lnTo>
                    <a:pt x="9748443" y="0"/>
                  </a:lnTo>
                </a:path>
              </a:pathLst>
            </a:custGeom>
            <a:ln w="12599">
              <a:solidFill>
                <a:srgbClr val="FFFFFF"/>
              </a:solidFill>
            </a:ln>
          </p:spPr>
          <p:txBody>
            <a:bodyPr wrap="square" lIns="0" tIns="0" rIns="0" bIns="0" rtlCol="0"/>
            <a:lstStyle/>
            <a:p>
              <a:endParaRPr/>
            </a:p>
          </p:txBody>
        </p:sp>
        <p:sp>
          <p:nvSpPr>
            <p:cNvPr id="9" name="object 9"/>
            <p:cNvSpPr/>
            <p:nvPr/>
          </p:nvSpPr>
          <p:spPr>
            <a:xfrm>
              <a:off x="1917725" y="3642474"/>
              <a:ext cx="403225" cy="403225"/>
            </a:xfrm>
            <a:custGeom>
              <a:avLst/>
              <a:gdLst/>
              <a:ahLst/>
              <a:cxnLst/>
              <a:rect l="l" t="t" r="r" b="b"/>
              <a:pathLst>
                <a:path w="403225" h="403225">
                  <a:moveTo>
                    <a:pt x="201599" y="0"/>
                  </a:moveTo>
                  <a:lnTo>
                    <a:pt x="160908" y="4330"/>
                  </a:lnTo>
                  <a:lnTo>
                    <a:pt x="122034" y="16560"/>
                  </a:lnTo>
                  <a:lnTo>
                    <a:pt x="86398" y="36360"/>
                  </a:lnTo>
                  <a:lnTo>
                    <a:pt x="55435" y="63004"/>
                  </a:lnTo>
                  <a:lnTo>
                    <a:pt x="30594" y="95046"/>
                  </a:lnTo>
                  <a:lnTo>
                    <a:pt x="9359" y="141490"/>
                  </a:lnTo>
                  <a:lnTo>
                    <a:pt x="1512" y="180365"/>
                  </a:lnTo>
                  <a:lnTo>
                    <a:pt x="1435" y="181089"/>
                  </a:lnTo>
                  <a:lnTo>
                    <a:pt x="761" y="190804"/>
                  </a:lnTo>
                  <a:lnTo>
                    <a:pt x="711" y="191528"/>
                  </a:lnTo>
                  <a:lnTo>
                    <a:pt x="368" y="201244"/>
                  </a:lnTo>
                  <a:lnTo>
                    <a:pt x="355" y="201599"/>
                  </a:lnTo>
                  <a:lnTo>
                    <a:pt x="0" y="201599"/>
                  </a:lnTo>
                  <a:lnTo>
                    <a:pt x="343" y="211683"/>
                  </a:lnTo>
                  <a:lnTo>
                    <a:pt x="1053" y="222123"/>
                  </a:lnTo>
                  <a:lnTo>
                    <a:pt x="1079" y="222491"/>
                  </a:lnTo>
                  <a:lnTo>
                    <a:pt x="2514" y="232930"/>
                  </a:lnTo>
                  <a:lnTo>
                    <a:pt x="4254" y="243001"/>
                  </a:lnTo>
                  <a:lnTo>
                    <a:pt x="4318" y="243370"/>
                  </a:lnTo>
                  <a:lnTo>
                    <a:pt x="21958" y="293039"/>
                  </a:lnTo>
                  <a:lnTo>
                    <a:pt x="44996" y="328320"/>
                  </a:lnTo>
                  <a:lnTo>
                    <a:pt x="74879" y="357847"/>
                  </a:lnTo>
                  <a:lnTo>
                    <a:pt x="110159" y="380885"/>
                  </a:lnTo>
                  <a:lnTo>
                    <a:pt x="149390" y="396011"/>
                  </a:lnTo>
                  <a:lnTo>
                    <a:pt x="191160" y="402488"/>
                  </a:lnTo>
                  <a:lnTo>
                    <a:pt x="201599" y="402844"/>
                  </a:lnTo>
                  <a:lnTo>
                    <a:pt x="212039" y="402488"/>
                  </a:lnTo>
                  <a:lnTo>
                    <a:pt x="253796" y="396011"/>
                  </a:lnTo>
                  <a:lnTo>
                    <a:pt x="293039" y="380885"/>
                  </a:lnTo>
                  <a:lnTo>
                    <a:pt x="328320" y="357847"/>
                  </a:lnTo>
                  <a:lnTo>
                    <a:pt x="357835" y="327964"/>
                  </a:lnTo>
                  <a:lnTo>
                    <a:pt x="380872" y="292684"/>
                  </a:lnTo>
                  <a:lnTo>
                    <a:pt x="395893" y="253809"/>
                  </a:lnTo>
                  <a:lnTo>
                    <a:pt x="395998" y="253441"/>
                  </a:lnTo>
                  <a:lnTo>
                    <a:pt x="398424" y="243370"/>
                  </a:lnTo>
                  <a:lnTo>
                    <a:pt x="398513" y="243001"/>
                  </a:lnTo>
                  <a:lnTo>
                    <a:pt x="400316" y="232930"/>
                  </a:lnTo>
                  <a:lnTo>
                    <a:pt x="401702" y="222491"/>
                  </a:lnTo>
                  <a:lnTo>
                    <a:pt x="401751" y="222123"/>
                  </a:lnTo>
                  <a:lnTo>
                    <a:pt x="402450" y="212051"/>
                  </a:lnTo>
                  <a:lnTo>
                    <a:pt x="402819" y="201599"/>
                  </a:lnTo>
                  <a:lnTo>
                    <a:pt x="402831" y="201244"/>
                  </a:lnTo>
                  <a:lnTo>
                    <a:pt x="402500" y="191528"/>
                  </a:lnTo>
                  <a:lnTo>
                    <a:pt x="395998" y="149047"/>
                  </a:lnTo>
                  <a:lnTo>
                    <a:pt x="380872" y="109804"/>
                  </a:lnTo>
                  <a:lnTo>
                    <a:pt x="357835" y="74523"/>
                  </a:lnTo>
                  <a:lnTo>
                    <a:pt x="327952" y="45008"/>
                  </a:lnTo>
                  <a:lnTo>
                    <a:pt x="293039" y="21971"/>
                  </a:lnTo>
                  <a:lnTo>
                    <a:pt x="253796" y="6845"/>
                  </a:lnTo>
                  <a:lnTo>
                    <a:pt x="212039" y="368"/>
                  </a:lnTo>
                  <a:lnTo>
                    <a:pt x="201599" y="0"/>
                  </a:lnTo>
                  <a:close/>
                </a:path>
              </a:pathLst>
            </a:custGeom>
            <a:solidFill>
              <a:srgbClr val="453E31"/>
            </a:solidFill>
          </p:spPr>
          <p:txBody>
            <a:bodyPr wrap="square" lIns="0" tIns="0" rIns="0" bIns="0" rtlCol="0"/>
            <a:lstStyle/>
            <a:p>
              <a:endParaRPr/>
            </a:p>
          </p:txBody>
        </p:sp>
        <p:sp>
          <p:nvSpPr>
            <p:cNvPr id="10" name="object 10"/>
            <p:cNvSpPr/>
            <p:nvPr/>
          </p:nvSpPr>
          <p:spPr>
            <a:xfrm>
              <a:off x="1917725" y="3642474"/>
              <a:ext cx="403225" cy="403225"/>
            </a:xfrm>
            <a:custGeom>
              <a:avLst/>
              <a:gdLst/>
              <a:ahLst/>
              <a:cxnLst/>
              <a:rect l="l" t="t" r="r" b="b"/>
              <a:pathLst>
                <a:path w="403225" h="403225">
                  <a:moveTo>
                    <a:pt x="355" y="201599"/>
                  </a:moveTo>
                  <a:lnTo>
                    <a:pt x="711" y="191528"/>
                  </a:lnTo>
                  <a:lnTo>
                    <a:pt x="1435" y="181089"/>
                  </a:lnTo>
                  <a:lnTo>
                    <a:pt x="9359" y="141490"/>
                  </a:lnTo>
                  <a:lnTo>
                    <a:pt x="25552" y="104051"/>
                  </a:lnTo>
                  <a:lnTo>
                    <a:pt x="48590" y="70561"/>
                  </a:lnTo>
                  <a:lnTo>
                    <a:pt x="78117" y="42481"/>
                  </a:lnTo>
                  <a:lnTo>
                    <a:pt x="112674" y="20891"/>
                  </a:lnTo>
                  <a:lnTo>
                    <a:pt x="151193" y="6489"/>
                  </a:lnTo>
                  <a:lnTo>
                    <a:pt x="191515" y="368"/>
                  </a:lnTo>
                  <a:lnTo>
                    <a:pt x="201599" y="0"/>
                  </a:lnTo>
                  <a:lnTo>
                    <a:pt x="243357" y="4330"/>
                  </a:lnTo>
                  <a:lnTo>
                    <a:pt x="283311" y="17284"/>
                  </a:lnTo>
                  <a:lnTo>
                    <a:pt x="319671" y="38531"/>
                  </a:lnTo>
                  <a:lnTo>
                    <a:pt x="350989" y="66611"/>
                  </a:lnTo>
                  <a:lnTo>
                    <a:pt x="375831" y="100444"/>
                  </a:lnTo>
                  <a:lnTo>
                    <a:pt x="392760" y="138963"/>
                  </a:lnTo>
                  <a:lnTo>
                    <a:pt x="401751" y="180365"/>
                  </a:lnTo>
                  <a:lnTo>
                    <a:pt x="402831" y="201244"/>
                  </a:lnTo>
                  <a:lnTo>
                    <a:pt x="398513" y="243001"/>
                  </a:lnTo>
                  <a:lnTo>
                    <a:pt x="385559" y="283324"/>
                  </a:lnTo>
                  <a:lnTo>
                    <a:pt x="364312" y="319684"/>
                  </a:lnTo>
                  <a:lnTo>
                    <a:pt x="336232" y="351002"/>
                  </a:lnTo>
                  <a:lnTo>
                    <a:pt x="302399" y="375843"/>
                  </a:lnTo>
                  <a:lnTo>
                    <a:pt x="283311" y="385203"/>
                  </a:lnTo>
                  <a:lnTo>
                    <a:pt x="273596" y="389521"/>
                  </a:lnTo>
                  <a:lnTo>
                    <a:pt x="232918" y="400329"/>
                  </a:lnTo>
                  <a:lnTo>
                    <a:pt x="201599" y="402844"/>
                  </a:lnTo>
                  <a:lnTo>
                    <a:pt x="159829" y="398526"/>
                  </a:lnTo>
                  <a:lnTo>
                    <a:pt x="119519" y="385572"/>
                  </a:lnTo>
                  <a:lnTo>
                    <a:pt x="83159" y="364324"/>
                  </a:lnTo>
                  <a:lnTo>
                    <a:pt x="51828" y="336245"/>
                  </a:lnTo>
                  <a:lnTo>
                    <a:pt x="27000" y="302399"/>
                  </a:lnTo>
                  <a:lnTo>
                    <a:pt x="17640" y="283324"/>
                  </a:lnTo>
                  <a:lnTo>
                    <a:pt x="13309" y="273608"/>
                  </a:lnTo>
                  <a:lnTo>
                    <a:pt x="2514" y="232930"/>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11" name="object 11"/>
          <p:cNvSpPr txBox="1"/>
          <p:nvPr/>
        </p:nvSpPr>
        <p:spPr>
          <a:xfrm>
            <a:off x="2072679" y="3707206"/>
            <a:ext cx="17145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rgbClr val="FFFFFF"/>
                </a:solidFill>
                <a:latin typeface="Trebuchet MS"/>
                <a:cs typeface="Trebuchet MS"/>
              </a:rPr>
              <a:t>1</a:t>
            </a:r>
            <a:endParaRPr sz="1400" dirty="0">
              <a:latin typeface="Trebuchet MS"/>
              <a:cs typeface="Trebuchet MS"/>
            </a:endParaRPr>
          </a:p>
        </p:txBody>
      </p:sp>
      <p:sp>
        <p:nvSpPr>
          <p:cNvPr id="12" name="object 12"/>
          <p:cNvSpPr txBox="1"/>
          <p:nvPr/>
        </p:nvSpPr>
        <p:spPr>
          <a:xfrm>
            <a:off x="1065504" y="2177897"/>
            <a:ext cx="2109470" cy="1431161"/>
          </a:xfrm>
          <a:prstGeom prst="rect">
            <a:avLst/>
          </a:prstGeom>
        </p:spPr>
        <p:txBody>
          <a:bodyPr vert="horz" wrap="square" lIns="0" tIns="12700" rIns="0" bIns="0" rtlCol="0">
            <a:spAutoFit/>
          </a:bodyPr>
          <a:lstStyle/>
          <a:p>
            <a:pPr algn="ctr">
              <a:lnSpc>
                <a:spcPct val="100000"/>
              </a:lnSpc>
              <a:spcBef>
                <a:spcPts val="100"/>
              </a:spcBef>
            </a:pPr>
            <a:r>
              <a:rPr sz="1800" dirty="0">
                <a:solidFill>
                  <a:srgbClr val="FFFFFF"/>
                </a:solidFill>
                <a:latin typeface="Trebuchet MS"/>
                <a:cs typeface="Trebuchet MS"/>
              </a:rPr>
              <a:t>Modeling</a:t>
            </a:r>
            <a:endParaRPr sz="1800">
              <a:latin typeface="Trebuchet MS"/>
              <a:cs typeface="Trebuchet MS"/>
            </a:endParaRPr>
          </a:p>
          <a:p>
            <a:pPr marL="12065" marR="5080" algn="ctr">
              <a:lnSpc>
                <a:spcPct val="99700"/>
              </a:lnSpc>
              <a:spcBef>
                <a:spcPts val="1135"/>
              </a:spcBef>
            </a:pPr>
            <a:r>
              <a:rPr sz="1300" dirty="0">
                <a:solidFill>
                  <a:srgbClr val="FFFFFF"/>
                </a:solidFill>
                <a:latin typeface="Trebuchet MS"/>
                <a:cs typeface="Trebuchet MS"/>
              </a:rPr>
              <a:t>Begin with a detailed simulation of the traditional passive suspension system to gather baseline performance data.</a:t>
            </a:r>
            <a:endParaRPr sz="1300">
              <a:latin typeface="Trebuchet MS"/>
              <a:cs typeface="Trebuchet MS"/>
            </a:endParaRPr>
          </a:p>
        </p:txBody>
      </p:sp>
      <p:grpSp>
        <p:nvGrpSpPr>
          <p:cNvPr id="13" name="object 13"/>
          <p:cNvGrpSpPr/>
          <p:nvPr/>
        </p:nvGrpSpPr>
        <p:grpSpPr>
          <a:xfrm>
            <a:off x="5715000" y="3642474"/>
            <a:ext cx="415925" cy="415925"/>
            <a:chOff x="5782093" y="3636124"/>
            <a:chExt cx="415925" cy="415925"/>
          </a:xfrm>
        </p:grpSpPr>
        <p:sp>
          <p:nvSpPr>
            <p:cNvPr id="14" name="object 14"/>
            <p:cNvSpPr/>
            <p:nvPr/>
          </p:nvSpPr>
          <p:spPr>
            <a:xfrm>
              <a:off x="5788443" y="3642474"/>
              <a:ext cx="403225" cy="403225"/>
            </a:xfrm>
            <a:custGeom>
              <a:avLst/>
              <a:gdLst/>
              <a:ahLst/>
              <a:cxnLst/>
              <a:rect l="l" t="t" r="r" b="b"/>
              <a:pathLst>
                <a:path w="403225" h="403225">
                  <a:moveTo>
                    <a:pt x="201599" y="0"/>
                  </a:moveTo>
                  <a:lnTo>
                    <a:pt x="160921" y="4330"/>
                  </a:lnTo>
                  <a:lnTo>
                    <a:pt x="122034" y="16560"/>
                  </a:lnTo>
                  <a:lnTo>
                    <a:pt x="86398" y="36360"/>
                  </a:lnTo>
                  <a:lnTo>
                    <a:pt x="55435" y="63004"/>
                  </a:lnTo>
                  <a:lnTo>
                    <a:pt x="30594" y="95046"/>
                  </a:lnTo>
                  <a:lnTo>
                    <a:pt x="9359" y="141490"/>
                  </a:lnTo>
                  <a:lnTo>
                    <a:pt x="1512" y="180365"/>
                  </a:lnTo>
                  <a:lnTo>
                    <a:pt x="1435" y="181089"/>
                  </a:lnTo>
                  <a:lnTo>
                    <a:pt x="761" y="190804"/>
                  </a:lnTo>
                  <a:lnTo>
                    <a:pt x="711" y="191528"/>
                  </a:lnTo>
                  <a:lnTo>
                    <a:pt x="368" y="201244"/>
                  </a:lnTo>
                  <a:lnTo>
                    <a:pt x="355" y="201599"/>
                  </a:lnTo>
                  <a:lnTo>
                    <a:pt x="0" y="201599"/>
                  </a:lnTo>
                  <a:lnTo>
                    <a:pt x="4254" y="243001"/>
                  </a:lnTo>
                  <a:lnTo>
                    <a:pt x="21958" y="293039"/>
                  </a:lnTo>
                  <a:lnTo>
                    <a:pt x="44996" y="328320"/>
                  </a:lnTo>
                  <a:lnTo>
                    <a:pt x="74879" y="357847"/>
                  </a:lnTo>
                  <a:lnTo>
                    <a:pt x="110159" y="380885"/>
                  </a:lnTo>
                  <a:lnTo>
                    <a:pt x="149390" y="396011"/>
                  </a:lnTo>
                  <a:lnTo>
                    <a:pt x="191160" y="402488"/>
                  </a:lnTo>
                  <a:lnTo>
                    <a:pt x="201599" y="402844"/>
                  </a:lnTo>
                  <a:lnTo>
                    <a:pt x="212039" y="402488"/>
                  </a:lnTo>
                  <a:lnTo>
                    <a:pt x="253796" y="396011"/>
                  </a:lnTo>
                  <a:lnTo>
                    <a:pt x="293039" y="380885"/>
                  </a:lnTo>
                  <a:lnTo>
                    <a:pt x="328320" y="357847"/>
                  </a:lnTo>
                  <a:lnTo>
                    <a:pt x="357835" y="327964"/>
                  </a:lnTo>
                  <a:lnTo>
                    <a:pt x="380873" y="292684"/>
                  </a:lnTo>
                  <a:lnTo>
                    <a:pt x="395893" y="253809"/>
                  </a:lnTo>
                  <a:lnTo>
                    <a:pt x="398424" y="243370"/>
                  </a:lnTo>
                  <a:lnTo>
                    <a:pt x="398513" y="243001"/>
                  </a:lnTo>
                  <a:lnTo>
                    <a:pt x="400316" y="232930"/>
                  </a:lnTo>
                  <a:lnTo>
                    <a:pt x="401702" y="222491"/>
                  </a:lnTo>
                  <a:lnTo>
                    <a:pt x="401751" y="222123"/>
                  </a:lnTo>
                  <a:lnTo>
                    <a:pt x="402450" y="212051"/>
                  </a:lnTo>
                  <a:lnTo>
                    <a:pt x="402819" y="201599"/>
                  </a:lnTo>
                  <a:lnTo>
                    <a:pt x="402831" y="201244"/>
                  </a:lnTo>
                  <a:lnTo>
                    <a:pt x="402500" y="191528"/>
                  </a:lnTo>
                  <a:lnTo>
                    <a:pt x="402475" y="190804"/>
                  </a:lnTo>
                  <a:lnTo>
                    <a:pt x="401801" y="181089"/>
                  </a:lnTo>
                  <a:lnTo>
                    <a:pt x="401751" y="180365"/>
                  </a:lnTo>
                  <a:lnTo>
                    <a:pt x="392760" y="138963"/>
                  </a:lnTo>
                  <a:lnTo>
                    <a:pt x="375831" y="100444"/>
                  </a:lnTo>
                  <a:lnTo>
                    <a:pt x="350989" y="66611"/>
                  </a:lnTo>
                  <a:lnTo>
                    <a:pt x="319671" y="38531"/>
                  </a:lnTo>
                  <a:lnTo>
                    <a:pt x="283311" y="17284"/>
                  </a:lnTo>
                  <a:lnTo>
                    <a:pt x="243357" y="4330"/>
                  </a:lnTo>
                  <a:lnTo>
                    <a:pt x="212039" y="368"/>
                  </a:lnTo>
                  <a:lnTo>
                    <a:pt x="201599" y="0"/>
                  </a:lnTo>
                  <a:close/>
                </a:path>
              </a:pathLst>
            </a:custGeom>
            <a:solidFill>
              <a:srgbClr val="453E31"/>
            </a:solidFill>
          </p:spPr>
          <p:txBody>
            <a:bodyPr wrap="square" lIns="0" tIns="0" rIns="0" bIns="0" rtlCol="0"/>
            <a:lstStyle/>
            <a:p>
              <a:endParaRPr/>
            </a:p>
          </p:txBody>
        </p:sp>
        <p:sp>
          <p:nvSpPr>
            <p:cNvPr id="15" name="object 15"/>
            <p:cNvSpPr/>
            <p:nvPr/>
          </p:nvSpPr>
          <p:spPr>
            <a:xfrm>
              <a:off x="5788443" y="3642474"/>
              <a:ext cx="403225" cy="403225"/>
            </a:xfrm>
            <a:custGeom>
              <a:avLst/>
              <a:gdLst/>
              <a:ahLst/>
              <a:cxnLst/>
              <a:rect l="l" t="t" r="r" b="b"/>
              <a:pathLst>
                <a:path w="403225" h="403225">
                  <a:moveTo>
                    <a:pt x="355" y="201599"/>
                  </a:moveTo>
                  <a:lnTo>
                    <a:pt x="711" y="191528"/>
                  </a:lnTo>
                  <a:lnTo>
                    <a:pt x="1435" y="181089"/>
                  </a:lnTo>
                  <a:lnTo>
                    <a:pt x="9359" y="141490"/>
                  </a:lnTo>
                  <a:lnTo>
                    <a:pt x="25552" y="104051"/>
                  </a:lnTo>
                  <a:lnTo>
                    <a:pt x="42481" y="78486"/>
                  </a:lnTo>
                  <a:lnTo>
                    <a:pt x="48590" y="70561"/>
                  </a:lnTo>
                  <a:lnTo>
                    <a:pt x="78117" y="42481"/>
                  </a:lnTo>
                  <a:lnTo>
                    <a:pt x="112674" y="20891"/>
                  </a:lnTo>
                  <a:lnTo>
                    <a:pt x="151193" y="6489"/>
                  </a:lnTo>
                  <a:lnTo>
                    <a:pt x="191515" y="368"/>
                  </a:lnTo>
                  <a:lnTo>
                    <a:pt x="201599" y="0"/>
                  </a:lnTo>
                  <a:lnTo>
                    <a:pt x="243357" y="4330"/>
                  </a:lnTo>
                  <a:lnTo>
                    <a:pt x="283311" y="17284"/>
                  </a:lnTo>
                  <a:lnTo>
                    <a:pt x="319671" y="38531"/>
                  </a:lnTo>
                  <a:lnTo>
                    <a:pt x="350989" y="66611"/>
                  </a:lnTo>
                  <a:lnTo>
                    <a:pt x="375831" y="100444"/>
                  </a:lnTo>
                  <a:lnTo>
                    <a:pt x="385190" y="119519"/>
                  </a:lnTo>
                  <a:lnTo>
                    <a:pt x="389521" y="129247"/>
                  </a:lnTo>
                  <a:lnTo>
                    <a:pt x="400316" y="169926"/>
                  </a:lnTo>
                  <a:lnTo>
                    <a:pt x="402831" y="201244"/>
                  </a:lnTo>
                  <a:lnTo>
                    <a:pt x="398513" y="243001"/>
                  </a:lnTo>
                  <a:lnTo>
                    <a:pt x="385559" y="283324"/>
                  </a:lnTo>
                  <a:lnTo>
                    <a:pt x="364312" y="319684"/>
                  </a:lnTo>
                  <a:lnTo>
                    <a:pt x="336232" y="351002"/>
                  </a:lnTo>
                  <a:lnTo>
                    <a:pt x="302399" y="375843"/>
                  </a:lnTo>
                  <a:lnTo>
                    <a:pt x="283311" y="385203"/>
                  </a:lnTo>
                  <a:lnTo>
                    <a:pt x="273596" y="389521"/>
                  </a:lnTo>
                  <a:lnTo>
                    <a:pt x="232917" y="400329"/>
                  </a:lnTo>
                  <a:lnTo>
                    <a:pt x="201599" y="402844"/>
                  </a:lnTo>
                  <a:lnTo>
                    <a:pt x="159842" y="398526"/>
                  </a:lnTo>
                  <a:lnTo>
                    <a:pt x="119519" y="385572"/>
                  </a:lnTo>
                  <a:lnTo>
                    <a:pt x="83159" y="364324"/>
                  </a:lnTo>
                  <a:lnTo>
                    <a:pt x="51841" y="336245"/>
                  </a:lnTo>
                  <a:lnTo>
                    <a:pt x="27000" y="302399"/>
                  </a:lnTo>
                  <a:lnTo>
                    <a:pt x="17640" y="283324"/>
                  </a:lnTo>
                  <a:lnTo>
                    <a:pt x="13309" y="273608"/>
                  </a:lnTo>
                  <a:lnTo>
                    <a:pt x="2514" y="232930"/>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16" name="object 16"/>
          <p:cNvSpPr txBox="1"/>
          <p:nvPr/>
        </p:nvSpPr>
        <p:spPr>
          <a:xfrm>
            <a:off x="5856450" y="3726256"/>
            <a:ext cx="17145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rgbClr val="FFFFFF"/>
                </a:solidFill>
                <a:latin typeface="Trebuchet MS"/>
                <a:cs typeface="Trebuchet MS"/>
              </a:rPr>
              <a:t>2</a:t>
            </a:r>
            <a:endParaRPr sz="1400" dirty="0">
              <a:latin typeface="Trebuchet MS"/>
              <a:cs typeface="Trebuchet MS"/>
            </a:endParaRPr>
          </a:p>
        </p:txBody>
      </p:sp>
      <p:sp>
        <p:nvSpPr>
          <p:cNvPr id="17" name="object 17"/>
          <p:cNvSpPr txBox="1"/>
          <p:nvPr/>
        </p:nvSpPr>
        <p:spPr>
          <a:xfrm>
            <a:off x="4936578" y="4103535"/>
            <a:ext cx="2103755" cy="1631216"/>
          </a:xfrm>
          <a:prstGeom prst="rect">
            <a:avLst/>
          </a:prstGeom>
        </p:spPr>
        <p:txBody>
          <a:bodyPr vert="horz" wrap="square" lIns="0" tIns="12700" rIns="0" bIns="0" rtlCol="0">
            <a:spAutoFit/>
          </a:bodyPr>
          <a:lstStyle/>
          <a:p>
            <a:pPr marL="3810" algn="ctr">
              <a:lnSpc>
                <a:spcPct val="100000"/>
              </a:lnSpc>
              <a:spcBef>
                <a:spcPts val="100"/>
              </a:spcBef>
            </a:pPr>
            <a:r>
              <a:rPr sz="1800" dirty="0">
                <a:solidFill>
                  <a:srgbClr val="FFFFFF"/>
                </a:solidFill>
                <a:latin typeface="Trebuchet MS"/>
                <a:cs typeface="Trebuchet MS"/>
              </a:rPr>
              <a:t>Integration</a:t>
            </a:r>
            <a:endParaRPr sz="1800">
              <a:latin typeface="Trebuchet MS"/>
              <a:cs typeface="Trebuchet MS"/>
            </a:endParaRPr>
          </a:p>
          <a:p>
            <a:pPr marL="12700" marR="5080" indent="635" algn="ctr">
              <a:lnSpc>
                <a:spcPct val="100000"/>
              </a:lnSpc>
              <a:spcBef>
                <a:spcPts val="1110"/>
              </a:spcBef>
            </a:pPr>
            <a:r>
              <a:rPr sz="1300" dirty="0">
                <a:solidFill>
                  <a:srgbClr val="FFFFFF"/>
                </a:solidFill>
                <a:latin typeface="Trebuchet MS"/>
                <a:cs typeface="Trebuchet MS"/>
              </a:rPr>
              <a:t>Incorporate the electromechanical components and control algorithms into the existing suspension model for active control.</a:t>
            </a:r>
            <a:endParaRPr sz="1300">
              <a:latin typeface="Trebuchet MS"/>
              <a:cs typeface="Trebuchet MS"/>
            </a:endParaRPr>
          </a:p>
        </p:txBody>
      </p:sp>
      <p:grpSp>
        <p:nvGrpSpPr>
          <p:cNvPr id="18" name="object 18"/>
          <p:cNvGrpSpPr/>
          <p:nvPr/>
        </p:nvGrpSpPr>
        <p:grpSpPr>
          <a:xfrm>
            <a:off x="9651783" y="3636174"/>
            <a:ext cx="415925" cy="415925"/>
            <a:chOff x="9651783" y="3636174"/>
            <a:chExt cx="415925" cy="415925"/>
          </a:xfrm>
        </p:grpSpPr>
        <p:sp>
          <p:nvSpPr>
            <p:cNvPr id="19" name="object 19"/>
            <p:cNvSpPr/>
            <p:nvPr/>
          </p:nvSpPr>
          <p:spPr>
            <a:xfrm>
              <a:off x="9658083" y="3642474"/>
              <a:ext cx="403225" cy="403225"/>
            </a:xfrm>
            <a:custGeom>
              <a:avLst/>
              <a:gdLst/>
              <a:ahLst/>
              <a:cxnLst/>
              <a:rect l="l" t="t" r="r" b="b"/>
              <a:pathLst>
                <a:path w="403225" h="403225">
                  <a:moveTo>
                    <a:pt x="201599" y="0"/>
                  </a:moveTo>
                  <a:lnTo>
                    <a:pt x="160921" y="4330"/>
                  </a:lnTo>
                  <a:lnTo>
                    <a:pt x="122034" y="16560"/>
                  </a:lnTo>
                  <a:lnTo>
                    <a:pt x="86398" y="36360"/>
                  </a:lnTo>
                  <a:lnTo>
                    <a:pt x="55435" y="63004"/>
                  </a:lnTo>
                  <a:lnTo>
                    <a:pt x="30594" y="95046"/>
                  </a:lnTo>
                  <a:lnTo>
                    <a:pt x="9359" y="141490"/>
                  </a:lnTo>
                  <a:lnTo>
                    <a:pt x="1512" y="180365"/>
                  </a:lnTo>
                  <a:lnTo>
                    <a:pt x="1435" y="181089"/>
                  </a:lnTo>
                  <a:lnTo>
                    <a:pt x="761" y="190804"/>
                  </a:lnTo>
                  <a:lnTo>
                    <a:pt x="711" y="191528"/>
                  </a:lnTo>
                  <a:lnTo>
                    <a:pt x="368" y="201244"/>
                  </a:lnTo>
                  <a:lnTo>
                    <a:pt x="355" y="201599"/>
                  </a:lnTo>
                  <a:lnTo>
                    <a:pt x="0" y="201599"/>
                  </a:lnTo>
                  <a:lnTo>
                    <a:pt x="4254" y="243001"/>
                  </a:lnTo>
                  <a:lnTo>
                    <a:pt x="6743" y="253441"/>
                  </a:lnTo>
                  <a:lnTo>
                    <a:pt x="6832" y="253809"/>
                  </a:lnTo>
                  <a:lnTo>
                    <a:pt x="21958" y="293039"/>
                  </a:lnTo>
                  <a:lnTo>
                    <a:pt x="44996" y="328320"/>
                  </a:lnTo>
                  <a:lnTo>
                    <a:pt x="74879" y="357847"/>
                  </a:lnTo>
                  <a:lnTo>
                    <a:pt x="110159" y="380885"/>
                  </a:lnTo>
                  <a:lnTo>
                    <a:pt x="149402" y="396011"/>
                  </a:lnTo>
                  <a:lnTo>
                    <a:pt x="191160" y="402488"/>
                  </a:lnTo>
                  <a:lnTo>
                    <a:pt x="201599" y="402844"/>
                  </a:lnTo>
                  <a:lnTo>
                    <a:pt x="212039" y="402488"/>
                  </a:lnTo>
                  <a:lnTo>
                    <a:pt x="253796" y="396011"/>
                  </a:lnTo>
                  <a:lnTo>
                    <a:pt x="293039" y="380885"/>
                  </a:lnTo>
                  <a:lnTo>
                    <a:pt x="328320" y="357847"/>
                  </a:lnTo>
                  <a:lnTo>
                    <a:pt x="357835" y="327964"/>
                  </a:lnTo>
                  <a:lnTo>
                    <a:pt x="380873" y="292684"/>
                  </a:lnTo>
                  <a:lnTo>
                    <a:pt x="395893" y="253809"/>
                  </a:lnTo>
                  <a:lnTo>
                    <a:pt x="402450" y="212051"/>
                  </a:lnTo>
                  <a:lnTo>
                    <a:pt x="402831" y="201244"/>
                  </a:lnTo>
                  <a:lnTo>
                    <a:pt x="402500" y="191528"/>
                  </a:lnTo>
                  <a:lnTo>
                    <a:pt x="402475" y="190804"/>
                  </a:lnTo>
                  <a:lnTo>
                    <a:pt x="401801" y="181089"/>
                  </a:lnTo>
                  <a:lnTo>
                    <a:pt x="401751" y="180365"/>
                  </a:lnTo>
                  <a:lnTo>
                    <a:pt x="392760" y="138963"/>
                  </a:lnTo>
                  <a:lnTo>
                    <a:pt x="375831" y="100444"/>
                  </a:lnTo>
                  <a:lnTo>
                    <a:pt x="351002" y="66611"/>
                  </a:lnTo>
                  <a:lnTo>
                    <a:pt x="319671" y="38531"/>
                  </a:lnTo>
                  <a:lnTo>
                    <a:pt x="283311" y="17284"/>
                  </a:lnTo>
                  <a:lnTo>
                    <a:pt x="243357" y="4330"/>
                  </a:lnTo>
                  <a:lnTo>
                    <a:pt x="212039" y="368"/>
                  </a:lnTo>
                  <a:lnTo>
                    <a:pt x="201599" y="0"/>
                  </a:lnTo>
                  <a:close/>
                </a:path>
              </a:pathLst>
            </a:custGeom>
            <a:solidFill>
              <a:srgbClr val="453E31"/>
            </a:solidFill>
          </p:spPr>
          <p:txBody>
            <a:bodyPr wrap="square" lIns="0" tIns="0" rIns="0" bIns="0" rtlCol="0"/>
            <a:lstStyle/>
            <a:p>
              <a:endParaRPr/>
            </a:p>
          </p:txBody>
        </p:sp>
        <p:sp>
          <p:nvSpPr>
            <p:cNvPr id="20" name="object 20"/>
            <p:cNvSpPr/>
            <p:nvPr/>
          </p:nvSpPr>
          <p:spPr>
            <a:xfrm>
              <a:off x="9658083" y="3642474"/>
              <a:ext cx="403225" cy="403225"/>
            </a:xfrm>
            <a:custGeom>
              <a:avLst/>
              <a:gdLst/>
              <a:ahLst/>
              <a:cxnLst/>
              <a:rect l="l" t="t" r="r" b="b"/>
              <a:pathLst>
                <a:path w="403225" h="403225">
                  <a:moveTo>
                    <a:pt x="355" y="201599"/>
                  </a:moveTo>
                  <a:lnTo>
                    <a:pt x="711" y="191528"/>
                  </a:lnTo>
                  <a:lnTo>
                    <a:pt x="1435" y="181089"/>
                  </a:lnTo>
                  <a:lnTo>
                    <a:pt x="9359" y="141490"/>
                  </a:lnTo>
                  <a:lnTo>
                    <a:pt x="25552" y="104051"/>
                  </a:lnTo>
                  <a:lnTo>
                    <a:pt x="48602" y="70561"/>
                  </a:lnTo>
                  <a:lnTo>
                    <a:pt x="78117" y="42481"/>
                  </a:lnTo>
                  <a:lnTo>
                    <a:pt x="112674" y="20891"/>
                  </a:lnTo>
                  <a:lnTo>
                    <a:pt x="151193" y="6489"/>
                  </a:lnTo>
                  <a:lnTo>
                    <a:pt x="191515" y="368"/>
                  </a:lnTo>
                  <a:lnTo>
                    <a:pt x="201599" y="0"/>
                  </a:lnTo>
                  <a:lnTo>
                    <a:pt x="243357" y="4330"/>
                  </a:lnTo>
                  <a:lnTo>
                    <a:pt x="283311" y="17284"/>
                  </a:lnTo>
                  <a:lnTo>
                    <a:pt x="319671" y="38531"/>
                  </a:lnTo>
                  <a:lnTo>
                    <a:pt x="351002" y="66611"/>
                  </a:lnTo>
                  <a:lnTo>
                    <a:pt x="375831" y="100444"/>
                  </a:lnTo>
                  <a:lnTo>
                    <a:pt x="385190" y="119519"/>
                  </a:lnTo>
                  <a:lnTo>
                    <a:pt x="389521" y="129247"/>
                  </a:lnTo>
                  <a:lnTo>
                    <a:pt x="400316" y="169926"/>
                  </a:lnTo>
                  <a:lnTo>
                    <a:pt x="402831" y="201244"/>
                  </a:lnTo>
                  <a:lnTo>
                    <a:pt x="398513" y="243001"/>
                  </a:lnTo>
                  <a:lnTo>
                    <a:pt x="385559" y="283324"/>
                  </a:lnTo>
                  <a:lnTo>
                    <a:pt x="364312" y="319684"/>
                  </a:lnTo>
                  <a:lnTo>
                    <a:pt x="336232" y="351002"/>
                  </a:lnTo>
                  <a:lnTo>
                    <a:pt x="302399" y="375843"/>
                  </a:lnTo>
                  <a:lnTo>
                    <a:pt x="283311" y="385203"/>
                  </a:lnTo>
                  <a:lnTo>
                    <a:pt x="273596" y="389521"/>
                  </a:lnTo>
                  <a:lnTo>
                    <a:pt x="232917" y="400329"/>
                  </a:lnTo>
                  <a:lnTo>
                    <a:pt x="201599" y="402844"/>
                  </a:lnTo>
                  <a:lnTo>
                    <a:pt x="159842" y="398526"/>
                  </a:lnTo>
                  <a:lnTo>
                    <a:pt x="119519" y="385572"/>
                  </a:lnTo>
                  <a:lnTo>
                    <a:pt x="83159" y="364324"/>
                  </a:lnTo>
                  <a:lnTo>
                    <a:pt x="51841" y="336245"/>
                  </a:lnTo>
                  <a:lnTo>
                    <a:pt x="27000" y="302399"/>
                  </a:lnTo>
                  <a:lnTo>
                    <a:pt x="17640" y="283324"/>
                  </a:lnTo>
                  <a:lnTo>
                    <a:pt x="13322" y="273608"/>
                  </a:lnTo>
                  <a:lnTo>
                    <a:pt x="2514" y="232930"/>
                  </a:lnTo>
                  <a:lnTo>
                    <a:pt x="0" y="201599"/>
                  </a:lnTo>
                  <a:lnTo>
                    <a:pt x="355" y="201599"/>
                  </a:lnTo>
                  <a:close/>
                </a:path>
              </a:pathLst>
            </a:custGeom>
            <a:ln w="12599">
              <a:solidFill>
                <a:srgbClr val="FFFFFF"/>
              </a:solidFill>
            </a:ln>
          </p:spPr>
          <p:txBody>
            <a:bodyPr wrap="square" lIns="0" tIns="0" rIns="0" bIns="0" rtlCol="0"/>
            <a:lstStyle/>
            <a:p>
              <a:endParaRPr/>
            </a:p>
          </p:txBody>
        </p:sp>
      </p:grpSp>
      <p:sp>
        <p:nvSpPr>
          <p:cNvPr id="21" name="object 21"/>
          <p:cNvSpPr txBox="1"/>
          <p:nvPr/>
        </p:nvSpPr>
        <p:spPr>
          <a:xfrm>
            <a:off x="9791426" y="3726256"/>
            <a:ext cx="171450" cy="228268"/>
          </a:xfrm>
          <a:prstGeom prst="rect">
            <a:avLst/>
          </a:prstGeom>
        </p:spPr>
        <p:txBody>
          <a:bodyPr vert="horz" wrap="square" lIns="0" tIns="12700" rIns="0" bIns="0" rtlCol="0">
            <a:spAutoFit/>
          </a:bodyPr>
          <a:lstStyle/>
          <a:p>
            <a:pPr marL="12700">
              <a:lnSpc>
                <a:spcPct val="100000"/>
              </a:lnSpc>
              <a:spcBef>
                <a:spcPts val="100"/>
              </a:spcBef>
            </a:pPr>
            <a:r>
              <a:rPr lang="en-US" sz="1400" dirty="0">
                <a:solidFill>
                  <a:srgbClr val="FFFFFF"/>
                </a:solidFill>
                <a:latin typeface="Trebuchet MS"/>
                <a:cs typeface="Trebuchet MS"/>
              </a:rPr>
              <a:t>3</a:t>
            </a:r>
            <a:endParaRPr sz="1400" dirty="0">
              <a:latin typeface="Trebuchet MS"/>
              <a:cs typeface="Trebuchet MS"/>
            </a:endParaRPr>
          </a:p>
        </p:txBody>
      </p:sp>
      <p:sp>
        <p:nvSpPr>
          <p:cNvPr id="22" name="object 22"/>
          <p:cNvSpPr txBox="1"/>
          <p:nvPr/>
        </p:nvSpPr>
        <p:spPr>
          <a:xfrm>
            <a:off x="8774544" y="2177897"/>
            <a:ext cx="2171065" cy="1431161"/>
          </a:xfrm>
          <a:prstGeom prst="rect">
            <a:avLst/>
          </a:prstGeom>
        </p:spPr>
        <p:txBody>
          <a:bodyPr vert="horz" wrap="square" lIns="0" tIns="12700" rIns="0" bIns="0" rtlCol="0">
            <a:spAutoFit/>
          </a:bodyPr>
          <a:lstStyle/>
          <a:p>
            <a:pPr algn="ctr">
              <a:lnSpc>
                <a:spcPct val="100000"/>
              </a:lnSpc>
              <a:spcBef>
                <a:spcPts val="100"/>
              </a:spcBef>
            </a:pPr>
            <a:r>
              <a:rPr sz="1800" dirty="0">
                <a:solidFill>
                  <a:srgbClr val="FFFFFF"/>
                </a:solidFill>
                <a:latin typeface="Trebuchet MS"/>
                <a:cs typeface="Trebuchet MS"/>
              </a:rPr>
              <a:t>Testing</a:t>
            </a:r>
            <a:endParaRPr sz="1800">
              <a:latin typeface="Trebuchet MS"/>
              <a:cs typeface="Trebuchet MS"/>
            </a:endParaRPr>
          </a:p>
          <a:p>
            <a:pPr marL="12700" marR="5080" indent="22225" algn="just">
              <a:lnSpc>
                <a:spcPct val="99700"/>
              </a:lnSpc>
              <a:spcBef>
                <a:spcPts val="1075"/>
              </a:spcBef>
            </a:pPr>
            <a:r>
              <a:rPr sz="1300" dirty="0">
                <a:solidFill>
                  <a:srgbClr val="FFFFFF"/>
                </a:solidFill>
                <a:latin typeface="Trebuchet MS"/>
                <a:cs typeface="Trebuchet MS"/>
              </a:rPr>
              <a:t>Conduct real-time simulations to analyze the performance and responsive behavior of the new active suspension system.</a:t>
            </a:r>
            <a:endParaRPr sz="1300">
              <a:latin typeface="Trebuchet MS"/>
              <a:cs typeface="Trebuchet M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594" y="12"/>
            <a:ext cx="12186285" cy="4341495"/>
            <a:chOff x="3594" y="12"/>
            <a:chExt cx="12186285" cy="4341495"/>
          </a:xfrm>
        </p:grpSpPr>
        <p:pic>
          <p:nvPicPr>
            <p:cNvPr id="3" name="object 3"/>
            <p:cNvPicPr/>
            <p:nvPr/>
          </p:nvPicPr>
          <p:blipFill>
            <a:blip r:embed="rId2" cstate="print"/>
            <a:stretch>
              <a:fillRect/>
            </a:stretch>
          </p:blipFill>
          <p:spPr>
            <a:xfrm>
              <a:off x="3594" y="12"/>
              <a:ext cx="12186005" cy="3099231"/>
            </a:xfrm>
            <a:prstGeom prst="rect">
              <a:avLst/>
            </a:prstGeom>
          </p:spPr>
        </p:pic>
        <p:sp>
          <p:nvSpPr>
            <p:cNvPr id="4" name="object 4"/>
            <p:cNvSpPr/>
            <p:nvPr/>
          </p:nvSpPr>
          <p:spPr>
            <a:xfrm>
              <a:off x="338404" y="2609634"/>
              <a:ext cx="1414145" cy="1731645"/>
            </a:xfrm>
            <a:custGeom>
              <a:avLst/>
              <a:gdLst/>
              <a:ahLst/>
              <a:cxnLst/>
              <a:rect l="l" t="t" r="r" b="b"/>
              <a:pathLst>
                <a:path w="1414145" h="1731645">
                  <a:moveTo>
                    <a:pt x="1414081" y="0"/>
                  </a:moveTo>
                  <a:lnTo>
                    <a:pt x="0" y="0"/>
                  </a:lnTo>
                  <a:lnTo>
                    <a:pt x="0" y="1731606"/>
                  </a:lnTo>
                  <a:lnTo>
                    <a:pt x="707034" y="1731606"/>
                  </a:lnTo>
                  <a:lnTo>
                    <a:pt x="1414081" y="1731606"/>
                  </a:lnTo>
                  <a:lnTo>
                    <a:pt x="1414081" y="0"/>
                  </a:lnTo>
                  <a:close/>
                </a:path>
              </a:pathLst>
            </a:custGeom>
            <a:solidFill>
              <a:srgbClr val="453E31">
                <a:alpha val="92999"/>
              </a:srgbClr>
            </a:solidFill>
          </p:spPr>
          <p:txBody>
            <a:bodyPr wrap="square" lIns="0" tIns="0" rIns="0" bIns="0" rtlCol="0"/>
            <a:lstStyle/>
            <a:p>
              <a:endParaRPr/>
            </a:p>
          </p:txBody>
        </p:sp>
      </p:grpSp>
      <p:sp>
        <p:nvSpPr>
          <p:cNvPr id="5" name="object 5"/>
          <p:cNvSpPr txBox="1"/>
          <p:nvPr/>
        </p:nvSpPr>
        <p:spPr>
          <a:xfrm>
            <a:off x="228600" y="3053908"/>
            <a:ext cx="5697106" cy="505267"/>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FFFFFF"/>
                </a:solidFill>
                <a:latin typeface="Trebuchet MS"/>
                <a:cs typeface="Trebuchet MS"/>
              </a:rPr>
              <a:t>Active Suspension Components</a:t>
            </a:r>
            <a:endParaRPr sz="3200" dirty="0">
              <a:latin typeface="Trebuchet MS"/>
              <a:cs typeface="Trebuchet MS"/>
            </a:endParaRPr>
          </a:p>
        </p:txBody>
      </p:sp>
      <p:sp>
        <p:nvSpPr>
          <p:cNvPr id="15" name="TextBox 14">
            <a:extLst>
              <a:ext uri="{FF2B5EF4-FFF2-40B4-BE49-F238E27FC236}">
                <a16:creationId xmlns:a16="http://schemas.microsoft.com/office/drawing/2014/main" id="{FC80D970-896B-6781-8615-446F1BFD5FDA}"/>
              </a:ext>
            </a:extLst>
          </p:cNvPr>
          <p:cNvSpPr txBox="1"/>
          <p:nvPr/>
        </p:nvSpPr>
        <p:spPr>
          <a:xfrm>
            <a:off x="152400" y="3475456"/>
            <a:ext cx="7543800" cy="3108543"/>
          </a:xfrm>
          <a:prstGeom prst="rect">
            <a:avLst/>
          </a:prstGeom>
          <a:noFill/>
        </p:spPr>
        <p:txBody>
          <a:bodyPr wrap="square" rtlCol="0">
            <a:spAutoFit/>
          </a:bodyPr>
          <a:lstStyle/>
          <a:p>
            <a:pPr>
              <a:buNone/>
            </a:pPr>
            <a:r>
              <a:rPr lang="en-US" sz="1400" dirty="0">
                <a:solidFill>
                  <a:schemeClr val="bg1"/>
                </a:solidFill>
              </a:rPr>
              <a:t>To improve performance, an </a:t>
            </a:r>
            <a:r>
              <a:rPr lang="en-US" sz="1400" b="1" dirty="0">
                <a:solidFill>
                  <a:schemeClr val="bg1"/>
                </a:solidFill>
              </a:rPr>
              <a:t>electromechanical active suspension</a:t>
            </a:r>
            <a:r>
              <a:rPr lang="en-US" sz="1400" dirty="0">
                <a:solidFill>
                  <a:schemeClr val="bg1"/>
                </a:solidFill>
              </a:rPr>
              <a:t> was developed by integrating a </a:t>
            </a:r>
            <a:r>
              <a:rPr lang="en-US" sz="1400" b="1" dirty="0">
                <a:solidFill>
                  <a:schemeClr val="bg1"/>
                </a:solidFill>
              </a:rPr>
              <a:t>DC motor</a:t>
            </a:r>
            <a:r>
              <a:rPr lang="en-US" sz="1400" dirty="0">
                <a:solidFill>
                  <a:schemeClr val="bg1"/>
                </a:solidFill>
              </a:rPr>
              <a:t> and </a:t>
            </a:r>
            <a:r>
              <a:rPr lang="en-US" sz="1400" b="1" dirty="0">
                <a:solidFill>
                  <a:schemeClr val="bg1"/>
                </a:solidFill>
              </a:rPr>
              <a:t>lead screw mechanism</a:t>
            </a:r>
            <a:r>
              <a:rPr lang="en-US" sz="1400" dirty="0">
                <a:solidFill>
                  <a:schemeClr val="bg1"/>
                </a:solidFill>
              </a:rPr>
              <a:t> into the model.</a:t>
            </a:r>
          </a:p>
          <a:p>
            <a:pPr>
              <a:buNone/>
            </a:pPr>
            <a:endParaRPr lang="en-US" sz="1400" dirty="0">
              <a:solidFill>
                <a:schemeClr val="bg1"/>
              </a:solidFill>
            </a:endParaRPr>
          </a:p>
          <a:p>
            <a:pPr>
              <a:buNone/>
            </a:pPr>
            <a:r>
              <a:rPr lang="en-US" sz="1400" b="1" dirty="0">
                <a:solidFill>
                  <a:schemeClr val="bg1"/>
                </a:solidFill>
              </a:rPr>
              <a:t>Key Components:</a:t>
            </a:r>
          </a:p>
          <a:p>
            <a:pPr>
              <a:buNone/>
            </a:pPr>
            <a:endParaRPr lang="en-US" sz="1400" dirty="0">
              <a:solidFill>
                <a:schemeClr val="bg1"/>
              </a:solidFill>
            </a:endParaRPr>
          </a:p>
          <a:p>
            <a:pPr>
              <a:buFont typeface="Arial" panose="020B0604020202020204" pitchFamily="34" charset="0"/>
              <a:buChar char="•"/>
            </a:pPr>
            <a:r>
              <a:rPr lang="en-US" sz="1400" b="1" dirty="0">
                <a:solidFill>
                  <a:schemeClr val="bg1"/>
                </a:solidFill>
              </a:rPr>
              <a:t>DC Motor &amp; Lead Screw</a:t>
            </a: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Converts electrical input into mechanical adjustment of the suspension.</a:t>
            </a:r>
          </a:p>
          <a:p>
            <a:pPr marL="742950" lvl="1" indent="-285750">
              <a:buFont typeface="Arial" panose="020B0604020202020204" pitchFamily="34" charset="0"/>
              <a:buChar char="•"/>
            </a:pPr>
            <a:r>
              <a:rPr lang="en-US" sz="1400" dirty="0">
                <a:solidFill>
                  <a:schemeClr val="bg1"/>
                </a:solidFill>
              </a:rPr>
              <a:t>Provides </a:t>
            </a:r>
            <a:r>
              <a:rPr lang="en-US" sz="1400" b="1" dirty="0">
                <a:solidFill>
                  <a:schemeClr val="bg1"/>
                </a:solidFill>
              </a:rPr>
              <a:t>real-time control</a:t>
            </a:r>
            <a:r>
              <a:rPr lang="en-US" sz="1400" dirty="0">
                <a:solidFill>
                  <a:schemeClr val="bg1"/>
                </a:solidFill>
              </a:rPr>
              <a:t> to respond to road disturbances.</a:t>
            </a:r>
          </a:p>
          <a:p>
            <a:pPr>
              <a:buFont typeface="Arial" panose="020B0604020202020204" pitchFamily="34" charset="0"/>
              <a:buChar char="•"/>
            </a:pPr>
            <a:r>
              <a:rPr lang="en-US" sz="1400" b="1" dirty="0">
                <a:solidFill>
                  <a:schemeClr val="bg1"/>
                </a:solidFill>
              </a:rPr>
              <a:t>Controlled Voltage Source</a:t>
            </a: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Powers the DC motor.</a:t>
            </a:r>
          </a:p>
          <a:p>
            <a:pPr marL="742950" lvl="1" indent="-285750">
              <a:buFont typeface="Arial" panose="020B0604020202020204" pitchFamily="34" charset="0"/>
              <a:buChar char="•"/>
            </a:pPr>
            <a:r>
              <a:rPr lang="en-US" sz="1400" dirty="0">
                <a:solidFill>
                  <a:schemeClr val="bg1"/>
                </a:solidFill>
              </a:rPr>
              <a:t>Regulated by a </a:t>
            </a:r>
            <a:r>
              <a:rPr lang="en-US" sz="1400" b="1" dirty="0">
                <a:solidFill>
                  <a:schemeClr val="bg1"/>
                </a:solidFill>
              </a:rPr>
              <a:t>PID controller</a:t>
            </a:r>
            <a:r>
              <a:rPr lang="en-US" sz="1400" dirty="0">
                <a:solidFill>
                  <a:schemeClr val="bg1"/>
                </a:solidFill>
              </a:rPr>
              <a:t> to ensure precise and adaptive suspension movement.</a:t>
            </a:r>
          </a:p>
          <a:p>
            <a:r>
              <a:rPr lang="en-US" sz="1400" dirty="0">
                <a:solidFill>
                  <a:schemeClr val="bg1"/>
                </a:solidFill>
              </a:rPr>
              <a:t>This setup enables </a:t>
            </a:r>
            <a:r>
              <a:rPr lang="en-US" sz="1400" b="1" dirty="0">
                <a:solidFill>
                  <a:schemeClr val="bg1"/>
                </a:solidFill>
              </a:rPr>
              <a:t>active damping</a:t>
            </a:r>
            <a:r>
              <a:rPr lang="en-US" sz="1400" dirty="0">
                <a:solidFill>
                  <a:schemeClr val="bg1"/>
                </a:solidFill>
              </a:rPr>
              <a:t>, enhancing ride quality beyond the capabilities of a passive system.</a:t>
            </a:r>
          </a:p>
        </p:txBody>
      </p:sp>
      <p:pic>
        <p:nvPicPr>
          <p:cNvPr id="7" name="Picture 6">
            <a:extLst>
              <a:ext uri="{FF2B5EF4-FFF2-40B4-BE49-F238E27FC236}">
                <a16:creationId xmlns:a16="http://schemas.microsoft.com/office/drawing/2014/main" id="{31898FB6-0B48-10C1-2735-AC0F2CA868BA}"/>
              </a:ext>
            </a:extLst>
          </p:cNvPr>
          <p:cNvPicPr>
            <a:picLocks noChangeAspect="1"/>
          </p:cNvPicPr>
          <p:nvPr/>
        </p:nvPicPr>
        <p:blipFill>
          <a:blip r:embed="rId3"/>
          <a:stretch>
            <a:fillRect/>
          </a:stretch>
        </p:blipFill>
        <p:spPr>
          <a:xfrm>
            <a:off x="7569416" y="3657600"/>
            <a:ext cx="4312755" cy="2667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9F64C-0949-418A-1CE4-6BCE15EDD4A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016A1D4-1C78-D69E-49D2-E175A57C0640}"/>
              </a:ext>
            </a:extLst>
          </p:cNvPr>
          <p:cNvSpPr/>
          <p:nvPr/>
        </p:nvSpPr>
        <p:spPr>
          <a:xfrm>
            <a:off x="10216438" y="0"/>
            <a:ext cx="1278255" cy="1745614"/>
          </a:xfrm>
          <a:custGeom>
            <a:avLst/>
            <a:gdLst/>
            <a:ahLst/>
            <a:cxnLst/>
            <a:rect l="l" t="t" r="r" b="b"/>
            <a:pathLst>
              <a:path w="1278254" h="1745614">
                <a:moveTo>
                  <a:pt x="1278001" y="0"/>
                </a:moveTo>
                <a:lnTo>
                  <a:pt x="0" y="0"/>
                </a:lnTo>
                <a:lnTo>
                  <a:pt x="0" y="1745284"/>
                </a:lnTo>
                <a:lnTo>
                  <a:pt x="639000" y="1745284"/>
                </a:lnTo>
                <a:lnTo>
                  <a:pt x="1278001" y="1745284"/>
                </a:lnTo>
                <a:lnTo>
                  <a:pt x="1278001" y="0"/>
                </a:lnTo>
                <a:close/>
              </a:path>
            </a:pathLst>
          </a:custGeom>
          <a:solidFill>
            <a:srgbClr val="453E31">
              <a:alpha val="92999"/>
            </a:srgbClr>
          </a:solidFill>
        </p:spPr>
        <p:txBody>
          <a:bodyPr wrap="square" lIns="0" tIns="0" rIns="0" bIns="0" rtlCol="0"/>
          <a:lstStyle/>
          <a:p>
            <a:endParaRPr/>
          </a:p>
        </p:txBody>
      </p:sp>
      <p:sp>
        <p:nvSpPr>
          <p:cNvPr id="3" name="object 3">
            <a:extLst>
              <a:ext uri="{FF2B5EF4-FFF2-40B4-BE49-F238E27FC236}">
                <a16:creationId xmlns:a16="http://schemas.microsoft.com/office/drawing/2014/main" id="{56232A1E-5F67-4D35-5619-5DC65032516C}"/>
              </a:ext>
            </a:extLst>
          </p:cNvPr>
          <p:cNvSpPr txBox="1">
            <a:spLocks noGrp="1"/>
          </p:cNvSpPr>
          <p:nvPr>
            <p:ph type="title"/>
          </p:nvPr>
        </p:nvSpPr>
        <p:spPr>
          <a:xfrm>
            <a:off x="4876800" y="732853"/>
            <a:ext cx="7063257" cy="628377"/>
          </a:xfrm>
          <a:prstGeom prst="rect">
            <a:avLst/>
          </a:prstGeom>
        </p:spPr>
        <p:txBody>
          <a:bodyPr vert="horz" wrap="square" lIns="0" tIns="12700" rIns="0" bIns="0" rtlCol="0">
            <a:spAutoFit/>
          </a:bodyPr>
          <a:lstStyle/>
          <a:p>
            <a:pPr marL="12700">
              <a:lnSpc>
                <a:spcPct val="100000"/>
              </a:lnSpc>
              <a:spcBef>
                <a:spcPts val="100"/>
              </a:spcBef>
            </a:pPr>
            <a:r>
              <a:rPr lang="en-US" dirty="0"/>
              <a:t>Specifications of the DC motor</a:t>
            </a:r>
            <a:endParaRPr dirty="0"/>
          </a:p>
        </p:txBody>
      </p:sp>
      <p:pic>
        <p:nvPicPr>
          <p:cNvPr id="10" name="Picture 9">
            <a:extLst>
              <a:ext uri="{FF2B5EF4-FFF2-40B4-BE49-F238E27FC236}">
                <a16:creationId xmlns:a16="http://schemas.microsoft.com/office/drawing/2014/main" id="{C7AA769E-C77C-B4A6-F3A5-1A3C68FCB4E8}"/>
              </a:ext>
            </a:extLst>
          </p:cNvPr>
          <p:cNvPicPr>
            <a:picLocks noChangeAspect="1"/>
          </p:cNvPicPr>
          <p:nvPr/>
        </p:nvPicPr>
        <p:blipFill>
          <a:blip r:embed="rId2"/>
          <a:stretch>
            <a:fillRect/>
          </a:stretch>
        </p:blipFill>
        <p:spPr>
          <a:xfrm>
            <a:off x="457200" y="2667000"/>
            <a:ext cx="3459608" cy="2091109"/>
          </a:xfrm>
          <a:prstGeom prst="rect">
            <a:avLst/>
          </a:prstGeom>
        </p:spPr>
      </p:pic>
      <p:pic>
        <p:nvPicPr>
          <p:cNvPr id="11" name="Picture 10">
            <a:extLst>
              <a:ext uri="{FF2B5EF4-FFF2-40B4-BE49-F238E27FC236}">
                <a16:creationId xmlns:a16="http://schemas.microsoft.com/office/drawing/2014/main" id="{F8F638CC-B735-4483-8E23-925BD2C07262}"/>
              </a:ext>
            </a:extLst>
          </p:cNvPr>
          <p:cNvPicPr>
            <a:picLocks noChangeAspect="1"/>
          </p:cNvPicPr>
          <p:nvPr/>
        </p:nvPicPr>
        <p:blipFill>
          <a:blip r:embed="rId3"/>
          <a:stretch>
            <a:fillRect/>
          </a:stretch>
        </p:blipFill>
        <p:spPr>
          <a:xfrm>
            <a:off x="4773657" y="4953000"/>
            <a:ext cx="2617177" cy="1447800"/>
          </a:xfrm>
          <a:prstGeom prst="rect">
            <a:avLst/>
          </a:prstGeom>
        </p:spPr>
      </p:pic>
      <p:pic>
        <p:nvPicPr>
          <p:cNvPr id="12" name="Picture 11">
            <a:extLst>
              <a:ext uri="{FF2B5EF4-FFF2-40B4-BE49-F238E27FC236}">
                <a16:creationId xmlns:a16="http://schemas.microsoft.com/office/drawing/2014/main" id="{FCD722C4-EA4D-6DAA-4D95-50DC82D20A45}"/>
              </a:ext>
            </a:extLst>
          </p:cNvPr>
          <p:cNvPicPr>
            <a:picLocks noChangeAspect="1"/>
          </p:cNvPicPr>
          <p:nvPr/>
        </p:nvPicPr>
        <p:blipFill>
          <a:blip r:embed="rId4"/>
          <a:stretch>
            <a:fillRect/>
          </a:stretch>
        </p:blipFill>
        <p:spPr>
          <a:xfrm>
            <a:off x="4759369" y="3240669"/>
            <a:ext cx="2592251" cy="1447800"/>
          </a:xfrm>
          <a:prstGeom prst="rect">
            <a:avLst/>
          </a:prstGeom>
        </p:spPr>
      </p:pic>
      <p:pic>
        <p:nvPicPr>
          <p:cNvPr id="13" name="Picture 12">
            <a:extLst>
              <a:ext uri="{FF2B5EF4-FFF2-40B4-BE49-F238E27FC236}">
                <a16:creationId xmlns:a16="http://schemas.microsoft.com/office/drawing/2014/main" id="{54923905-53F9-EC6A-ED30-8F061FC633F4}"/>
              </a:ext>
            </a:extLst>
          </p:cNvPr>
          <p:cNvPicPr>
            <a:picLocks noChangeAspect="1"/>
          </p:cNvPicPr>
          <p:nvPr/>
        </p:nvPicPr>
        <p:blipFill>
          <a:blip r:embed="rId5"/>
          <a:stretch>
            <a:fillRect/>
          </a:stretch>
        </p:blipFill>
        <p:spPr>
          <a:xfrm>
            <a:off x="4805927" y="1599968"/>
            <a:ext cx="2580145" cy="1437894"/>
          </a:xfrm>
          <a:prstGeom prst="rect">
            <a:avLst/>
          </a:prstGeom>
        </p:spPr>
      </p:pic>
    </p:spTree>
    <p:extLst>
      <p:ext uri="{BB962C8B-B14F-4D97-AF65-F5344CB8AC3E}">
        <p14:creationId xmlns:p14="http://schemas.microsoft.com/office/powerpoint/2010/main" val="6943870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216438" y="0"/>
            <a:ext cx="1278255" cy="1745614"/>
          </a:xfrm>
          <a:custGeom>
            <a:avLst/>
            <a:gdLst/>
            <a:ahLst/>
            <a:cxnLst/>
            <a:rect l="l" t="t" r="r" b="b"/>
            <a:pathLst>
              <a:path w="1278254" h="1745614">
                <a:moveTo>
                  <a:pt x="1278001" y="0"/>
                </a:moveTo>
                <a:lnTo>
                  <a:pt x="0" y="0"/>
                </a:lnTo>
                <a:lnTo>
                  <a:pt x="0" y="1745284"/>
                </a:lnTo>
                <a:lnTo>
                  <a:pt x="639000" y="1745284"/>
                </a:lnTo>
                <a:lnTo>
                  <a:pt x="1278001" y="1745284"/>
                </a:lnTo>
                <a:lnTo>
                  <a:pt x="1278001" y="0"/>
                </a:lnTo>
                <a:close/>
              </a:path>
            </a:pathLst>
          </a:custGeom>
          <a:solidFill>
            <a:srgbClr val="453E31">
              <a:alpha val="92999"/>
            </a:srgbClr>
          </a:solidFill>
        </p:spPr>
        <p:txBody>
          <a:bodyPr wrap="square" lIns="0" tIns="0" rIns="0" bIns="0" rtlCol="0"/>
          <a:lstStyle/>
          <a:p>
            <a:endParaRPr/>
          </a:p>
        </p:txBody>
      </p:sp>
      <p:sp>
        <p:nvSpPr>
          <p:cNvPr id="3" name="object 3"/>
          <p:cNvSpPr txBox="1">
            <a:spLocks noGrp="1"/>
          </p:cNvSpPr>
          <p:nvPr>
            <p:ph type="title"/>
          </p:nvPr>
        </p:nvSpPr>
        <p:spPr>
          <a:xfrm>
            <a:off x="7963065" y="685800"/>
            <a:ext cx="3695536" cy="628377"/>
          </a:xfrm>
          <a:prstGeom prst="rect">
            <a:avLst/>
          </a:prstGeom>
        </p:spPr>
        <p:txBody>
          <a:bodyPr vert="horz" wrap="square" lIns="0" tIns="12700" rIns="0" bIns="0" rtlCol="0">
            <a:spAutoFit/>
          </a:bodyPr>
          <a:lstStyle/>
          <a:p>
            <a:pPr marL="12700">
              <a:lnSpc>
                <a:spcPct val="100000"/>
              </a:lnSpc>
              <a:spcBef>
                <a:spcPts val="100"/>
              </a:spcBef>
            </a:pPr>
            <a:r>
              <a:rPr lang="en-US" dirty="0"/>
              <a:t>PID Controller</a:t>
            </a:r>
            <a:endParaRPr dirty="0"/>
          </a:p>
        </p:txBody>
      </p:sp>
      <p:sp>
        <p:nvSpPr>
          <p:cNvPr id="14" name="TextBox 13">
            <a:extLst>
              <a:ext uri="{FF2B5EF4-FFF2-40B4-BE49-F238E27FC236}">
                <a16:creationId xmlns:a16="http://schemas.microsoft.com/office/drawing/2014/main" id="{1CDE9701-7299-E885-A014-7A54DE68140F}"/>
              </a:ext>
            </a:extLst>
          </p:cNvPr>
          <p:cNvSpPr txBox="1"/>
          <p:nvPr/>
        </p:nvSpPr>
        <p:spPr>
          <a:xfrm>
            <a:off x="533400" y="1447800"/>
            <a:ext cx="3276600" cy="4832092"/>
          </a:xfrm>
          <a:prstGeom prst="rect">
            <a:avLst/>
          </a:prstGeom>
          <a:noFill/>
        </p:spPr>
        <p:txBody>
          <a:bodyPr wrap="square" rtlCol="0">
            <a:spAutoFit/>
          </a:bodyPr>
          <a:lstStyle/>
          <a:p>
            <a:pPr>
              <a:buNone/>
            </a:pPr>
            <a:r>
              <a:rPr lang="en-US" sz="1400" dirty="0">
                <a:solidFill>
                  <a:schemeClr val="bg1"/>
                </a:solidFill>
              </a:rPr>
              <a:t>The </a:t>
            </a:r>
            <a:r>
              <a:rPr lang="en-US" sz="1400" b="1" dirty="0">
                <a:solidFill>
                  <a:schemeClr val="bg1"/>
                </a:solidFill>
              </a:rPr>
              <a:t>PID controller</a:t>
            </a:r>
            <a:r>
              <a:rPr lang="en-US" sz="1400" dirty="0">
                <a:solidFill>
                  <a:schemeClr val="bg1"/>
                </a:solidFill>
              </a:rPr>
              <a:t> ensures optimal ride comfort by minimizing suspension error.</a:t>
            </a:r>
          </a:p>
          <a:p>
            <a:pPr>
              <a:buNone/>
            </a:pPr>
            <a:endParaRPr lang="en-US" sz="1400" dirty="0">
              <a:solidFill>
                <a:schemeClr val="bg1"/>
              </a:solidFill>
            </a:endParaRPr>
          </a:p>
          <a:p>
            <a:pPr>
              <a:buNone/>
            </a:pPr>
            <a:r>
              <a:rPr lang="en-US" sz="1400" b="1" dirty="0">
                <a:solidFill>
                  <a:schemeClr val="bg1"/>
                </a:solidFill>
              </a:rPr>
              <a:t>Function:</a:t>
            </a:r>
            <a:endParaRPr lang="en-US" sz="1400" dirty="0">
              <a:solidFill>
                <a:schemeClr val="bg1"/>
              </a:solidFill>
            </a:endParaRPr>
          </a:p>
          <a:p>
            <a:pPr>
              <a:buFont typeface="Arial" panose="020B0604020202020204" pitchFamily="34" charset="0"/>
              <a:buChar char="•"/>
            </a:pPr>
            <a:r>
              <a:rPr lang="en-US" sz="1400" b="1" dirty="0">
                <a:solidFill>
                  <a:schemeClr val="bg1"/>
                </a:solidFill>
              </a:rPr>
              <a:t>Inputs:</a:t>
            </a:r>
            <a:endParaRPr lang="en-US" sz="1400" dirty="0">
              <a:solidFill>
                <a:schemeClr val="bg1"/>
              </a:solidFill>
            </a:endParaRPr>
          </a:p>
          <a:p>
            <a:pPr marL="742950" lvl="1" indent="-285750">
              <a:buFont typeface="Arial" panose="020B0604020202020204" pitchFamily="34" charset="0"/>
              <a:buChar char="•"/>
            </a:pPr>
            <a:r>
              <a:rPr lang="en-US" sz="1400" b="1" dirty="0">
                <a:solidFill>
                  <a:schemeClr val="bg1"/>
                </a:solidFill>
              </a:rPr>
              <a:t>Desired vertical position</a:t>
            </a:r>
            <a:r>
              <a:rPr lang="en-US" sz="1400" dirty="0">
                <a:solidFill>
                  <a:schemeClr val="bg1"/>
                </a:solidFill>
              </a:rPr>
              <a:t> of the car body (ideal = zero displacement).</a:t>
            </a:r>
          </a:p>
          <a:p>
            <a:pPr marL="742950" lvl="1" indent="-285750">
              <a:buFont typeface="Arial" panose="020B0604020202020204" pitchFamily="34" charset="0"/>
              <a:buChar char="•"/>
            </a:pPr>
            <a:r>
              <a:rPr lang="en-US" sz="1400" b="1" dirty="0">
                <a:solidFill>
                  <a:schemeClr val="bg1"/>
                </a:solidFill>
              </a:rPr>
              <a:t>Actual suspension output</a:t>
            </a:r>
            <a:r>
              <a:rPr lang="en-US" sz="1400" dirty="0">
                <a:solidFill>
                  <a:schemeClr val="bg1"/>
                </a:solidFill>
              </a:rPr>
              <a:t> from road disturbances.</a:t>
            </a:r>
          </a:p>
          <a:p>
            <a:pPr marL="742950" lvl="1" indent="-285750">
              <a:buFont typeface="Arial" panose="020B0604020202020204" pitchFamily="34" charset="0"/>
              <a:buChar char="•"/>
            </a:pPr>
            <a:endParaRPr lang="en-US" sz="1400" dirty="0">
              <a:solidFill>
                <a:schemeClr val="bg1"/>
              </a:solidFill>
            </a:endParaRPr>
          </a:p>
          <a:p>
            <a:pPr>
              <a:buFont typeface="Arial" panose="020B0604020202020204" pitchFamily="34" charset="0"/>
              <a:buChar char="•"/>
            </a:pPr>
            <a:r>
              <a:rPr lang="en-US" sz="1400" b="1" dirty="0">
                <a:solidFill>
                  <a:schemeClr val="bg1"/>
                </a:solidFill>
              </a:rPr>
              <a:t>Action:</a:t>
            </a:r>
            <a:endParaRPr lang="en-US" sz="1400" dirty="0">
              <a:solidFill>
                <a:schemeClr val="bg1"/>
              </a:solidFill>
            </a:endParaRPr>
          </a:p>
          <a:p>
            <a:pPr marL="742950" lvl="1" indent="-285750">
              <a:buFont typeface="Arial" panose="020B0604020202020204" pitchFamily="34" charset="0"/>
              <a:buChar char="•"/>
            </a:pPr>
            <a:r>
              <a:rPr lang="en-US" sz="1400" dirty="0">
                <a:solidFill>
                  <a:schemeClr val="bg1"/>
                </a:solidFill>
              </a:rPr>
              <a:t>Calculates the </a:t>
            </a:r>
            <a:r>
              <a:rPr lang="en-US" sz="1400" b="1" dirty="0">
                <a:solidFill>
                  <a:schemeClr val="bg1"/>
                </a:solidFill>
              </a:rPr>
              <a:t>error</a:t>
            </a:r>
            <a:r>
              <a:rPr lang="en-US" sz="1400" dirty="0">
                <a:solidFill>
                  <a:schemeClr val="bg1"/>
                </a:solidFill>
              </a:rPr>
              <a:t> between desired and actual values.</a:t>
            </a:r>
          </a:p>
          <a:p>
            <a:pPr marL="742950" lvl="1" indent="-285750">
              <a:buFont typeface="Arial" panose="020B0604020202020204" pitchFamily="34" charset="0"/>
              <a:buChar char="•"/>
            </a:pPr>
            <a:r>
              <a:rPr lang="en-US" sz="1400" b="1" dirty="0">
                <a:solidFill>
                  <a:schemeClr val="bg1"/>
                </a:solidFill>
              </a:rPr>
              <a:t>Adjusts motor voltage</a:t>
            </a:r>
            <a:r>
              <a:rPr lang="en-US" sz="1400" dirty="0">
                <a:solidFill>
                  <a:schemeClr val="bg1"/>
                </a:solidFill>
              </a:rPr>
              <a:t> accordingly to correct suspension movement.</a:t>
            </a:r>
          </a:p>
          <a:p>
            <a:r>
              <a:rPr lang="en-US" sz="1400" dirty="0">
                <a:solidFill>
                  <a:schemeClr val="bg1"/>
                </a:solidFill>
              </a:rPr>
              <a:t>This feedback loop enhances </a:t>
            </a:r>
            <a:r>
              <a:rPr lang="en-US" sz="1400" b="1" dirty="0">
                <a:solidFill>
                  <a:schemeClr val="bg1"/>
                </a:solidFill>
              </a:rPr>
              <a:t>ride comfort</a:t>
            </a:r>
            <a:r>
              <a:rPr lang="en-US" sz="1400" dirty="0">
                <a:solidFill>
                  <a:schemeClr val="bg1"/>
                </a:solidFill>
              </a:rPr>
              <a:t> and </a:t>
            </a:r>
            <a:r>
              <a:rPr lang="en-US" sz="1400" b="1" dirty="0">
                <a:solidFill>
                  <a:schemeClr val="bg1"/>
                </a:solidFill>
              </a:rPr>
              <a:t>vehicle stability</a:t>
            </a:r>
            <a:r>
              <a:rPr lang="en-US" sz="1400" dirty="0">
                <a:solidFill>
                  <a:schemeClr val="bg1"/>
                </a:solidFill>
              </a:rPr>
              <a:t> through continuous, real-time control.</a:t>
            </a:r>
          </a:p>
          <a:p>
            <a:endParaRPr lang="en-US" sz="1400" dirty="0">
              <a:solidFill>
                <a:schemeClr val="bg1"/>
              </a:solidFill>
            </a:endParaRPr>
          </a:p>
        </p:txBody>
      </p:sp>
      <p:pic>
        <p:nvPicPr>
          <p:cNvPr id="5" name="Picture 4">
            <a:extLst>
              <a:ext uri="{FF2B5EF4-FFF2-40B4-BE49-F238E27FC236}">
                <a16:creationId xmlns:a16="http://schemas.microsoft.com/office/drawing/2014/main" id="{C6C4B95D-3847-8D9D-53DC-733D63F141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67200" y="1905000"/>
            <a:ext cx="6925285" cy="388071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472910" y="347854"/>
            <a:ext cx="1414145" cy="1731645"/>
          </a:xfrm>
          <a:custGeom>
            <a:avLst/>
            <a:gdLst/>
            <a:ahLst/>
            <a:cxnLst/>
            <a:rect l="l" t="t" r="r" b="b"/>
            <a:pathLst>
              <a:path w="1414145" h="1731645">
                <a:moveTo>
                  <a:pt x="1414081" y="0"/>
                </a:moveTo>
                <a:lnTo>
                  <a:pt x="0" y="0"/>
                </a:lnTo>
                <a:lnTo>
                  <a:pt x="0" y="1731606"/>
                </a:lnTo>
                <a:lnTo>
                  <a:pt x="707034" y="1731606"/>
                </a:lnTo>
                <a:lnTo>
                  <a:pt x="1414081" y="1731606"/>
                </a:lnTo>
                <a:lnTo>
                  <a:pt x="1414081" y="0"/>
                </a:lnTo>
                <a:close/>
              </a:path>
            </a:pathLst>
          </a:custGeom>
          <a:solidFill>
            <a:srgbClr val="453E31">
              <a:alpha val="92999"/>
            </a:srgbClr>
          </a:solidFill>
        </p:spPr>
        <p:txBody>
          <a:bodyPr wrap="square" lIns="0" tIns="0" rIns="0" bIns="0" rtlCol="0"/>
          <a:lstStyle/>
          <a:p>
            <a:endParaRPr/>
          </a:p>
        </p:txBody>
      </p:sp>
      <p:sp>
        <p:nvSpPr>
          <p:cNvPr id="5" name="object 5"/>
          <p:cNvSpPr txBox="1"/>
          <p:nvPr/>
        </p:nvSpPr>
        <p:spPr>
          <a:xfrm>
            <a:off x="381000" y="1143000"/>
            <a:ext cx="7367905" cy="443711"/>
          </a:xfrm>
          <a:prstGeom prst="rect">
            <a:avLst/>
          </a:prstGeom>
        </p:spPr>
        <p:txBody>
          <a:bodyPr vert="horz" wrap="square" lIns="0" tIns="12700" rIns="0" bIns="0" rtlCol="0">
            <a:spAutoFit/>
          </a:bodyPr>
          <a:lstStyle/>
          <a:p>
            <a:pPr marL="12700">
              <a:lnSpc>
                <a:spcPct val="100000"/>
              </a:lnSpc>
              <a:spcBef>
                <a:spcPts val="100"/>
              </a:spcBef>
            </a:pPr>
            <a:r>
              <a:rPr sz="2800" dirty="0">
                <a:solidFill>
                  <a:srgbClr val="FFFFFF"/>
                </a:solidFill>
                <a:latin typeface="Trebuchet MS"/>
                <a:cs typeface="Trebuchet MS"/>
              </a:rPr>
              <a:t>Functionality Results of the Active Suspension</a:t>
            </a:r>
            <a:endParaRPr sz="2800" dirty="0">
              <a:latin typeface="Trebuchet MS"/>
              <a:cs typeface="Trebuchet MS"/>
            </a:endParaRPr>
          </a:p>
        </p:txBody>
      </p:sp>
      <p:sp>
        <p:nvSpPr>
          <p:cNvPr id="6" name="object 6"/>
          <p:cNvSpPr/>
          <p:nvPr/>
        </p:nvSpPr>
        <p:spPr>
          <a:xfrm>
            <a:off x="2420506" y="1624420"/>
            <a:ext cx="1400175" cy="0"/>
          </a:xfrm>
          <a:custGeom>
            <a:avLst/>
            <a:gdLst/>
            <a:ahLst/>
            <a:cxnLst/>
            <a:rect l="l" t="t" r="r" b="b"/>
            <a:pathLst>
              <a:path w="1400175">
                <a:moveTo>
                  <a:pt x="1400035" y="0"/>
                </a:moveTo>
                <a:lnTo>
                  <a:pt x="0" y="0"/>
                </a:lnTo>
              </a:path>
            </a:pathLst>
          </a:custGeom>
          <a:ln w="12599">
            <a:solidFill>
              <a:srgbClr val="FFFFFF"/>
            </a:solidFill>
          </a:ln>
        </p:spPr>
        <p:txBody>
          <a:bodyPr wrap="square" lIns="0" tIns="0" rIns="0" bIns="0" rtlCol="0"/>
          <a:lstStyle/>
          <a:p>
            <a:endParaRPr/>
          </a:p>
        </p:txBody>
      </p:sp>
      <p:sp>
        <p:nvSpPr>
          <p:cNvPr id="15" name="TextBox 14">
            <a:extLst>
              <a:ext uri="{FF2B5EF4-FFF2-40B4-BE49-F238E27FC236}">
                <a16:creationId xmlns:a16="http://schemas.microsoft.com/office/drawing/2014/main" id="{28E82CA8-D112-1201-00BF-DE4D3043870A}"/>
              </a:ext>
            </a:extLst>
          </p:cNvPr>
          <p:cNvSpPr txBox="1"/>
          <p:nvPr/>
        </p:nvSpPr>
        <p:spPr>
          <a:xfrm>
            <a:off x="381000" y="1828800"/>
            <a:ext cx="4823257" cy="4047262"/>
          </a:xfrm>
          <a:prstGeom prst="rect">
            <a:avLst/>
          </a:prstGeom>
          <a:noFill/>
        </p:spPr>
        <p:txBody>
          <a:bodyPr wrap="square" rtlCol="0">
            <a:spAutoFit/>
          </a:bodyPr>
          <a:lstStyle/>
          <a:p>
            <a:pPr marL="342900" marR="0" lvl="0" indent="-342900" algn="l">
              <a:lnSpc>
                <a:spcPct val="150000"/>
              </a:lnSpc>
              <a:spcBef>
                <a:spcPts val="600"/>
              </a:spcBef>
              <a:spcAft>
                <a:spcPts val="600"/>
              </a:spcAft>
              <a:buSzPts val="1000"/>
              <a:buFont typeface="Symbol" panose="05050102010706020507" pitchFamily="18" charset="2"/>
              <a:buChar char=""/>
              <a:tabLst>
                <a:tab pos="457200" algn="l"/>
              </a:tabLst>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When the pulse generator introduces a 10 cm road disturbance, the PID controller detects the resulting deviation.</a:t>
            </a:r>
            <a:endParaRPr lang="en-US" sz="1600" b="1"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pPr marL="342900" marR="0" lvl="0" indent="-342900" algn="l">
              <a:lnSpc>
                <a:spcPct val="150000"/>
              </a:lnSpc>
              <a:spcBef>
                <a:spcPts val="600"/>
              </a:spcBef>
              <a:spcAft>
                <a:spcPts val="600"/>
              </a:spcAft>
              <a:buSzPts val="1000"/>
              <a:buFont typeface="Symbol" panose="05050102010706020507" pitchFamily="18" charset="2"/>
              <a:buChar char=""/>
              <a:tabLst>
                <a:tab pos="457200" algn="l"/>
              </a:tabLst>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The DC motor and lead screw actively adjust the suspension force to counteract this displacement.</a:t>
            </a:r>
            <a:endParaRPr lang="en-US" sz="1600" b="1"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pPr marL="342900" marR="0" lvl="0" indent="-342900" algn="l">
              <a:lnSpc>
                <a:spcPct val="150000"/>
              </a:lnSpc>
              <a:spcBef>
                <a:spcPts val="600"/>
              </a:spcBef>
              <a:spcAft>
                <a:spcPts val="600"/>
              </a:spcAft>
              <a:buSzPts val="1000"/>
              <a:buFont typeface="Symbol" panose="05050102010706020507" pitchFamily="18" charset="2"/>
              <a:buChar char=""/>
              <a:tabLst>
                <a:tab pos="457200" algn="l"/>
              </a:tabLst>
            </a:pPr>
            <a:r>
              <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This allows the suspension system to quickly adapt, reducing oscillations and enhancing overall ride quality compared to the passive system.</a:t>
            </a:r>
            <a:endParaRPr lang="en-US" sz="1600" b="1"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endParaRPr lang="en-US" sz="1600" b="1" dirty="0">
              <a:solidFill>
                <a:schemeClr val="bg1"/>
              </a:solidFill>
            </a:endParaRPr>
          </a:p>
        </p:txBody>
      </p:sp>
      <p:pic>
        <p:nvPicPr>
          <p:cNvPr id="17" name="Picture 16" descr="Diagram of a device with a coil and wires&#10;&#10;AI-generated content may be incorrect.">
            <a:extLst>
              <a:ext uri="{FF2B5EF4-FFF2-40B4-BE49-F238E27FC236}">
                <a16:creationId xmlns:a16="http://schemas.microsoft.com/office/drawing/2014/main" id="{10156C14-22E9-4878-1A1D-E7798B17C6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9400" y="1905000"/>
            <a:ext cx="4623238" cy="43434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lang="en-US" dirty="0"/>
              <a:t>Results</a:t>
            </a:r>
            <a:endParaRPr dirty="0"/>
          </a:p>
        </p:txBody>
      </p:sp>
      <p:grpSp>
        <p:nvGrpSpPr>
          <p:cNvPr id="3" name="object 3"/>
          <p:cNvGrpSpPr/>
          <p:nvPr/>
        </p:nvGrpSpPr>
        <p:grpSpPr>
          <a:xfrm>
            <a:off x="-355" y="990358"/>
            <a:ext cx="9946829" cy="5460657"/>
            <a:chOff x="-355" y="990358"/>
            <a:chExt cx="9946829" cy="5460657"/>
          </a:xfrm>
        </p:grpSpPr>
        <p:sp>
          <p:nvSpPr>
            <p:cNvPr id="4" name="object 4"/>
            <p:cNvSpPr/>
            <p:nvPr/>
          </p:nvSpPr>
          <p:spPr>
            <a:xfrm>
              <a:off x="4820754" y="6188760"/>
              <a:ext cx="5125720" cy="262255"/>
            </a:xfrm>
            <a:custGeom>
              <a:avLst/>
              <a:gdLst/>
              <a:ahLst/>
              <a:cxnLst/>
              <a:rect l="l" t="t" r="r" b="b"/>
              <a:pathLst>
                <a:path w="5125720" h="262254">
                  <a:moveTo>
                    <a:pt x="5125681" y="0"/>
                  </a:moveTo>
                  <a:lnTo>
                    <a:pt x="0" y="0"/>
                  </a:lnTo>
                  <a:lnTo>
                    <a:pt x="0" y="262077"/>
                  </a:lnTo>
                  <a:lnTo>
                    <a:pt x="2562847" y="262077"/>
                  </a:lnTo>
                  <a:lnTo>
                    <a:pt x="5125681" y="262077"/>
                  </a:lnTo>
                  <a:lnTo>
                    <a:pt x="5125681" y="0"/>
                  </a:lnTo>
                  <a:close/>
                </a:path>
              </a:pathLst>
            </a:custGeom>
            <a:solidFill>
              <a:srgbClr val="453E31">
                <a:alpha val="92999"/>
              </a:srgbClr>
            </a:solidFill>
          </p:spPr>
          <p:txBody>
            <a:bodyPr wrap="square" lIns="0" tIns="0" rIns="0" bIns="0" rtlCol="0"/>
            <a:lstStyle/>
            <a:p>
              <a:endParaRPr/>
            </a:p>
          </p:txBody>
        </p:sp>
        <p:sp>
          <p:nvSpPr>
            <p:cNvPr id="7" name="object 7"/>
            <p:cNvSpPr/>
            <p:nvPr/>
          </p:nvSpPr>
          <p:spPr>
            <a:xfrm>
              <a:off x="-355" y="990358"/>
              <a:ext cx="1882775" cy="702310"/>
            </a:xfrm>
            <a:custGeom>
              <a:avLst/>
              <a:gdLst/>
              <a:ahLst/>
              <a:cxnLst/>
              <a:rect l="l" t="t" r="r" b="b"/>
              <a:pathLst>
                <a:path w="1882775" h="702310">
                  <a:moveTo>
                    <a:pt x="1882432" y="0"/>
                  </a:moveTo>
                  <a:lnTo>
                    <a:pt x="0" y="0"/>
                  </a:lnTo>
                  <a:lnTo>
                    <a:pt x="0" y="702005"/>
                  </a:lnTo>
                  <a:lnTo>
                    <a:pt x="941400" y="702005"/>
                  </a:lnTo>
                  <a:lnTo>
                    <a:pt x="1882432" y="702005"/>
                  </a:lnTo>
                  <a:lnTo>
                    <a:pt x="1882432" y="0"/>
                  </a:lnTo>
                  <a:close/>
                </a:path>
              </a:pathLst>
            </a:custGeom>
            <a:solidFill>
              <a:srgbClr val="453E31">
                <a:alpha val="92999"/>
              </a:srgbClr>
            </a:solidFill>
          </p:spPr>
          <p:txBody>
            <a:bodyPr wrap="square" lIns="0" tIns="0" rIns="0" bIns="0" rtlCol="0"/>
            <a:lstStyle/>
            <a:p>
              <a:endParaRPr/>
            </a:p>
          </p:txBody>
        </p:sp>
        <p:sp>
          <p:nvSpPr>
            <p:cNvPr id="8" name="object 8"/>
            <p:cNvSpPr/>
            <p:nvPr/>
          </p:nvSpPr>
          <p:spPr>
            <a:xfrm>
              <a:off x="0" y="1180439"/>
              <a:ext cx="2516505" cy="0"/>
            </a:xfrm>
            <a:custGeom>
              <a:avLst/>
              <a:gdLst/>
              <a:ahLst/>
              <a:cxnLst/>
              <a:rect l="l" t="t" r="r" b="b"/>
              <a:pathLst>
                <a:path w="2516505">
                  <a:moveTo>
                    <a:pt x="0" y="0"/>
                  </a:moveTo>
                  <a:lnTo>
                    <a:pt x="2516403" y="0"/>
                  </a:lnTo>
                </a:path>
              </a:pathLst>
            </a:custGeom>
            <a:ln w="12599">
              <a:solidFill>
                <a:srgbClr val="FFFFFF"/>
              </a:solidFill>
            </a:ln>
          </p:spPr>
          <p:txBody>
            <a:bodyPr wrap="square" lIns="0" tIns="0" rIns="0" bIns="0" rtlCol="0"/>
            <a:lstStyle/>
            <a:p>
              <a:endParaRPr/>
            </a:p>
          </p:txBody>
        </p:sp>
      </p:grpSp>
      <p:sp>
        <p:nvSpPr>
          <p:cNvPr id="33" name="TextBox 32">
            <a:extLst>
              <a:ext uri="{FF2B5EF4-FFF2-40B4-BE49-F238E27FC236}">
                <a16:creationId xmlns:a16="http://schemas.microsoft.com/office/drawing/2014/main" id="{35D97AEB-5C92-BE75-7DC3-978E6D5F5C77}"/>
              </a:ext>
            </a:extLst>
          </p:cNvPr>
          <p:cNvSpPr txBox="1"/>
          <p:nvPr/>
        </p:nvSpPr>
        <p:spPr>
          <a:xfrm>
            <a:off x="2819400" y="381000"/>
            <a:ext cx="9067800" cy="646331"/>
          </a:xfrm>
          <a:prstGeom prst="rect">
            <a:avLst/>
          </a:prstGeom>
          <a:noFill/>
        </p:spPr>
        <p:txBody>
          <a:bodyPr wrap="square" rtlCol="0">
            <a:spAutoFit/>
          </a:bodyPr>
          <a:lstStyle/>
          <a:p>
            <a:r>
              <a:rPr lang="en-US" sz="1800" dirty="0">
                <a:solidFill>
                  <a:schemeClr val="bg1"/>
                </a:solidFill>
                <a:effectLst/>
                <a:latin typeface="Times New Roman" panose="02020603050405020304" pitchFamily="18" charset="0"/>
                <a:ea typeface="Times New Roman" panose="02020603050405020304" pitchFamily="18" charset="0"/>
              </a:rPr>
              <a:t>The following section presents simulation results, showcasing the performance improvements achieved with the active suspension system:</a:t>
            </a:r>
            <a:endParaRPr lang="en-US" dirty="0">
              <a:solidFill>
                <a:schemeClr val="bg1"/>
              </a:solidFill>
            </a:endParaRPr>
          </a:p>
        </p:txBody>
      </p:sp>
      <p:pic>
        <p:nvPicPr>
          <p:cNvPr id="34" name="Picture 33">
            <a:extLst>
              <a:ext uri="{FF2B5EF4-FFF2-40B4-BE49-F238E27FC236}">
                <a16:creationId xmlns:a16="http://schemas.microsoft.com/office/drawing/2014/main" id="{0EA23BEC-2114-995D-0C5F-C64DA79C8DF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2609998"/>
            <a:ext cx="2910840" cy="2542540"/>
          </a:xfrm>
          <a:prstGeom prst="rect">
            <a:avLst/>
          </a:prstGeom>
          <a:noFill/>
          <a:ln>
            <a:noFill/>
          </a:ln>
        </p:spPr>
      </p:pic>
      <p:sp>
        <p:nvSpPr>
          <p:cNvPr id="35" name="TextBox 34">
            <a:extLst>
              <a:ext uri="{FF2B5EF4-FFF2-40B4-BE49-F238E27FC236}">
                <a16:creationId xmlns:a16="http://schemas.microsoft.com/office/drawing/2014/main" id="{2E1483AB-E249-394C-EBBA-287B2B506A26}"/>
              </a:ext>
            </a:extLst>
          </p:cNvPr>
          <p:cNvSpPr txBox="1"/>
          <p:nvPr/>
        </p:nvSpPr>
        <p:spPr>
          <a:xfrm>
            <a:off x="1246645" y="1884802"/>
            <a:ext cx="3733800" cy="646331"/>
          </a:xfrm>
          <a:prstGeom prst="rect">
            <a:avLst/>
          </a:prstGeom>
          <a:noFill/>
        </p:spPr>
        <p:txBody>
          <a:bodyPr wrap="square" rtlCol="0">
            <a:spAutoFit/>
          </a:bodyPr>
          <a:lstStyle/>
          <a:p>
            <a:pPr algn="l"/>
            <a:r>
              <a:rPr lang="en-GB" sz="1200" dirty="0">
                <a:solidFill>
                  <a:schemeClr val="bg1"/>
                </a:solidFill>
                <a:effectLst/>
                <a:latin typeface="Calibri" panose="020F0502020204030204" pitchFamily="34" charset="0"/>
                <a:ea typeface="Calibri" panose="020F0502020204030204" pitchFamily="34" charset="0"/>
                <a:cs typeface="Arial" panose="020B0604020202020204" pitchFamily="34" charset="0"/>
              </a:rPr>
              <a:t>The relative displacement between car body and tire after applying an active force:</a:t>
            </a:r>
            <a:endParaRPr lang="en-US" sz="12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endParaRPr lang="en-US" sz="1200" dirty="0">
              <a:solidFill>
                <a:schemeClr val="bg1"/>
              </a:solidFill>
            </a:endParaRPr>
          </a:p>
        </p:txBody>
      </p:sp>
      <p:sp>
        <p:nvSpPr>
          <p:cNvPr id="36" name="TextBox 35">
            <a:extLst>
              <a:ext uri="{FF2B5EF4-FFF2-40B4-BE49-F238E27FC236}">
                <a16:creationId xmlns:a16="http://schemas.microsoft.com/office/drawing/2014/main" id="{8EBB272B-8383-E308-F759-D5702D71E9C9}"/>
              </a:ext>
            </a:extLst>
          </p:cNvPr>
          <p:cNvSpPr txBox="1"/>
          <p:nvPr/>
        </p:nvSpPr>
        <p:spPr>
          <a:xfrm>
            <a:off x="6561118" y="1824917"/>
            <a:ext cx="3733800" cy="751744"/>
          </a:xfrm>
          <a:prstGeom prst="rect">
            <a:avLst/>
          </a:prstGeom>
          <a:noFill/>
        </p:spPr>
        <p:txBody>
          <a:bodyPr wrap="square" rtlCol="0">
            <a:spAutoFit/>
          </a:bodyPr>
          <a:lstStyle/>
          <a:p>
            <a:pPr marL="0" marR="0" algn="l">
              <a:lnSpc>
                <a:spcPct val="107000"/>
              </a:lnSpc>
              <a:spcBef>
                <a:spcPts val="600"/>
              </a:spcBef>
              <a:spcAft>
                <a:spcPts val="800"/>
              </a:spcAft>
            </a:pPr>
            <a:r>
              <a:rPr lang="en-GB" sz="1200" dirty="0">
                <a:solidFill>
                  <a:schemeClr val="bg1"/>
                </a:solidFill>
                <a:effectLst/>
                <a:latin typeface="Calibri" panose="020F0502020204030204" pitchFamily="34" charset="0"/>
                <a:ea typeface="Calibri" panose="020F0502020204030204" pitchFamily="34" charset="0"/>
                <a:cs typeface="Arial" panose="020B0604020202020204" pitchFamily="34" charset="0"/>
              </a:rPr>
              <a:t>The motion sensor (upper one) used to check the results of car body motion:</a:t>
            </a:r>
            <a:endParaRPr lang="en-US" sz="12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endParaRPr lang="en-US" sz="1000" dirty="0">
              <a:solidFill>
                <a:schemeClr val="bg1"/>
              </a:solidFill>
            </a:endParaRPr>
          </a:p>
        </p:txBody>
      </p:sp>
      <p:pic>
        <p:nvPicPr>
          <p:cNvPr id="37" name="Picture 36">
            <a:extLst>
              <a:ext uri="{FF2B5EF4-FFF2-40B4-BE49-F238E27FC236}">
                <a16:creationId xmlns:a16="http://schemas.microsoft.com/office/drawing/2014/main" id="{7880D4B0-84CA-7F8E-1C89-82447767612D}"/>
              </a:ext>
            </a:extLst>
          </p:cNvPr>
          <p:cNvPicPr>
            <a:picLocks noChangeAspect="1"/>
          </p:cNvPicPr>
          <p:nvPr/>
        </p:nvPicPr>
        <p:blipFill>
          <a:blip r:embed="rId3"/>
          <a:stretch>
            <a:fillRect/>
          </a:stretch>
        </p:blipFill>
        <p:spPr>
          <a:xfrm>
            <a:off x="5526049" y="2540166"/>
            <a:ext cx="5803938" cy="346948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78BA-C929-53C9-AE3E-9F6FC9E8D0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27CADB-761E-BA85-C712-876CADDAF7B1}"/>
              </a:ext>
            </a:extLst>
          </p:cNvPr>
          <p:cNvSpPr txBox="1">
            <a:spLocks noGrp="1"/>
          </p:cNvSpPr>
          <p:nvPr>
            <p:ph type="title"/>
          </p:nvPr>
        </p:nvSpPr>
        <p:spPr>
          <a:xfrm>
            <a:off x="250101" y="203301"/>
            <a:ext cx="11698147" cy="628377"/>
          </a:xfrm>
          <a:prstGeom prst="rect">
            <a:avLst/>
          </a:prstGeom>
        </p:spPr>
        <p:txBody>
          <a:bodyPr vert="horz" wrap="square" lIns="0" tIns="12700" rIns="0" bIns="0" rtlCol="0">
            <a:spAutoFit/>
          </a:bodyPr>
          <a:lstStyle/>
          <a:p>
            <a:pPr marL="12700">
              <a:lnSpc>
                <a:spcPct val="100000"/>
              </a:lnSpc>
              <a:spcBef>
                <a:spcPts val="100"/>
              </a:spcBef>
            </a:pPr>
            <a:r>
              <a:rPr lang="en-US" dirty="0"/>
              <a:t>Results</a:t>
            </a:r>
            <a:endParaRPr dirty="0"/>
          </a:p>
        </p:txBody>
      </p:sp>
      <p:grpSp>
        <p:nvGrpSpPr>
          <p:cNvPr id="3" name="object 3">
            <a:extLst>
              <a:ext uri="{FF2B5EF4-FFF2-40B4-BE49-F238E27FC236}">
                <a16:creationId xmlns:a16="http://schemas.microsoft.com/office/drawing/2014/main" id="{C6EFBF9C-3805-6ADC-FA41-31FCC3110068}"/>
              </a:ext>
            </a:extLst>
          </p:cNvPr>
          <p:cNvGrpSpPr/>
          <p:nvPr/>
        </p:nvGrpSpPr>
        <p:grpSpPr>
          <a:xfrm>
            <a:off x="-355" y="990358"/>
            <a:ext cx="9946829" cy="5460657"/>
            <a:chOff x="-355" y="990358"/>
            <a:chExt cx="9946829" cy="5460657"/>
          </a:xfrm>
        </p:grpSpPr>
        <p:sp>
          <p:nvSpPr>
            <p:cNvPr id="4" name="object 4">
              <a:extLst>
                <a:ext uri="{FF2B5EF4-FFF2-40B4-BE49-F238E27FC236}">
                  <a16:creationId xmlns:a16="http://schemas.microsoft.com/office/drawing/2014/main" id="{11C510D6-F7ED-5A4B-A87C-73DD445086C9}"/>
                </a:ext>
              </a:extLst>
            </p:cNvPr>
            <p:cNvSpPr/>
            <p:nvPr/>
          </p:nvSpPr>
          <p:spPr>
            <a:xfrm>
              <a:off x="4820754" y="6188760"/>
              <a:ext cx="5125720" cy="262255"/>
            </a:xfrm>
            <a:custGeom>
              <a:avLst/>
              <a:gdLst/>
              <a:ahLst/>
              <a:cxnLst/>
              <a:rect l="l" t="t" r="r" b="b"/>
              <a:pathLst>
                <a:path w="5125720" h="262254">
                  <a:moveTo>
                    <a:pt x="5125681" y="0"/>
                  </a:moveTo>
                  <a:lnTo>
                    <a:pt x="0" y="0"/>
                  </a:lnTo>
                  <a:lnTo>
                    <a:pt x="0" y="262077"/>
                  </a:lnTo>
                  <a:lnTo>
                    <a:pt x="2562847" y="262077"/>
                  </a:lnTo>
                  <a:lnTo>
                    <a:pt x="5125681" y="262077"/>
                  </a:lnTo>
                  <a:lnTo>
                    <a:pt x="5125681" y="0"/>
                  </a:lnTo>
                  <a:close/>
                </a:path>
              </a:pathLst>
            </a:custGeom>
            <a:solidFill>
              <a:srgbClr val="453E31">
                <a:alpha val="92999"/>
              </a:srgbClr>
            </a:solidFill>
          </p:spPr>
          <p:txBody>
            <a:bodyPr wrap="square" lIns="0" tIns="0" rIns="0" bIns="0" rtlCol="0"/>
            <a:lstStyle/>
            <a:p>
              <a:endParaRPr/>
            </a:p>
          </p:txBody>
        </p:sp>
        <p:sp>
          <p:nvSpPr>
            <p:cNvPr id="7" name="object 7">
              <a:extLst>
                <a:ext uri="{FF2B5EF4-FFF2-40B4-BE49-F238E27FC236}">
                  <a16:creationId xmlns:a16="http://schemas.microsoft.com/office/drawing/2014/main" id="{C50780DB-1BA3-2112-B32B-C904D8FACADB}"/>
                </a:ext>
              </a:extLst>
            </p:cNvPr>
            <p:cNvSpPr/>
            <p:nvPr/>
          </p:nvSpPr>
          <p:spPr>
            <a:xfrm>
              <a:off x="-355" y="990358"/>
              <a:ext cx="1882775" cy="702310"/>
            </a:xfrm>
            <a:custGeom>
              <a:avLst/>
              <a:gdLst/>
              <a:ahLst/>
              <a:cxnLst/>
              <a:rect l="l" t="t" r="r" b="b"/>
              <a:pathLst>
                <a:path w="1882775" h="702310">
                  <a:moveTo>
                    <a:pt x="1882432" y="0"/>
                  </a:moveTo>
                  <a:lnTo>
                    <a:pt x="0" y="0"/>
                  </a:lnTo>
                  <a:lnTo>
                    <a:pt x="0" y="702005"/>
                  </a:lnTo>
                  <a:lnTo>
                    <a:pt x="941400" y="702005"/>
                  </a:lnTo>
                  <a:lnTo>
                    <a:pt x="1882432" y="702005"/>
                  </a:lnTo>
                  <a:lnTo>
                    <a:pt x="1882432" y="0"/>
                  </a:lnTo>
                  <a:close/>
                </a:path>
              </a:pathLst>
            </a:custGeom>
            <a:solidFill>
              <a:srgbClr val="453E31">
                <a:alpha val="92999"/>
              </a:srgbClr>
            </a:solidFill>
          </p:spPr>
          <p:txBody>
            <a:bodyPr wrap="square" lIns="0" tIns="0" rIns="0" bIns="0" rtlCol="0"/>
            <a:lstStyle/>
            <a:p>
              <a:endParaRPr/>
            </a:p>
          </p:txBody>
        </p:sp>
        <p:sp>
          <p:nvSpPr>
            <p:cNvPr id="8" name="object 8">
              <a:extLst>
                <a:ext uri="{FF2B5EF4-FFF2-40B4-BE49-F238E27FC236}">
                  <a16:creationId xmlns:a16="http://schemas.microsoft.com/office/drawing/2014/main" id="{2DF8E73F-62B7-1C60-0BEA-BD4195B10978}"/>
                </a:ext>
              </a:extLst>
            </p:cNvPr>
            <p:cNvSpPr/>
            <p:nvPr/>
          </p:nvSpPr>
          <p:spPr>
            <a:xfrm>
              <a:off x="0" y="1180439"/>
              <a:ext cx="2516505" cy="0"/>
            </a:xfrm>
            <a:custGeom>
              <a:avLst/>
              <a:gdLst/>
              <a:ahLst/>
              <a:cxnLst/>
              <a:rect l="l" t="t" r="r" b="b"/>
              <a:pathLst>
                <a:path w="2516505">
                  <a:moveTo>
                    <a:pt x="0" y="0"/>
                  </a:moveTo>
                  <a:lnTo>
                    <a:pt x="2516403" y="0"/>
                  </a:lnTo>
                </a:path>
              </a:pathLst>
            </a:custGeom>
            <a:ln w="12599">
              <a:solidFill>
                <a:srgbClr val="FFFFFF"/>
              </a:solidFill>
            </a:ln>
          </p:spPr>
          <p:txBody>
            <a:bodyPr wrap="square" lIns="0" tIns="0" rIns="0" bIns="0" rtlCol="0"/>
            <a:lstStyle/>
            <a:p>
              <a:endParaRPr/>
            </a:p>
          </p:txBody>
        </p:sp>
      </p:grpSp>
      <p:sp>
        <p:nvSpPr>
          <p:cNvPr id="35" name="TextBox 34">
            <a:extLst>
              <a:ext uri="{FF2B5EF4-FFF2-40B4-BE49-F238E27FC236}">
                <a16:creationId xmlns:a16="http://schemas.microsoft.com/office/drawing/2014/main" id="{60BF3CF4-D2E3-5594-0546-5C7D644317BC}"/>
              </a:ext>
            </a:extLst>
          </p:cNvPr>
          <p:cNvSpPr txBox="1"/>
          <p:nvPr/>
        </p:nvSpPr>
        <p:spPr>
          <a:xfrm>
            <a:off x="332563" y="1302451"/>
            <a:ext cx="3733800" cy="646331"/>
          </a:xfrm>
          <a:prstGeom prst="rect">
            <a:avLst/>
          </a:prstGeom>
          <a:noFill/>
        </p:spPr>
        <p:txBody>
          <a:bodyPr wrap="square" rtlCol="0">
            <a:spAutoFit/>
          </a:bodyPr>
          <a:lstStyle/>
          <a:p>
            <a:pPr algn="l"/>
            <a:r>
              <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rPr>
              <a:t>The DC Motor results:</a:t>
            </a:r>
            <a:endParaRPr lang="en-US"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endParaRPr lang="en-US" dirty="0">
              <a:solidFill>
                <a:schemeClr val="bg1"/>
              </a:solidFill>
            </a:endParaRPr>
          </a:p>
        </p:txBody>
      </p:sp>
      <p:pic>
        <p:nvPicPr>
          <p:cNvPr id="5" name="Picture 4">
            <a:extLst>
              <a:ext uri="{FF2B5EF4-FFF2-40B4-BE49-F238E27FC236}">
                <a16:creationId xmlns:a16="http://schemas.microsoft.com/office/drawing/2014/main" id="{F9844F2D-C0FB-5DDD-B5B5-517D4CD7C457}"/>
              </a:ext>
            </a:extLst>
          </p:cNvPr>
          <p:cNvPicPr>
            <a:picLocks noChangeAspect="1"/>
          </p:cNvPicPr>
          <p:nvPr/>
        </p:nvPicPr>
        <p:blipFill>
          <a:blip r:embed="rId2"/>
          <a:stretch>
            <a:fillRect/>
          </a:stretch>
        </p:blipFill>
        <p:spPr>
          <a:xfrm>
            <a:off x="3200400" y="184250"/>
            <a:ext cx="6553200" cy="6352363"/>
          </a:xfrm>
          <a:prstGeom prst="rect">
            <a:avLst/>
          </a:prstGeom>
        </p:spPr>
      </p:pic>
    </p:spTree>
    <p:extLst>
      <p:ext uri="{BB962C8B-B14F-4D97-AF65-F5344CB8AC3E}">
        <p14:creationId xmlns:p14="http://schemas.microsoft.com/office/powerpoint/2010/main" val="9393536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355"/>
            <a:ext cx="12193270" cy="6858000"/>
            <a:chOff x="0" y="-355"/>
            <a:chExt cx="12193270" cy="6858000"/>
          </a:xfrm>
        </p:grpSpPr>
        <p:sp>
          <p:nvSpPr>
            <p:cNvPr id="3" name="object 3"/>
            <p:cNvSpPr/>
            <p:nvPr/>
          </p:nvSpPr>
          <p:spPr>
            <a:xfrm>
              <a:off x="0" y="-355"/>
              <a:ext cx="12193270" cy="6858000"/>
            </a:xfrm>
            <a:custGeom>
              <a:avLst/>
              <a:gdLst/>
              <a:ahLst/>
              <a:cxnLst/>
              <a:rect l="l" t="t" r="r" b="b"/>
              <a:pathLst>
                <a:path w="12193270" h="6858000">
                  <a:moveTo>
                    <a:pt x="12193193" y="0"/>
                  </a:moveTo>
                  <a:lnTo>
                    <a:pt x="0" y="0"/>
                  </a:lnTo>
                  <a:lnTo>
                    <a:pt x="0" y="6857631"/>
                  </a:lnTo>
                  <a:lnTo>
                    <a:pt x="6096596" y="6857631"/>
                  </a:lnTo>
                  <a:lnTo>
                    <a:pt x="12193193" y="6857631"/>
                  </a:lnTo>
                  <a:lnTo>
                    <a:pt x="12193193" y="0"/>
                  </a:lnTo>
                  <a:close/>
                </a:path>
              </a:pathLst>
            </a:custGeom>
            <a:solidFill>
              <a:srgbClr val="222021"/>
            </a:solidFill>
          </p:spPr>
          <p:txBody>
            <a:bodyPr wrap="square" lIns="0" tIns="0" rIns="0" bIns="0" rtlCol="0"/>
            <a:lstStyle/>
            <a:p>
              <a:endParaRPr/>
            </a:p>
          </p:txBody>
        </p:sp>
        <p:pic>
          <p:nvPicPr>
            <p:cNvPr id="4" name="object 4"/>
            <p:cNvPicPr/>
            <p:nvPr/>
          </p:nvPicPr>
          <p:blipFill>
            <a:blip r:embed="rId2" cstate="print"/>
            <a:stretch>
              <a:fillRect/>
            </a:stretch>
          </p:blipFill>
          <p:spPr>
            <a:xfrm>
              <a:off x="1256398" y="12"/>
              <a:ext cx="9676803" cy="6857263"/>
            </a:xfrm>
            <a:prstGeom prst="rect">
              <a:avLst/>
            </a:prstGeom>
          </p:spPr>
        </p:pic>
        <p:sp>
          <p:nvSpPr>
            <p:cNvPr id="5" name="object 5"/>
            <p:cNvSpPr/>
            <p:nvPr/>
          </p:nvSpPr>
          <p:spPr>
            <a:xfrm>
              <a:off x="2558884" y="-355"/>
              <a:ext cx="7077709" cy="6008370"/>
            </a:xfrm>
            <a:custGeom>
              <a:avLst/>
              <a:gdLst/>
              <a:ahLst/>
              <a:cxnLst/>
              <a:rect l="l" t="t" r="r" b="b"/>
              <a:pathLst>
                <a:path w="7077709" h="6008370">
                  <a:moveTo>
                    <a:pt x="7077240" y="0"/>
                  </a:moveTo>
                  <a:lnTo>
                    <a:pt x="0" y="0"/>
                  </a:lnTo>
                  <a:lnTo>
                    <a:pt x="0" y="6008039"/>
                  </a:lnTo>
                  <a:lnTo>
                    <a:pt x="3538791" y="6008039"/>
                  </a:lnTo>
                  <a:lnTo>
                    <a:pt x="7077240" y="6008039"/>
                  </a:lnTo>
                  <a:lnTo>
                    <a:pt x="7077240" y="0"/>
                  </a:lnTo>
                  <a:close/>
                </a:path>
              </a:pathLst>
            </a:custGeom>
            <a:solidFill>
              <a:srgbClr val="453E31">
                <a:alpha val="92999"/>
              </a:srgbClr>
            </a:solidFill>
          </p:spPr>
          <p:txBody>
            <a:bodyPr wrap="square" lIns="0" tIns="0" rIns="0" bIns="0" rtlCol="0"/>
            <a:lstStyle/>
            <a:p>
              <a:endParaRPr dirty="0"/>
            </a:p>
          </p:txBody>
        </p:sp>
      </p:grpSp>
      <p:sp>
        <p:nvSpPr>
          <p:cNvPr id="6" name="object 6"/>
          <p:cNvSpPr txBox="1">
            <a:spLocks noGrp="1"/>
          </p:cNvSpPr>
          <p:nvPr>
            <p:ph type="title"/>
          </p:nvPr>
        </p:nvSpPr>
        <p:spPr>
          <a:xfrm>
            <a:off x="4343400" y="2133600"/>
            <a:ext cx="4128770" cy="1028487"/>
          </a:xfrm>
          <a:prstGeom prst="rect">
            <a:avLst/>
          </a:prstGeom>
        </p:spPr>
        <p:txBody>
          <a:bodyPr vert="horz" wrap="square" lIns="0" tIns="12700" rIns="0" bIns="0" rtlCol="0">
            <a:spAutoFit/>
          </a:bodyPr>
          <a:lstStyle/>
          <a:p>
            <a:pPr marL="12700">
              <a:lnSpc>
                <a:spcPct val="100000"/>
              </a:lnSpc>
              <a:spcBef>
                <a:spcPts val="100"/>
              </a:spcBef>
            </a:pPr>
            <a:r>
              <a:rPr sz="6600"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286536785D4444AA6200BE3C85F3FD" ma:contentTypeVersion="4" ma:contentTypeDescription="Create a new document." ma:contentTypeScope="" ma:versionID="398f25db463b19e791a0f80952b62fb4">
  <xsd:schema xmlns:xsd="http://www.w3.org/2001/XMLSchema" xmlns:xs="http://www.w3.org/2001/XMLSchema" xmlns:p="http://schemas.microsoft.com/office/2006/metadata/properties" xmlns:ns3="604cbde5-3ce1-45aa-909b-ac17f1250f91" targetNamespace="http://schemas.microsoft.com/office/2006/metadata/properties" ma:root="true" ma:fieldsID="eeb5ea5f8ece10ec44f5ded49452e7f1" ns3:_="">
    <xsd:import namespace="604cbde5-3ce1-45aa-909b-ac17f1250f9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4cbde5-3ce1-45aa-909b-ac17f1250f9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11C326A-4521-4F48-A2D2-25AAE8DDDB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4cbde5-3ce1-45aa-909b-ac17f1250f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4799BF-4BC8-4B89-A76F-C48D8A10CBF7}">
  <ds:schemaRefs>
    <ds:schemaRef ds:uri="http://schemas.microsoft.com/sharepoint/v3/contenttype/forms"/>
  </ds:schemaRefs>
</ds:datastoreItem>
</file>

<file path=customXml/itemProps3.xml><?xml version="1.0" encoding="utf-8"?>
<ds:datastoreItem xmlns:ds="http://schemas.openxmlformats.org/officeDocument/2006/customXml" ds:itemID="{3FAD58C9-D8D4-42F2-8216-DD90EC63F679}">
  <ds:schemaRefs>
    <ds:schemaRef ds:uri="http://schemas.microsoft.com/office/2006/documentManagement/types"/>
    <ds:schemaRef ds:uri="http://purl.org/dc/elements/1.1/"/>
    <ds:schemaRef ds:uri="http://purl.org/dc/dcmitype/"/>
    <ds:schemaRef ds:uri="http://schemas.openxmlformats.org/package/2006/metadata/core-properties"/>
    <ds:schemaRef ds:uri="http://schemas.microsoft.com/office/infopath/2007/PartnerControls"/>
    <ds:schemaRef ds:uri="http://purl.org/dc/terms/"/>
    <ds:schemaRef ds:uri="604cbde5-3ce1-45aa-909b-ac17f1250f9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482</TotalTime>
  <Words>2670</Words>
  <Application>Microsoft Office PowerPoint</Application>
  <PresentationFormat>Widescreen</PresentationFormat>
  <Paragraphs>353</Paragraphs>
  <Slides>43</Slides>
  <Notes>8</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Aptos</vt:lpstr>
      <vt:lpstr>Arial</vt:lpstr>
      <vt:lpstr>Calibri</vt:lpstr>
      <vt:lpstr>Courier New</vt:lpstr>
      <vt:lpstr>Symbol</vt:lpstr>
      <vt:lpstr>Times New Roman</vt:lpstr>
      <vt:lpstr>Trebuchet MS</vt:lpstr>
      <vt:lpstr>Wingdings</vt:lpstr>
      <vt:lpstr>Office Theme</vt:lpstr>
      <vt:lpstr>PowerPoint Presentation</vt:lpstr>
      <vt:lpstr>Electromechanical Active Suspension</vt:lpstr>
      <vt:lpstr>Introduction</vt:lpstr>
      <vt:lpstr>Starting Point</vt:lpstr>
      <vt:lpstr>Electromechanical Active Suspension Systems how does it work?</vt:lpstr>
      <vt:lpstr>PowerPoint Presentation</vt:lpstr>
      <vt:lpstr>PowerPoint Presentation</vt:lpstr>
      <vt:lpstr>Active Components</vt:lpstr>
      <vt:lpstr>Project steps:</vt:lpstr>
      <vt:lpstr>3D Modelling in SolidWorks</vt:lpstr>
      <vt:lpstr>Design Approach:</vt:lpstr>
      <vt:lpstr>Predesign Considerations and Simplifications</vt:lpstr>
      <vt:lpstr>PowerPoint Presentation</vt:lpstr>
      <vt:lpstr>Upper and Lower Wishbone</vt:lpstr>
      <vt:lpstr>Upright (Knuckle)</vt:lpstr>
      <vt:lpstr>Spring and Damper</vt:lpstr>
      <vt:lpstr>Whole Parts Assembly</vt:lpstr>
      <vt:lpstr>Motion Study of the Suspension System</vt:lpstr>
      <vt:lpstr>Finite Element Analysis (FEA) in SolidWorks</vt:lpstr>
      <vt:lpstr>FEA Setup</vt:lpstr>
      <vt:lpstr>Material Definition</vt:lpstr>
      <vt:lpstr>Connections</vt:lpstr>
      <vt:lpstr>Fixture Selection</vt:lpstr>
      <vt:lpstr>External Loads</vt:lpstr>
      <vt:lpstr>FEA Meshing Procedure and Refinement</vt:lpstr>
      <vt:lpstr>FEA Results and Validation</vt:lpstr>
      <vt:lpstr>FEA Results and Validation</vt:lpstr>
      <vt:lpstr>FEA Results and Validation</vt:lpstr>
      <vt:lpstr>FEA Results and Validation</vt:lpstr>
      <vt:lpstr>FEA Results and Validation</vt:lpstr>
      <vt:lpstr>FEA Stress Analysis &amp; Validation</vt:lpstr>
      <vt:lpstr>Safety Factor and Displacement Analysis</vt:lpstr>
      <vt:lpstr>PowerPoint Presentation</vt:lpstr>
      <vt:lpstr>MATLAB Simscape Modeling and PID Control</vt:lpstr>
      <vt:lpstr>Passive Suspension System Modelling</vt:lpstr>
      <vt:lpstr>Transition to Active Suspension System</vt:lpstr>
      <vt:lpstr>PowerPoint Presentation</vt:lpstr>
      <vt:lpstr>Specifications of the DC motor</vt:lpstr>
      <vt:lpstr>PID Controller</vt:lpstr>
      <vt:lpstr>PowerPoint Presentation</vt:lpstr>
      <vt:lpstr>Results</vt:lpstr>
      <vt:lpstr>Results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POOYA ZARE BARAVATI</cp:lastModifiedBy>
  <cp:revision>6</cp:revision>
  <dcterms:created xsi:type="dcterms:W3CDTF">2025-04-05T18:31:48Z</dcterms:created>
  <dcterms:modified xsi:type="dcterms:W3CDTF">2025-04-11T15:11:29Z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2025-04-05T00:00:00Z</vt:filetime>
  </property>
  <property fmtid="{D5CDD505-2E9C-101B-9397-08002B2CF9AE}" pid="3" name="Creator">
    <vt:lpwstr>Impress</vt:lpwstr>
  </property>
  <property fmtid="{D5CDD505-2E9C-101B-9397-08002B2CF9AE}" pid="4" name="Producer">
    <vt:lpwstr>LibreOfficeDev 6.4</vt:lpwstr>
  </property>
  <property fmtid="{D5CDD505-2E9C-101B-9397-08002B2CF9AE}" pid="5" name="LastSaved">
    <vt:filetime>2025-04-05T00:00:00Z</vt:filetime>
  </property>
  <property fmtid="{D5CDD505-2E9C-101B-9397-08002B2CF9AE}" pid="6" name="MSIP_Label_2ad0b24d-6422-44b0-b3de-abb3a9e8c81a_Enabled">
    <vt:lpwstr>true</vt:lpwstr>
  </property>
  <property fmtid="{D5CDD505-2E9C-101B-9397-08002B2CF9AE}" pid="7" name="MSIP_Label_2ad0b24d-6422-44b0-b3de-abb3a9e8c81a_SetDate">
    <vt:lpwstr>2025-04-05T18:40:43Z</vt:lpwstr>
  </property>
  <property fmtid="{D5CDD505-2E9C-101B-9397-08002B2CF9AE}" pid="8" name="MSIP_Label_2ad0b24d-6422-44b0-b3de-abb3a9e8c81a_Method">
    <vt:lpwstr>Standard</vt:lpwstr>
  </property>
  <property fmtid="{D5CDD505-2E9C-101B-9397-08002B2CF9AE}" pid="9" name="MSIP_Label_2ad0b24d-6422-44b0-b3de-abb3a9e8c81a_Name">
    <vt:lpwstr>defa4170-0d19-0005-0004-bc88714345d2</vt:lpwstr>
  </property>
  <property fmtid="{D5CDD505-2E9C-101B-9397-08002B2CF9AE}" pid="10" name="MSIP_Label_2ad0b24d-6422-44b0-b3de-abb3a9e8c81a_SiteId">
    <vt:lpwstr>2fcfe26a-bb62-46b0-b1e3-28f9da0c45fd</vt:lpwstr>
  </property>
  <property fmtid="{D5CDD505-2E9C-101B-9397-08002B2CF9AE}" pid="11" name="MSIP_Label_2ad0b24d-6422-44b0-b3de-abb3a9e8c81a_ActionId">
    <vt:lpwstr>f72a988c-2671-4271-86ae-eb7bc66b5763</vt:lpwstr>
  </property>
  <property fmtid="{D5CDD505-2E9C-101B-9397-08002B2CF9AE}" pid="12" name="MSIP_Label_2ad0b24d-6422-44b0-b3de-abb3a9e8c81a_ContentBits">
    <vt:lpwstr>0</vt:lpwstr>
  </property>
  <property fmtid="{D5CDD505-2E9C-101B-9397-08002B2CF9AE}" pid="13" name="MSIP_Label_2ad0b24d-6422-44b0-b3de-abb3a9e8c81a_Tag">
    <vt:lpwstr>10, 3, 0, 1</vt:lpwstr>
  </property>
  <property fmtid="{D5CDD505-2E9C-101B-9397-08002B2CF9AE}" pid="14" name="ContentTypeId">
    <vt:lpwstr>0x01010000286536785D4444AA6200BE3C85F3FD</vt:lpwstr>
  </property>
</Properties>
</file>